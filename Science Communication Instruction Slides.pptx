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4" r:id="rId3"/>
    <p:sldMasterId id="2147483724" r:id="rId4"/>
    <p:sldMasterId id="2147483736" r:id="rId5"/>
  </p:sldMasterIdLst>
  <p:notesMasterIdLst>
    <p:notesMasterId r:id="rId42"/>
  </p:notesMasterIdLst>
  <p:sldIdLst>
    <p:sldId id="256" r:id="rId6"/>
    <p:sldId id="1228" r:id="rId7"/>
    <p:sldId id="1230" r:id="rId8"/>
    <p:sldId id="1231" r:id="rId9"/>
    <p:sldId id="1232" r:id="rId10"/>
    <p:sldId id="1233" r:id="rId11"/>
    <p:sldId id="1118" r:id="rId12"/>
    <p:sldId id="1257" r:id="rId13"/>
    <p:sldId id="1258" r:id="rId14"/>
    <p:sldId id="1259" r:id="rId15"/>
    <p:sldId id="1180" r:id="rId16"/>
    <p:sldId id="1234" r:id="rId17"/>
    <p:sldId id="1235" r:id="rId18"/>
    <p:sldId id="1236" r:id="rId19"/>
    <p:sldId id="1245" r:id="rId20"/>
    <p:sldId id="1246" r:id="rId21"/>
    <p:sldId id="1247" r:id="rId22"/>
    <p:sldId id="1248" r:id="rId23"/>
    <p:sldId id="1249" r:id="rId24"/>
    <p:sldId id="1242" r:id="rId25"/>
    <p:sldId id="1243" r:id="rId26"/>
    <p:sldId id="1250" r:id="rId27"/>
    <p:sldId id="1251" r:id="rId28"/>
    <p:sldId id="1252" r:id="rId29"/>
    <p:sldId id="1253" r:id="rId30"/>
    <p:sldId id="1254" r:id="rId31"/>
    <p:sldId id="1255" r:id="rId32"/>
    <p:sldId id="1256" r:id="rId33"/>
    <p:sldId id="1293" r:id="rId34"/>
    <p:sldId id="1294" r:id="rId35"/>
    <p:sldId id="1292" r:id="rId36"/>
    <p:sldId id="1295" r:id="rId37"/>
    <p:sldId id="1300" r:id="rId38"/>
    <p:sldId id="1296" r:id="rId39"/>
    <p:sldId id="1156" r:id="rId40"/>
    <p:sldId id="126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69B635-1A26-07ED-2A89-E598A93701E6}" name="Katie Coscia" initials="KC" userId="S::kc9p@mtmail.mtsu.edu::2d63fcd1-4e86-4b88-b74b-7996ec3df622" providerId="AD"/>
  <p188:author id="{199DA04A-9AFC-3D19-556B-9305A4E39471}" name="Liz Barnes" initials="LB" userId="S::lbarnes@mtsu.edu::80544569-1856-468d-b58a-c3e1b223fe0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DF6EE2-F2C8-439B-8C70-19DDDDE8A49A}" v="1" dt="2026-10-26T17:22:13.0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389" autoAdjust="0"/>
  </p:normalViewPr>
  <p:slideViewPr>
    <p:cSldViewPr snapToGrid="0">
      <p:cViewPr varScale="1">
        <p:scale>
          <a:sx n="89" d="100"/>
          <a:sy n="89" d="100"/>
        </p:scale>
        <p:origin x="1398"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9B0AD-5668-4221-BB92-6D5BFD00D5E7}"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D9FD18-642A-4180-B7D9-78EF050071AE}" type="slidenum">
              <a:rPr lang="en-US" smtClean="0"/>
              <a:t>‹#›</a:t>
            </a:fld>
            <a:endParaRPr lang="en-US"/>
          </a:p>
        </p:txBody>
      </p:sp>
    </p:spTree>
    <p:extLst>
      <p:ext uri="{BB962C8B-B14F-4D97-AF65-F5344CB8AC3E}">
        <p14:creationId xmlns:p14="http://schemas.microsoft.com/office/powerpoint/2010/main" val="3003085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LnnDOMyZjbE&amp;t=1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C5721-1144-A904-BB63-DEF3CC784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7DB36-873F-3751-D740-742F54F632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E3C11-4A1A-6129-6307-C0213C7A8FB1}"/>
              </a:ext>
            </a:extLst>
          </p:cNvPr>
          <p:cNvSpPr>
            <a:spLocks noGrp="1"/>
          </p:cNvSpPr>
          <p:nvPr>
            <p:ph type="body" idx="1"/>
          </p:nvPr>
        </p:nvSpPr>
        <p:spPr/>
        <p:txBody>
          <a:bodyPr/>
          <a:lstStyle/>
          <a:p>
            <a:pPr lvl="1"/>
            <a:r>
              <a:rPr lang="en-US" dirty="0"/>
              <a:t>For copying</a:t>
            </a:r>
          </a:p>
        </p:txBody>
      </p:sp>
      <p:sp>
        <p:nvSpPr>
          <p:cNvPr id="4" name="Slide Number Placeholder 3">
            <a:extLst>
              <a:ext uri="{FF2B5EF4-FFF2-40B4-BE49-F238E27FC236}">
                <a16:creationId xmlns:a16="http://schemas.microsoft.com/office/drawing/2014/main" id="{1705A8A8-5E45-AC6F-F80A-529AE960B3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E8EBF6-D9A6-48B0-98BD-ECE7FBE0576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908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https://www.youtube.com/watch?v=LnnDOMyZjbE&amp;t=1s</a:t>
            </a:r>
            <a:r>
              <a:rPr lang="en-US" dirty="0"/>
              <a:t> (stop at 2:40)</a:t>
            </a:r>
          </a:p>
        </p:txBody>
      </p:sp>
      <p:sp>
        <p:nvSpPr>
          <p:cNvPr id="4" name="Slide Number Placeholder 3"/>
          <p:cNvSpPr>
            <a:spLocks noGrp="1"/>
          </p:cNvSpPr>
          <p:nvPr>
            <p:ph type="sldNum" sz="quarter" idx="5"/>
          </p:nvPr>
        </p:nvSpPr>
        <p:spPr/>
        <p:txBody>
          <a:bodyPr/>
          <a:lstStyle/>
          <a:p>
            <a:fld id="{94D9FD18-642A-4180-B7D9-78EF050071AE}" type="slidenum">
              <a:rPr lang="en-US" smtClean="0"/>
              <a:t>7</a:t>
            </a:fld>
            <a:endParaRPr lang="en-US"/>
          </a:p>
        </p:txBody>
      </p:sp>
    </p:spTree>
    <p:extLst>
      <p:ext uri="{BB962C8B-B14F-4D97-AF65-F5344CB8AC3E}">
        <p14:creationId xmlns:p14="http://schemas.microsoft.com/office/powerpoint/2010/main" val="1541905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5172F-E6C8-D549-53F1-791E6E8E8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8A915-F8DF-C04A-12A0-1F47159AE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4A285-2A25-1604-57C7-D167117F83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132A46-2212-EC68-57F1-7A4241647C3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A034CD-F849-45DE-BB0F-F545EF89DB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6218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A034CD-F849-45DE-BB0F-F545EF89DB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10883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7B21C-E553-4B4E-942B-D694997ECE4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8724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A034CD-F849-45DE-BB0F-F545EF89DB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4549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C1CE-02D7-953D-F139-B434EAB47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929D5-5D62-1439-C0FD-04D814897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AC223-A61B-8E4F-3DD9-8296DCF0078B}"/>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82CABC6-7A81-7C17-4545-5F258E3082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7B21C-E553-4B4E-942B-D694997ECE4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5139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71F3D-2CF5-CC47-7189-993737E4B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773CA-2360-D2A5-A498-58903E337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C199F-889D-97C4-0C57-76E394DC425A}"/>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F01102C-0825-C8C6-79AA-AA32F909FC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7B21C-E553-4B4E-942B-D694997ECE4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7601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A034CD-F849-45DE-BB0F-F545EF89DB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8089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F7B21C-E553-4B4E-942B-D694997ECE4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2238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endParaRPr lang="en-US" baseline="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1F56EF-7DA7-40A4-81FF-010D11059FC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54393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E2562-DF05-F08D-C44D-5995D8078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29D68-C414-2BB5-9033-62ED42FBB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AD78B2-A3E6-FFD4-4BA9-9D4540D09E51}"/>
              </a:ext>
            </a:extLst>
          </p:cNvPr>
          <p:cNvSpPr>
            <a:spLocks noGrp="1"/>
          </p:cNvSpPr>
          <p:nvPr>
            <p:ph type="body" idx="1"/>
          </p:nvPr>
        </p:nvSpPr>
        <p:spPr/>
        <p:txBody>
          <a:bodyPr/>
          <a:lstStyle/>
          <a:p>
            <a:pPr marL="171450" indent="-171450">
              <a:buFont typeface="Arial" panose="020B0604020202020204" pitchFamily="34" charset="0"/>
              <a:buChar char="•"/>
            </a:pPr>
            <a:endParaRPr lang="en-US" baseline="0" dirty="0"/>
          </a:p>
        </p:txBody>
      </p:sp>
      <p:sp>
        <p:nvSpPr>
          <p:cNvPr id="4" name="Slide Number Placeholder 3">
            <a:extLst>
              <a:ext uri="{FF2B5EF4-FFF2-40B4-BE49-F238E27FC236}">
                <a16:creationId xmlns:a16="http://schemas.microsoft.com/office/drawing/2014/main" id="{87212FE0-E5D4-8E8B-27A7-18F2A97921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1F56EF-7DA7-40A4-81FF-010D11059FC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9361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aseline="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1F56EF-7DA7-40A4-81FF-010D11059FC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9166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baseline="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1F56EF-7DA7-40A4-81FF-010D11059FC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4049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9A6487-D153-4F9D-9AFE-7B703C2805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218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9A6487-D153-4F9D-9AFE-7B703C2805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87494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A36F4-B512-6A89-ED95-BE4861CF9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48286-6806-C9E4-E0D6-4AA46FE73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ACF14-84D5-1461-82FE-F2793C60D2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E2E143-EC5C-28DC-14ED-6F0F15FC982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A034CD-F849-45DE-BB0F-F545EF89DB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951828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CE6D7-E98D-E595-D8D0-D17AE309F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29EF2-4535-34F1-EC94-8619DAA1A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089A2-8F86-436E-3C5D-EBE4877107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B31A8B-37F6-805D-4407-EF7952FFA03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A034CD-F849-45DE-BB0F-F545EF89DB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93364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AF2EF-3E81-7DED-2013-229A19A40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B634B-F8BA-03A8-48A2-3F9B7777C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305EA3-E3CB-EAFC-49FF-5BD0BB141B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DD918B-AC23-1142-1D68-015B7C7BB63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A034CD-F849-45DE-BB0F-F545EF89DB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65430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9F442-12C8-69BD-E54C-6504F0312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0F8065-927C-86AC-6BA1-BBE88EE6DA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D6E453-D2A5-5FFD-0D6D-6214B041E4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5F4954-00B2-A16F-FD4C-62F1C055ECA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A034CD-F849-45DE-BB0F-F545EF89DB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2331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0840A-480F-F9AA-3248-0EF7BBBB2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F8FE6-5424-40F4-136D-FEBD8F5C06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EA0807-1713-6892-6F79-D46509CD69A8}"/>
              </a:ext>
            </a:extLst>
          </p:cNvPr>
          <p:cNvSpPr>
            <a:spLocks noGrp="1"/>
          </p:cNvSpPr>
          <p:nvPr>
            <p:ph type="body" idx="1"/>
          </p:nvPr>
        </p:nvSpPr>
        <p:spPr/>
        <p:txBody>
          <a:bodyPr/>
          <a:lstStyle/>
          <a:p>
            <a:r>
              <a:rPr lang="en-US" dirty="0"/>
              <a:t>Researchers analyzed student worksheets and coded for whether students were using the dialogue approach and, specifically, whether they intended to build trust and relationships since research shows this is so important for reducing conflict. This is what we found.</a:t>
            </a:r>
          </a:p>
        </p:txBody>
      </p:sp>
      <p:sp>
        <p:nvSpPr>
          <p:cNvPr id="4" name="Slide Number Placeholder 3">
            <a:extLst>
              <a:ext uri="{FF2B5EF4-FFF2-40B4-BE49-F238E27FC236}">
                <a16:creationId xmlns:a16="http://schemas.microsoft.com/office/drawing/2014/main" id="{A3C055AA-B0E4-F50E-630D-53D61FB10FC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0BFCA54-2174-428D-BA42-0273CD93F39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576864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FC461-D2F2-B4CD-0B22-A772EE941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55D3B-7F2F-11A7-73B4-38C2DD350C5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4E00E14-F5E4-99C1-8A5A-9BD81CA76C60}"/>
              </a:ext>
            </a:extLst>
          </p:cNvPr>
          <p:cNvSpPr>
            <a:spLocks noGrp="1"/>
          </p:cNvSpPr>
          <p:nvPr>
            <p:ph type="body" idx="1"/>
          </p:nvPr>
        </p:nvSpPr>
        <p:spPr/>
        <p:txBody>
          <a:bodyPr/>
          <a:lstStyle/>
          <a:p>
            <a:r>
              <a:rPr lang="en-US" dirty="0"/>
              <a:t>Before instruction, very few students used these communication approaches.</a:t>
            </a:r>
          </a:p>
        </p:txBody>
      </p:sp>
      <p:sp>
        <p:nvSpPr>
          <p:cNvPr id="4" name="Slide Number Placeholder 3">
            <a:extLst>
              <a:ext uri="{FF2B5EF4-FFF2-40B4-BE49-F238E27FC236}">
                <a16:creationId xmlns:a16="http://schemas.microsoft.com/office/drawing/2014/main" id="{BAE85FEA-E6C9-DE89-9386-1A5DACE7F73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0BFCA54-2174-428D-BA42-0273CD93F39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4118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EF471-C72D-87E6-0779-1D7B6CB3D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0BA51-A7D0-3830-5D89-E4B25A55FD0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5AE9A5-321E-062E-3855-8EA16F27A055}"/>
              </a:ext>
            </a:extLst>
          </p:cNvPr>
          <p:cNvSpPr>
            <a:spLocks noGrp="1"/>
          </p:cNvSpPr>
          <p:nvPr>
            <p:ph type="body" idx="1"/>
          </p:nvPr>
        </p:nvSpPr>
        <p:spPr/>
        <p:txBody>
          <a:bodyPr/>
          <a:lstStyle/>
          <a:p>
            <a:r>
              <a:rPr lang="en-US" dirty="0"/>
              <a:t>We also looked at whether students were using the deficit approach and specifically whether they were using negative framing since this could increase conflict.</a:t>
            </a:r>
          </a:p>
        </p:txBody>
      </p:sp>
      <p:sp>
        <p:nvSpPr>
          <p:cNvPr id="4" name="Slide Number Placeholder 3">
            <a:extLst>
              <a:ext uri="{FF2B5EF4-FFF2-40B4-BE49-F238E27FC236}">
                <a16:creationId xmlns:a16="http://schemas.microsoft.com/office/drawing/2014/main" id="{5E78C85D-DCA2-F157-9E45-F494B642675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0BFCA54-2174-428D-BA42-0273CD93F39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818103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3FA05-C221-5998-3ADE-DFCFD4827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0D38F-9C5B-3116-A75D-53AF76F8B9D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024CDBB-8B0C-D016-DD10-02B55115879F}"/>
              </a:ext>
            </a:extLst>
          </p:cNvPr>
          <p:cNvSpPr>
            <a:spLocks noGrp="1"/>
          </p:cNvSpPr>
          <p:nvPr>
            <p:ph type="body" idx="1"/>
          </p:nvPr>
        </p:nvSpPr>
        <p:spPr/>
        <p:txBody>
          <a:bodyPr/>
          <a:lstStyle/>
          <a:p>
            <a:r>
              <a:rPr lang="en-US" dirty="0"/>
              <a:t>We saw that before instruction, almost half of student took a deficit approach to their communication. But what about after instruction?</a:t>
            </a:r>
          </a:p>
        </p:txBody>
      </p:sp>
      <p:sp>
        <p:nvSpPr>
          <p:cNvPr id="4" name="Slide Number Placeholder 3">
            <a:extLst>
              <a:ext uri="{FF2B5EF4-FFF2-40B4-BE49-F238E27FC236}">
                <a16:creationId xmlns:a16="http://schemas.microsoft.com/office/drawing/2014/main" id="{B08F42B9-5541-3903-2A2B-40524A0D32A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0BFCA54-2174-428D-BA42-0273CD93F39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493467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4A666-C2D7-70F3-165D-761FFBB4A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3D802-0927-28EB-1EC3-E6C3EC5C02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73564C9-9673-CE69-FDC1-5D66CD078A0D}"/>
              </a:ext>
            </a:extLst>
          </p:cNvPr>
          <p:cNvSpPr>
            <a:spLocks noGrp="1"/>
          </p:cNvSpPr>
          <p:nvPr>
            <p:ph type="body" idx="1"/>
          </p:nvPr>
        </p:nvSpPr>
        <p:spPr/>
        <p:txBody>
          <a:bodyPr/>
          <a:lstStyle/>
          <a:p>
            <a:pPr marL="171450" indent="-171450">
              <a:buFont typeface="Arial" panose="020B0604020202020204" pitchFamily="34" charset="0"/>
              <a:buChar char="•"/>
            </a:pPr>
            <a:r>
              <a:rPr lang="en-US" dirty="0"/>
              <a:t>We saw a pretty dramatic change. </a:t>
            </a:r>
          </a:p>
          <a:p>
            <a:pPr marL="171450" indent="-171450">
              <a:buFont typeface="Arial" panose="020B0604020202020204" pitchFamily="34" charset="0"/>
              <a:buChar char="•"/>
            </a:pPr>
            <a:r>
              <a:rPr lang="en-US" dirty="0"/>
              <a:t>Effective strategies were now used by the majority of students and ineffective strategies decreased to almost zero. </a:t>
            </a:r>
          </a:p>
        </p:txBody>
      </p:sp>
      <p:sp>
        <p:nvSpPr>
          <p:cNvPr id="4" name="Slide Number Placeholder 3">
            <a:extLst>
              <a:ext uri="{FF2B5EF4-FFF2-40B4-BE49-F238E27FC236}">
                <a16:creationId xmlns:a16="http://schemas.microsoft.com/office/drawing/2014/main" id="{A80C85B3-6A65-768E-180A-341907C4C38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0BFCA54-2174-428D-BA42-0273CD93F39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25745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7B208-F034-EEE7-2FF6-00463E6A06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3C2366-D6EF-127F-FB8C-DA037048432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171454-61B3-4B3A-ADE0-64696DC00D59}"/>
              </a:ext>
            </a:extLst>
          </p:cNvPr>
          <p:cNvSpPr>
            <a:spLocks noGrp="1"/>
          </p:cNvSpPr>
          <p:nvPr>
            <p:ph type="body" idx="1"/>
          </p:nvPr>
        </p:nvSpPr>
        <p:spPr/>
        <p:txBody>
          <a:bodyPr/>
          <a:lstStyle/>
          <a:p>
            <a:r>
              <a:rPr lang="en-US" dirty="0"/>
              <a:t>Further, we saw a transfer to communication about vaccines, meaning that this instruction may have an impact beyond one topic.</a:t>
            </a:r>
          </a:p>
        </p:txBody>
      </p:sp>
      <p:sp>
        <p:nvSpPr>
          <p:cNvPr id="4" name="Slide Number Placeholder 3">
            <a:extLst>
              <a:ext uri="{FF2B5EF4-FFF2-40B4-BE49-F238E27FC236}">
                <a16:creationId xmlns:a16="http://schemas.microsoft.com/office/drawing/2014/main" id="{B8A425F9-67D1-E3F1-C44C-5C4BDC1EA97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0BFCA54-2174-428D-BA42-0273CD93F39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796307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BFCA54-2174-428D-BA42-0273CD93F39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47675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0CFA0-8BAD-349C-D4A7-C7756AD49D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8D6A17-2A3B-FADB-7B6C-32771A7076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A7CC53-0DC0-2806-48D3-C23F37A23F5E}"/>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5" name="Footer Placeholder 4">
            <a:extLst>
              <a:ext uri="{FF2B5EF4-FFF2-40B4-BE49-F238E27FC236}">
                <a16:creationId xmlns:a16="http://schemas.microsoft.com/office/drawing/2014/main" id="{E9F19365-680E-E0D8-FCB2-680DBD675D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79157-8DE0-B047-24EE-773E0395C036}"/>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3961137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3AFE-B36C-3FC4-5877-D495F37D57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2E2F4E-B662-B4AB-2E56-34B50C2340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416454-E192-1D4C-ADE2-D96DE6EFE77D}"/>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5" name="Footer Placeholder 4">
            <a:extLst>
              <a:ext uri="{FF2B5EF4-FFF2-40B4-BE49-F238E27FC236}">
                <a16:creationId xmlns:a16="http://schemas.microsoft.com/office/drawing/2014/main" id="{160D1629-5E05-772D-0F06-AB8527464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9237A6-6B82-8A05-84AF-FDF82B12A00A}"/>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621568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8F677-AA8A-CFDB-F771-015877B716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C39E59-61FC-4636-97BE-DF28C6CA22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10F06B-7457-73A2-3ACA-7429F7302B9E}"/>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5" name="Footer Placeholder 4">
            <a:extLst>
              <a:ext uri="{FF2B5EF4-FFF2-40B4-BE49-F238E27FC236}">
                <a16:creationId xmlns:a16="http://schemas.microsoft.com/office/drawing/2014/main" id="{48C1CB4D-07B4-7554-0703-8B0588C8A9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70A27-0E1B-CFA5-AA0D-D3C93738E27F}"/>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3436801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64D7-B31B-86C4-217E-14D56FCB37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4E80CC-786E-8F14-D90D-5BFB945874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523EBC-F156-D57A-47D7-EE90B6B930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EB5D53-D0A4-A183-D3A8-DCD79A293DB8}"/>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6" name="Footer Placeholder 5">
            <a:extLst>
              <a:ext uri="{FF2B5EF4-FFF2-40B4-BE49-F238E27FC236}">
                <a16:creationId xmlns:a16="http://schemas.microsoft.com/office/drawing/2014/main" id="{1394FCDD-F88B-63B4-F361-38C4AB7E67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C3F10D-FE8A-69B6-03BD-2202A05A69A8}"/>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1329231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62F1A-966E-14D4-7949-24F1FE6DD2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6792E4-CE12-6A43-E0ED-20EE00C4A0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BEDCC-5171-9A97-9BA5-EAB3D802A2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80088F-AE9A-963E-061A-9E4049275A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90ED6E-2E0E-A6A4-0074-8DE06F76B8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39057F-EE9E-5CBA-CCF3-18FC2E17B04E}"/>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8" name="Footer Placeholder 7">
            <a:extLst>
              <a:ext uri="{FF2B5EF4-FFF2-40B4-BE49-F238E27FC236}">
                <a16:creationId xmlns:a16="http://schemas.microsoft.com/office/drawing/2014/main" id="{3ABE30AE-1CE5-DCFA-0C50-9D949E5450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8F93F6-EB35-CB6D-BF3F-EDCA06D641C7}"/>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1516956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87CD5-656B-EE77-1D05-2660F6E0CA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3ACD94-4645-55D8-13BC-0008EC5B1455}"/>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4" name="Footer Placeholder 3">
            <a:extLst>
              <a:ext uri="{FF2B5EF4-FFF2-40B4-BE49-F238E27FC236}">
                <a16:creationId xmlns:a16="http://schemas.microsoft.com/office/drawing/2014/main" id="{B6ADBE59-E348-DEC2-5EA9-8541CED6EE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F95930-735B-7265-0F03-F0D67E1C41D5}"/>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3394276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8C9F15-0FC5-7CDB-432F-6E63FEFC6E57}"/>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3" name="Footer Placeholder 2">
            <a:extLst>
              <a:ext uri="{FF2B5EF4-FFF2-40B4-BE49-F238E27FC236}">
                <a16:creationId xmlns:a16="http://schemas.microsoft.com/office/drawing/2014/main" id="{E8C8E911-CF64-DB71-23BB-C6BFEA2F5A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76FB28-C4CD-63F5-A184-4CDCD6C622CF}"/>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2450863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BCC64-97FE-7290-0906-4AC75FCE4E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B04E60-E00E-966A-4A9B-3C5F72D84C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7873C7-755C-F354-4AC4-3E4FB3ABE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5C66E4-00DE-B673-A4C0-1921D1CBFD0B}"/>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6" name="Footer Placeholder 5">
            <a:extLst>
              <a:ext uri="{FF2B5EF4-FFF2-40B4-BE49-F238E27FC236}">
                <a16:creationId xmlns:a16="http://schemas.microsoft.com/office/drawing/2014/main" id="{DC47D916-2B35-41B6-4694-5B9B19ACDF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55FE33-E1E5-2315-821B-6D1E4E4260AF}"/>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1386445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56E8-27C7-29EF-7B3C-D3E7777622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6DFBA8-5F66-43D3-83AB-B9E60282B2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35C451-C6C2-B785-2B9D-03038CFE0B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B5C5BE-C815-1FA8-D68E-82327E1EB3FA}"/>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6" name="Footer Placeholder 5">
            <a:extLst>
              <a:ext uri="{FF2B5EF4-FFF2-40B4-BE49-F238E27FC236}">
                <a16:creationId xmlns:a16="http://schemas.microsoft.com/office/drawing/2014/main" id="{FAC2248D-4E62-93D3-DD5C-ACF7C0692C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29B038-9E17-084E-EF3D-C691AA8740E6}"/>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4093818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001EC-01FC-DDCC-A5F5-3EAA824B76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9CCD97-CAB1-DBCD-C0AE-2D8F05C12E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6EF52-B6E5-C06C-DD7D-4A3255F360F2}"/>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5" name="Footer Placeholder 4">
            <a:extLst>
              <a:ext uri="{FF2B5EF4-FFF2-40B4-BE49-F238E27FC236}">
                <a16:creationId xmlns:a16="http://schemas.microsoft.com/office/drawing/2014/main" id="{45CEF4A6-5FD6-7C88-4E25-21CD824A0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2DDF11-B9D6-F8C6-7D56-EA7408FA1683}"/>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2035546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A0F253-A7ED-A081-2A81-053B7FDA52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B3C60D-A52F-EF5F-DA85-097BC7911E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94C4FE-1BAE-BCDB-D80C-9524EDD27117}"/>
              </a:ext>
            </a:extLst>
          </p:cNvPr>
          <p:cNvSpPr>
            <a:spLocks noGrp="1"/>
          </p:cNvSpPr>
          <p:nvPr>
            <p:ph type="dt" sz="half" idx="10"/>
          </p:nvPr>
        </p:nvSpPr>
        <p:spPr/>
        <p:txBody>
          <a:bodyPr/>
          <a:lstStyle/>
          <a:p>
            <a:fld id="{91474FDB-E4A8-4519-B4E4-92A968FF6909}" type="datetimeFigureOut">
              <a:rPr lang="en-US" smtClean="0"/>
              <a:t>10/28/2026</a:t>
            </a:fld>
            <a:endParaRPr lang="en-US"/>
          </a:p>
        </p:txBody>
      </p:sp>
      <p:sp>
        <p:nvSpPr>
          <p:cNvPr id="5" name="Footer Placeholder 4">
            <a:extLst>
              <a:ext uri="{FF2B5EF4-FFF2-40B4-BE49-F238E27FC236}">
                <a16:creationId xmlns:a16="http://schemas.microsoft.com/office/drawing/2014/main" id="{8BD18353-671D-939A-EE4D-6E4B3C8C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709917-1A6B-6202-CC01-A828F7CE617B}"/>
              </a:ext>
            </a:extLst>
          </p:cNvPr>
          <p:cNvSpPr>
            <a:spLocks noGrp="1"/>
          </p:cNvSpPr>
          <p:nvPr>
            <p:ph type="sldNum" sz="quarter" idx="12"/>
          </p:nvPr>
        </p:nvSpPr>
        <p:spPr/>
        <p:txBody>
          <a:bodyPr/>
          <a:lstStyle/>
          <a:p>
            <a:fld id="{BA6BA19A-867D-4089-B66F-7307AD6E9576}" type="slidenum">
              <a:rPr lang="en-US" smtClean="0"/>
              <a:t>‹#›</a:t>
            </a:fld>
            <a:endParaRPr lang="en-US"/>
          </a:p>
        </p:txBody>
      </p:sp>
    </p:spTree>
    <p:extLst>
      <p:ext uri="{BB962C8B-B14F-4D97-AF65-F5344CB8AC3E}">
        <p14:creationId xmlns:p14="http://schemas.microsoft.com/office/powerpoint/2010/main" val="3026000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2438400" y="3145038"/>
            <a:ext cx="609600" cy="1063575"/>
          </a:xfrm>
          <a:prstGeom prst="rect">
            <a:avLst/>
          </a:prstGeom>
          <a:noFill/>
        </p:spPr>
        <p:txBody>
          <a:bodyPr wrap="square" lIns="0" tIns="9405" rIns="0" bIns="9405" rtlCol="0" anchor="ctr" anchorCtr="0">
            <a:spAutoFit/>
          </a:bodyPr>
          <a:lstStyle/>
          <a:p>
            <a:pPr defTabSz="940523"/>
            <a:r>
              <a:rPr lang="en-US" sz="6788">
                <a:solidFill>
                  <a:prstClr val="white"/>
                </a:solidFill>
                <a:effectLst>
                  <a:outerShdw blurRad="38100" dist="38100" dir="2700000" algn="tl">
                    <a:srgbClr val="000000">
                      <a:alpha val="43137"/>
                    </a:srgbClr>
                  </a:outerShdw>
                </a:effectLst>
                <a:ea typeface="MS PGothic" panose="020B0600070205080204" pitchFamily="34" charset="-128"/>
              </a:rPr>
              <a:t>{</a:t>
            </a:r>
          </a:p>
        </p:txBody>
      </p:sp>
      <p:sp>
        <p:nvSpPr>
          <p:cNvPr id="2" name="Title 1"/>
          <p:cNvSpPr>
            <a:spLocks noGrp="1"/>
          </p:cNvSpPr>
          <p:nvPr>
            <p:ph type="ctrTitle"/>
          </p:nvPr>
        </p:nvSpPr>
        <p:spPr>
          <a:xfrm>
            <a:off x="1036320" y="1219200"/>
            <a:ext cx="10058400" cy="2152650"/>
          </a:xfrm>
        </p:spPr>
        <p:txBody>
          <a:bodyPr>
            <a:noAutofit/>
          </a:bodyPr>
          <a:lstStyle>
            <a:lvl1pPr>
              <a:defRPr sz="6169">
                <a:solidFill>
                  <a:schemeClr val="tx1"/>
                </a:solidFill>
              </a:defRPr>
            </a:lvl1pPr>
          </a:lstStyle>
          <a:p>
            <a:r>
              <a:rPr lang="en-US"/>
              <a:t>Click to edit Master title style</a:t>
            </a:r>
          </a:p>
        </p:txBody>
      </p:sp>
      <p:sp>
        <p:nvSpPr>
          <p:cNvPr id="3" name="Subtitle 2"/>
          <p:cNvSpPr>
            <a:spLocks noGrp="1"/>
          </p:cNvSpPr>
          <p:nvPr>
            <p:ph type="subTitle" idx="1"/>
          </p:nvPr>
        </p:nvSpPr>
        <p:spPr>
          <a:xfrm>
            <a:off x="2844800" y="3375491"/>
            <a:ext cx="8229600" cy="685800"/>
          </a:xfrm>
        </p:spPr>
        <p:txBody>
          <a:bodyPr anchor="ctr"/>
          <a:lstStyle>
            <a:lvl1pPr marL="0" indent="0" algn="l">
              <a:buNone/>
              <a:defRPr>
                <a:solidFill>
                  <a:schemeClr val="tx1"/>
                </a:solidFill>
              </a:defRPr>
            </a:lvl1pPr>
            <a:lvl2pPr marL="470262" indent="0" algn="ctr">
              <a:buNone/>
              <a:defRPr>
                <a:solidFill>
                  <a:schemeClr val="tx1">
                    <a:tint val="75000"/>
                  </a:schemeClr>
                </a:solidFill>
              </a:defRPr>
            </a:lvl2pPr>
            <a:lvl3pPr marL="940523" indent="0" algn="ctr">
              <a:buNone/>
              <a:defRPr>
                <a:solidFill>
                  <a:schemeClr val="tx1">
                    <a:tint val="75000"/>
                  </a:schemeClr>
                </a:solidFill>
              </a:defRPr>
            </a:lvl3pPr>
            <a:lvl4pPr marL="1410785" indent="0" algn="ctr">
              <a:buNone/>
              <a:defRPr>
                <a:solidFill>
                  <a:schemeClr val="tx1">
                    <a:tint val="75000"/>
                  </a:schemeClr>
                </a:solidFill>
              </a:defRPr>
            </a:lvl4pPr>
            <a:lvl5pPr marL="1881047" indent="0" algn="ctr">
              <a:buNone/>
              <a:defRPr>
                <a:solidFill>
                  <a:schemeClr val="tx1">
                    <a:tint val="75000"/>
                  </a:schemeClr>
                </a:solidFill>
              </a:defRPr>
            </a:lvl5pPr>
            <a:lvl6pPr marL="2351308" indent="0" algn="ctr">
              <a:buNone/>
              <a:defRPr>
                <a:solidFill>
                  <a:schemeClr val="tx1">
                    <a:tint val="75000"/>
                  </a:schemeClr>
                </a:solidFill>
              </a:defRPr>
            </a:lvl6pPr>
            <a:lvl7pPr marL="2821570" indent="0" algn="ctr">
              <a:buNone/>
              <a:defRPr>
                <a:solidFill>
                  <a:schemeClr val="tx1">
                    <a:tint val="75000"/>
                  </a:schemeClr>
                </a:solidFill>
              </a:defRPr>
            </a:lvl7pPr>
            <a:lvl8pPr marL="3291831" indent="0" algn="ctr">
              <a:buNone/>
              <a:defRPr>
                <a:solidFill>
                  <a:schemeClr val="tx1">
                    <a:tint val="75000"/>
                  </a:schemeClr>
                </a:solidFill>
              </a:defRPr>
            </a:lvl8pPr>
            <a:lvl9pPr marL="3762093" indent="0" algn="ctr">
              <a:buNone/>
              <a:defRPr>
                <a:solidFill>
                  <a:schemeClr val="tx1">
                    <a:tint val="75000"/>
                  </a:schemeClr>
                </a:solidFill>
              </a:defRPr>
            </a:lvl9pPr>
          </a:lstStyle>
          <a:p>
            <a:r>
              <a:rPr lang="en-US"/>
              <a:t>Click to edit Master subtitle style</a:t>
            </a:r>
          </a:p>
        </p:txBody>
      </p:sp>
      <p:sp>
        <p:nvSpPr>
          <p:cNvPr id="15" name="Date Placeholder 14"/>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16" name="Slide Number Placeholder 15"/>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
        <p:nvSpPr>
          <p:cNvPr id="17" name="Footer Placeholder 16"/>
          <p:cNvSpPr>
            <a:spLocks noGrp="1"/>
          </p:cNvSpPr>
          <p:nvPr>
            <p:ph type="ftr" sz="quarter" idx="12"/>
          </p:nvPr>
        </p:nvSpPr>
        <p:spPr/>
        <p:txBody>
          <a:bodyPr/>
          <a:lstStyle/>
          <a:p>
            <a:endParaRPr lang="en-US">
              <a:solidFill>
                <a:prstClr val="white">
                  <a:alpha val="60000"/>
                </a:prstClr>
              </a:solidFill>
            </a:endParaRPr>
          </a:p>
        </p:txBody>
      </p:sp>
    </p:spTree>
    <p:extLst>
      <p:ext uri="{BB962C8B-B14F-4D97-AF65-F5344CB8AC3E}">
        <p14:creationId xmlns:p14="http://schemas.microsoft.com/office/powerpoint/2010/main" val="2614764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p:txBody>
          <a:bodyPr/>
          <a:lstStyle/>
          <a:p>
            <a:r>
              <a:rPr lang="en-US"/>
              <a:t>Click to edit Master title style</a:t>
            </a:r>
          </a:p>
        </p:txBody>
      </p:sp>
      <p:sp>
        <p:nvSpPr>
          <p:cNvPr id="14" name="Date Placeholder 13"/>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15" name="Slide Number Placeholder 14"/>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
        <p:nvSpPr>
          <p:cNvPr id="16" name="Footer Placeholder 15"/>
          <p:cNvSpPr>
            <a:spLocks noGrp="1"/>
          </p:cNvSpPr>
          <p:nvPr>
            <p:ph type="ftr" sz="quarter" idx="12"/>
          </p:nvPr>
        </p:nvSpPr>
        <p:spPr/>
        <p:txBody>
          <a:bodyPr/>
          <a:lstStyle/>
          <a:p>
            <a:endParaRPr lang="en-US">
              <a:solidFill>
                <a:prstClr val="white">
                  <a:alpha val="60000"/>
                </a:prstClr>
              </a:solidFill>
            </a:endParaRPr>
          </a:p>
        </p:txBody>
      </p:sp>
    </p:spTree>
    <p:extLst>
      <p:ext uri="{BB962C8B-B14F-4D97-AF65-F5344CB8AC3E}">
        <p14:creationId xmlns:p14="http://schemas.microsoft.com/office/powerpoint/2010/main" val="13285517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5689600" y="4074498"/>
            <a:ext cx="609600" cy="1044581"/>
          </a:xfrm>
          <a:prstGeom prst="rect">
            <a:avLst/>
          </a:prstGeom>
          <a:noFill/>
        </p:spPr>
        <p:txBody>
          <a:bodyPr wrap="square" lIns="0" tIns="0" rIns="0" bIns="0" rtlCol="0" anchor="t" anchorCtr="0">
            <a:spAutoFit/>
          </a:bodyPr>
          <a:lstStyle/>
          <a:p>
            <a:pPr defTabSz="940523"/>
            <a:r>
              <a:rPr lang="en-US" sz="6788">
                <a:solidFill>
                  <a:prstClr val="white"/>
                </a:solidFill>
                <a:effectLst>
                  <a:outerShdw blurRad="38100" dist="38100" dir="2700000" algn="tl">
                    <a:srgbClr val="000000">
                      <a:alpha val="43137"/>
                    </a:srgbClr>
                  </a:outerShdw>
                </a:effectLst>
                <a:ea typeface="MS PGothic" panose="020B0600070205080204" pitchFamily="34" charset="-128"/>
              </a:rPr>
              <a:t>{</a:t>
            </a:r>
          </a:p>
        </p:txBody>
      </p:sp>
      <p:sp>
        <p:nvSpPr>
          <p:cNvPr id="3" name="Text Placeholder 2"/>
          <p:cNvSpPr>
            <a:spLocks noGrp="1"/>
          </p:cNvSpPr>
          <p:nvPr>
            <p:ph type="body" idx="1"/>
          </p:nvPr>
        </p:nvSpPr>
        <p:spPr>
          <a:xfrm>
            <a:off x="6096000" y="4267368"/>
            <a:ext cx="4978400" cy="731520"/>
          </a:xfrm>
        </p:spPr>
        <p:txBody>
          <a:bodyPr anchor="ctr">
            <a:normAutofit/>
          </a:bodyPr>
          <a:lstStyle>
            <a:lvl1pPr marL="0" indent="0">
              <a:buNone/>
              <a:defRPr sz="1856">
                <a:solidFill>
                  <a:schemeClr val="tx1"/>
                </a:solidFill>
              </a:defRPr>
            </a:lvl1pPr>
            <a:lvl2pPr marL="470262" indent="0">
              <a:buNone/>
              <a:defRPr sz="1856">
                <a:solidFill>
                  <a:schemeClr val="tx1">
                    <a:tint val="75000"/>
                  </a:schemeClr>
                </a:solidFill>
              </a:defRPr>
            </a:lvl2pPr>
            <a:lvl3pPr marL="940523" indent="0">
              <a:buNone/>
              <a:defRPr sz="1650">
                <a:solidFill>
                  <a:schemeClr val="tx1">
                    <a:tint val="75000"/>
                  </a:schemeClr>
                </a:solidFill>
              </a:defRPr>
            </a:lvl3pPr>
            <a:lvl4pPr marL="1410785" indent="0">
              <a:buNone/>
              <a:defRPr sz="1444">
                <a:solidFill>
                  <a:schemeClr val="tx1">
                    <a:tint val="75000"/>
                  </a:schemeClr>
                </a:solidFill>
              </a:defRPr>
            </a:lvl4pPr>
            <a:lvl5pPr marL="1881047" indent="0">
              <a:buNone/>
              <a:defRPr sz="1444">
                <a:solidFill>
                  <a:schemeClr val="tx1">
                    <a:tint val="75000"/>
                  </a:schemeClr>
                </a:solidFill>
              </a:defRPr>
            </a:lvl5pPr>
            <a:lvl6pPr marL="2351308" indent="0">
              <a:buNone/>
              <a:defRPr sz="1444">
                <a:solidFill>
                  <a:schemeClr val="tx1">
                    <a:tint val="75000"/>
                  </a:schemeClr>
                </a:solidFill>
              </a:defRPr>
            </a:lvl6pPr>
            <a:lvl7pPr marL="2821570" indent="0">
              <a:buNone/>
              <a:defRPr sz="1444">
                <a:solidFill>
                  <a:schemeClr val="tx1">
                    <a:tint val="75000"/>
                  </a:schemeClr>
                </a:solidFill>
              </a:defRPr>
            </a:lvl7pPr>
            <a:lvl8pPr marL="3291831" indent="0">
              <a:buNone/>
              <a:defRPr sz="1444">
                <a:solidFill>
                  <a:schemeClr val="tx1">
                    <a:tint val="75000"/>
                  </a:schemeClr>
                </a:solidFill>
              </a:defRPr>
            </a:lvl8pPr>
            <a:lvl9pPr marL="3762093" indent="0">
              <a:buNone/>
              <a:defRPr sz="1444">
                <a:solidFill>
                  <a:schemeClr val="tx1">
                    <a:tint val="75000"/>
                  </a:schemeClr>
                </a:solidFill>
              </a:defRPr>
            </a:lvl9pPr>
          </a:lstStyle>
          <a:p>
            <a:pPr lvl="0"/>
            <a:r>
              <a:rPr lang="en-US"/>
              <a:t>Click to edit Master text styles</a:t>
            </a:r>
          </a:p>
        </p:txBody>
      </p:sp>
      <p:sp>
        <p:nvSpPr>
          <p:cNvPr id="12" name="Date Placeholder 11"/>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13" name="Slide Number Placeholder 12"/>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
        <p:nvSpPr>
          <p:cNvPr id="14" name="Footer Placeholder 13"/>
          <p:cNvSpPr>
            <a:spLocks noGrp="1"/>
          </p:cNvSpPr>
          <p:nvPr>
            <p:ph type="ftr" sz="quarter" idx="12"/>
          </p:nvPr>
        </p:nvSpPr>
        <p:spPr/>
        <p:txBody>
          <a:bodyPr/>
          <a:lstStyle/>
          <a:p>
            <a:endParaRPr lang="en-US">
              <a:solidFill>
                <a:prstClr val="white">
                  <a:alpha val="60000"/>
                </a:prstClr>
              </a:solidFill>
            </a:endParaRPr>
          </a:p>
        </p:txBody>
      </p:sp>
      <p:sp>
        <p:nvSpPr>
          <p:cNvPr id="4" name="Title 3"/>
          <p:cNvSpPr>
            <a:spLocks noGrp="1"/>
          </p:cNvSpPr>
          <p:nvPr>
            <p:ph type="title"/>
          </p:nvPr>
        </p:nvSpPr>
        <p:spPr>
          <a:xfrm>
            <a:off x="3048000" y="1905000"/>
            <a:ext cx="8046720" cy="2350008"/>
          </a:xfrm>
        </p:spPr>
        <p:txBody>
          <a:bodyPr/>
          <a:lstStyle>
            <a:lvl1pPr marL="0" algn="l" defTabSz="940523" rtl="0" eaLnBrk="1" latinLnBrk="0" hangingPunct="1">
              <a:spcBef>
                <a:spcPct val="0"/>
              </a:spcBef>
              <a:buNone/>
              <a:defRPr lang="en-US" sz="555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32976860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9" name="Slide Number Placeholder 8"/>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
        <p:nvSpPr>
          <p:cNvPr id="10" name="Footer Placeholder 9"/>
          <p:cNvSpPr>
            <a:spLocks noGrp="1"/>
          </p:cNvSpPr>
          <p:nvPr>
            <p:ph type="ftr" sz="quarter" idx="12"/>
          </p:nvPr>
        </p:nvSpPr>
        <p:spPr/>
        <p:txBody>
          <a:bodyPr/>
          <a:lstStyle/>
          <a:p>
            <a:endParaRPr lang="en-US">
              <a:solidFill>
                <a:prstClr val="white">
                  <a:alpha val="60000"/>
                </a:prstClr>
              </a:solidFill>
            </a:endParaRPr>
          </a:p>
        </p:txBody>
      </p:sp>
      <p:sp>
        <p:nvSpPr>
          <p:cNvPr id="11" name="Title 10"/>
          <p:cNvSpPr>
            <a:spLocks noGrp="1"/>
          </p:cNvSpPr>
          <p:nvPr>
            <p:ph type="title"/>
          </p:nvPr>
        </p:nvSpPr>
        <p:spPr/>
        <p:txBody>
          <a:bodyPr/>
          <a:lstStyle/>
          <a:p>
            <a:r>
              <a:rPr lang="en-US"/>
              <a:t>Click to edit Master title style</a:t>
            </a:r>
          </a:p>
        </p:txBody>
      </p:sp>
      <p:sp>
        <p:nvSpPr>
          <p:cNvPr id="5" name="Content Placeholder 4"/>
          <p:cNvSpPr>
            <a:spLocks noGrp="1"/>
          </p:cNvSpPr>
          <p:nvPr>
            <p:ph sz="quarter" idx="13"/>
          </p:nvPr>
        </p:nvSpPr>
        <p:spPr>
          <a:xfrm>
            <a:off x="1792224" y="658368"/>
            <a:ext cx="4364736"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p:cNvSpPr>
            <a:spLocks noGrp="1"/>
          </p:cNvSpPr>
          <p:nvPr>
            <p:ph sz="quarter" idx="14"/>
          </p:nvPr>
        </p:nvSpPr>
        <p:spPr>
          <a:xfrm>
            <a:off x="6705600" y="658369"/>
            <a:ext cx="4364736" cy="3432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2550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8160" y="661976"/>
            <a:ext cx="4364736" cy="639762"/>
          </a:xfrm>
        </p:spPr>
        <p:txBody>
          <a:bodyPr anchor="ctr">
            <a:noAutofit/>
          </a:bodyPr>
          <a:lstStyle>
            <a:lvl1pPr marL="0" indent="0">
              <a:buNone/>
              <a:defRPr sz="2269" b="0"/>
            </a:lvl1pPr>
            <a:lvl2pPr marL="470262" indent="0">
              <a:buNone/>
              <a:defRPr sz="2063" b="1"/>
            </a:lvl2pPr>
            <a:lvl3pPr marL="940523" indent="0">
              <a:buNone/>
              <a:defRPr sz="1856" b="1"/>
            </a:lvl3pPr>
            <a:lvl4pPr marL="1410785" indent="0">
              <a:buNone/>
              <a:defRPr sz="1650" b="1"/>
            </a:lvl4pPr>
            <a:lvl5pPr marL="1881047" indent="0">
              <a:buNone/>
              <a:defRPr sz="1650" b="1"/>
            </a:lvl5pPr>
            <a:lvl6pPr marL="2351308" indent="0">
              <a:buNone/>
              <a:defRPr sz="1650" b="1"/>
            </a:lvl6pPr>
            <a:lvl7pPr marL="2821570" indent="0">
              <a:buNone/>
              <a:defRPr sz="1650" b="1"/>
            </a:lvl7pPr>
            <a:lvl8pPr marL="3291831" indent="0">
              <a:buNone/>
              <a:defRPr sz="1650" b="1"/>
            </a:lvl8pPr>
            <a:lvl9pPr marL="3762093" indent="0">
              <a:buNone/>
              <a:defRPr sz="1650" b="1"/>
            </a:lvl9pPr>
          </a:lstStyle>
          <a:p>
            <a:pPr lvl="0"/>
            <a:r>
              <a:rPr lang="en-US"/>
              <a:t>Click to edit Master text styles</a:t>
            </a:r>
          </a:p>
        </p:txBody>
      </p:sp>
      <p:sp>
        <p:nvSpPr>
          <p:cNvPr id="4" name="Content Placeholder 3"/>
          <p:cNvSpPr>
            <a:spLocks noGrp="1"/>
          </p:cNvSpPr>
          <p:nvPr>
            <p:ph sz="half" idx="2"/>
          </p:nvPr>
        </p:nvSpPr>
        <p:spPr>
          <a:xfrm>
            <a:off x="1792224" y="1371600"/>
            <a:ext cx="4368800" cy="2743200"/>
          </a:xfrm>
        </p:spPr>
        <p:txBody>
          <a:bodyPr anchor="t"/>
          <a:lstStyle>
            <a:lvl1pPr>
              <a:defRPr sz="2475"/>
            </a:lvl1pPr>
            <a:lvl2pPr>
              <a:defRPr sz="2063"/>
            </a:lvl2pPr>
            <a:lvl3pPr>
              <a:defRPr sz="1856"/>
            </a:lvl3pPr>
            <a:lvl4pPr>
              <a:defRPr sz="1650"/>
            </a:lvl4pPr>
            <a:lvl5pPr>
              <a:defRPr sz="1650"/>
            </a:lvl5pPr>
            <a:lvl6pPr>
              <a:defRPr sz="1650"/>
            </a:lvl6pPr>
            <a:lvl7pPr>
              <a:defRPr sz="1650"/>
            </a:lvl7pPr>
            <a:lvl8pPr>
              <a:defRPr sz="1650"/>
            </a:lvl8pPr>
            <a:lvl9pPr>
              <a:defRPr sz="16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705600" y="661976"/>
            <a:ext cx="4364736" cy="639762"/>
          </a:xfrm>
        </p:spPr>
        <p:txBody>
          <a:bodyPr anchor="ctr">
            <a:noAutofit/>
          </a:bodyPr>
          <a:lstStyle>
            <a:lvl1pPr marL="0" indent="0">
              <a:buNone/>
              <a:defRPr sz="2269" b="0"/>
            </a:lvl1pPr>
            <a:lvl2pPr marL="470262" indent="0">
              <a:buNone/>
              <a:defRPr sz="2063" b="1"/>
            </a:lvl2pPr>
            <a:lvl3pPr marL="940523" indent="0">
              <a:buNone/>
              <a:defRPr sz="1856" b="1"/>
            </a:lvl3pPr>
            <a:lvl4pPr marL="1410785" indent="0">
              <a:buNone/>
              <a:defRPr sz="1650" b="1"/>
            </a:lvl4pPr>
            <a:lvl5pPr marL="1881047" indent="0">
              <a:buNone/>
              <a:defRPr sz="1650" b="1"/>
            </a:lvl5pPr>
            <a:lvl6pPr marL="2351308" indent="0">
              <a:buNone/>
              <a:defRPr sz="1650" b="1"/>
            </a:lvl6pPr>
            <a:lvl7pPr marL="2821570" indent="0">
              <a:buNone/>
              <a:defRPr sz="1650" b="1"/>
            </a:lvl7pPr>
            <a:lvl8pPr marL="3291831" indent="0">
              <a:buNone/>
              <a:defRPr sz="1650" b="1"/>
            </a:lvl8pPr>
            <a:lvl9pPr marL="3762093" indent="0">
              <a:buNone/>
              <a:defRPr sz="1650" b="1"/>
            </a:lvl9pPr>
          </a:lstStyle>
          <a:p>
            <a:pPr lvl="0"/>
            <a:r>
              <a:rPr lang="en-US"/>
              <a:t>Click to edit Master text styles</a:t>
            </a:r>
          </a:p>
        </p:txBody>
      </p:sp>
      <p:sp>
        <p:nvSpPr>
          <p:cNvPr id="6" name="Content Placeholder 5"/>
          <p:cNvSpPr>
            <a:spLocks noGrp="1"/>
          </p:cNvSpPr>
          <p:nvPr>
            <p:ph sz="quarter" idx="4"/>
          </p:nvPr>
        </p:nvSpPr>
        <p:spPr>
          <a:xfrm>
            <a:off x="6705600" y="1371600"/>
            <a:ext cx="4364736" cy="2743200"/>
          </a:xfrm>
        </p:spPr>
        <p:txBody>
          <a:bodyPr anchor="t"/>
          <a:lstStyle>
            <a:lvl1pPr>
              <a:defRPr sz="2475"/>
            </a:lvl1pPr>
            <a:lvl2pPr>
              <a:defRPr sz="2063"/>
            </a:lvl2pPr>
            <a:lvl3pPr>
              <a:defRPr sz="1856"/>
            </a:lvl3pPr>
            <a:lvl4pPr>
              <a:defRPr sz="1650"/>
            </a:lvl4pPr>
            <a:lvl5pPr>
              <a:defRPr sz="1650"/>
            </a:lvl5pPr>
            <a:lvl6pPr>
              <a:defRPr sz="1650"/>
            </a:lvl6pPr>
            <a:lvl7pPr>
              <a:defRPr sz="1650"/>
            </a:lvl7pPr>
            <a:lvl8pPr>
              <a:defRPr sz="1650"/>
            </a:lvl8pPr>
            <a:lvl9pPr>
              <a:defRPr sz="16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p:cNvSpPr txBox="1"/>
          <p:nvPr/>
        </p:nvSpPr>
        <p:spPr>
          <a:xfrm>
            <a:off x="1408853" y="520192"/>
            <a:ext cx="609600" cy="949362"/>
          </a:xfrm>
          <a:prstGeom prst="rect">
            <a:avLst/>
          </a:prstGeom>
          <a:noFill/>
        </p:spPr>
        <p:txBody>
          <a:bodyPr wrap="square" lIns="0" tIns="0" rIns="0" bIns="0" rtlCol="0" anchor="t" anchorCtr="0">
            <a:spAutoFit/>
          </a:bodyPr>
          <a:lstStyle/>
          <a:p>
            <a:pPr defTabSz="940523"/>
            <a:r>
              <a:rPr lang="en-US" sz="6169">
                <a:solidFill>
                  <a:prstClr val="white"/>
                </a:solidFill>
                <a:effectLst>
                  <a:outerShdw blurRad="38100" dist="38100" dir="2700000" algn="tl">
                    <a:srgbClr val="000000">
                      <a:alpha val="43137"/>
                    </a:srgbClr>
                  </a:outerShdw>
                </a:effectLst>
                <a:ea typeface="MS PGothic" panose="020B0600070205080204" pitchFamily="34" charset="-128"/>
              </a:rPr>
              <a:t>{</a:t>
            </a:r>
          </a:p>
        </p:txBody>
      </p:sp>
      <p:sp>
        <p:nvSpPr>
          <p:cNvPr id="18" name="TextBox 17"/>
          <p:cNvSpPr txBox="1"/>
          <p:nvPr/>
        </p:nvSpPr>
        <p:spPr>
          <a:xfrm>
            <a:off x="6373707" y="520192"/>
            <a:ext cx="609600" cy="949362"/>
          </a:xfrm>
          <a:prstGeom prst="rect">
            <a:avLst/>
          </a:prstGeom>
          <a:noFill/>
        </p:spPr>
        <p:txBody>
          <a:bodyPr wrap="square" lIns="0" tIns="0" rIns="0" bIns="0" rtlCol="0" anchor="t" anchorCtr="0">
            <a:spAutoFit/>
          </a:bodyPr>
          <a:lstStyle/>
          <a:p>
            <a:pPr defTabSz="940523"/>
            <a:r>
              <a:rPr lang="en-US" sz="6169">
                <a:solidFill>
                  <a:prstClr val="white"/>
                </a:solidFill>
                <a:effectLst>
                  <a:outerShdw blurRad="38100" dist="38100" dir="2700000" algn="tl">
                    <a:srgbClr val="000000">
                      <a:alpha val="43137"/>
                    </a:srgbClr>
                  </a:outerShdw>
                </a:effectLst>
                <a:ea typeface="MS PGothic" panose="020B0600070205080204" pitchFamily="34" charset="-128"/>
              </a:rPr>
              <a:t>{</a:t>
            </a:r>
          </a:p>
        </p:txBody>
      </p:sp>
      <p:sp>
        <p:nvSpPr>
          <p:cNvPr id="12" name="Title 11"/>
          <p:cNvSpPr>
            <a:spLocks noGrp="1"/>
          </p:cNvSpPr>
          <p:nvPr>
            <p:ph type="title"/>
          </p:nvPr>
        </p:nvSpPr>
        <p:spPr/>
        <p:txBody>
          <a:bodyPr/>
          <a:lstStyle/>
          <a:p>
            <a:r>
              <a:rPr lang="en-US"/>
              <a:t>Click to edit Master title style</a:t>
            </a:r>
          </a:p>
        </p:txBody>
      </p:sp>
      <p:sp>
        <p:nvSpPr>
          <p:cNvPr id="14" name="Date Placeholder 13"/>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15" name="Slide Number Placeholder 14"/>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
        <p:nvSpPr>
          <p:cNvPr id="16" name="Footer Placeholder 15"/>
          <p:cNvSpPr>
            <a:spLocks noGrp="1"/>
          </p:cNvSpPr>
          <p:nvPr>
            <p:ph type="ftr" sz="quarter" idx="12"/>
          </p:nvPr>
        </p:nvSpPr>
        <p:spPr/>
        <p:txBody>
          <a:bodyPr/>
          <a:lstStyle/>
          <a:p>
            <a:endParaRPr lang="en-US">
              <a:solidFill>
                <a:prstClr val="white">
                  <a:alpha val="60000"/>
                </a:prstClr>
              </a:solidFill>
            </a:endParaRPr>
          </a:p>
        </p:txBody>
      </p:sp>
    </p:spTree>
    <p:extLst>
      <p:ext uri="{BB962C8B-B14F-4D97-AF65-F5344CB8AC3E}">
        <p14:creationId xmlns:p14="http://schemas.microsoft.com/office/powerpoint/2010/main" val="39764605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7" name="Date Placeholder 6"/>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8" name="Slide Number Placeholder 7"/>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
        <p:nvSpPr>
          <p:cNvPr id="9" name="Footer Placeholder 8"/>
          <p:cNvSpPr>
            <a:spLocks noGrp="1"/>
          </p:cNvSpPr>
          <p:nvPr>
            <p:ph type="ftr" sz="quarter" idx="12"/>
          </p:nvPr>
        </p:nvSpPr>
        <p:spPr/>
        <p:txBody>
          <a:bodyPr/>
          <a:lstStyle/>
          <a:p>
            <a:endParaRPr lang="en-US">
              <a:solidFill>
                <a:prstClr val="white">
                  <a:alpha val="60000"/>
                </a:prstClr>
              </a:solidFill>
            </a:endParaRPr>
          </a:p>
        </p:txBody>
      </p:sp>
    </p:spTree>
    <p:extLst>
      <p:ext uri="{BB962C8B-B14F-4D97-AF65-F5344CB8AC3E}">
        <p14:creationId xmlns:p14="http://schemas.microsoft.com/office/powerpoint/2010/main" val="524503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6" name="Slide Number Placeholder 5"/>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
        <p:nvSpPr>
          <p:cNvPr id="7" name="Footer Placeholder 6"/>
          <p:cNvSpPr>
            <a:spLocks noGrp="1"/>
          </p:cNvSpPr>
          <p:nvPr>
            <p:ph type="ftr" sz="quarter" idx="12"/>
          </p:nvPr>
        </p:nvSpPr>
        <p:spPr/>
        <p:txBody>
          <a:bodyPr/>
          <a:lstStyle/>
          <a:p>
            <a:endParaRPr lang="en-US">
              <a:solidFill>
                <a:prstClr val="white">
                  <a:alpha val="60000"/>
                </a:prstClr>
              </a:solidFill>
            </a:endParaRPr>
          </a:p>
        </p:txBody>
      </p:sp>
    </p:spTree>
    <p:extLst>
      <p:ext uri="{BB962C8B-B14F-4D97-AF65-F5344CB8AC3E}">
        <p14:creationId xmlns:p14="http://schemas.microsoft.com/office/powerpoint/2010/main" val="42185925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7105227" y="1774588"/>
            <a:ext cx="609600" cy="1266629"/>
          </a:xfrm>
          <a:prstGeom prst="rect">
            <a:avLst/>
          </a:prstGeom>
          <a:noFill/>
        </p:spPr>
        <p:txBody>
          <a:bodyPr wrap="square" lIns="0" tIns="0" rIns="0" bIns="0" rtlCol="0" anchor="t" anchorCtr="0">
            <a:spAutoFit/>
          </a:bodyPr>
          <a:lstStyle/>
          <a:p>
            <a:pPr defTabSz="940523"/>
            <a:r>
              <a:rPr lang="en-US" sz="8231">
                <a:solidFill>
                  <a:prstClr val="white"/>
                </a:solidFill>
                <a:effectLst>
                  <a:outerShdw blurRad="38100" dist="38100" dir="2700000" algn="tl">
                    <a:srgbClr val="000000">
                      <a:alpha val="43137"/>
                    </a:srgbClr>
                  </a:outerShdw>
                </a:effectLst>
                <a:ea typeface="MS PGothic" panose="020B0600070205080204" pitchFamily="34" charset="-128"/>
              </a:rPr>
              <a:t>{</a:t>
            </a:r>
          </a:p>
        </p:txBody>
      </p:sp>
      <p:sp>
        <p:nvSpPr>
          <p:cNvPr id="3" name="Content Placeholder 2"/>
          <p:cNvSpPr>
            <a:spLocks noGrp="1"/>
          </p:cNvSpPr>
          <p:nvPr>
            <p:ph idx="1"/>
          </p:nvPr>
        </p:nvSpPr>
        <p:spPr>
          <a:xfrm>
            <a:off x="1117600" y="685801"/>
            <a:ext cx="5791200" cy="3429000"/>
          </a:xfrm>
        </p:spPr>
        <p:txBody>
          <a:bodyPr anchor="ctr"/>
          <a:lstStyle>
            <a:lvl1pPr>
              <a:defRPr sz="2475"/>
            </a:lvl1pPr>
            <a:lvl2pPr>
              <a:defRPr sz="2269"/>
            </a:lvl2pPr>
            <a:lvl3pPr>
              <a:defRPr sz="2063"/>
            </a:lvl3pPr>
            <a:lvl4pPr>
              <a:defRPr sz="1856"/>
            </a:lvl4pPr>
            <a:lvl5pPr>
              <a:defRPr sz="1856"/>
            </a:lvl5pPr>
            <a:lvl6pPr>
              <a:defRPr sz="2063"/>
            </a:lvl6pPr>
            <a:lvl7pPr>
              <a:defRPr sz="2063"/>
            </a:lvl7pPr>
            <a:lvl8pPr>
              <a:defRPr sz="2063"/>
            </a:lvl8pPr>
            <a:lvl9pPr>
              <a:defRPr sz="206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20000" y="685801"/>
            <a:ext cx="3454400" cy="3429000"/>
          </a:xfrm>
        </p:spPr>
        <p:txBody>
          <a:bodyPr anchor="ctr">
            <a:normAutofit/>
          </a:bodyPr>
          <a:lstStyle>
            <a:lvl1pPr marL="0" indent="0">
              <a:buNone/>
              <a:defRPr sz="1650"/>
            </a:lvl1pPr>
            <a:lvl2pPr marL="470262" indent="0">
              <a:buNone/>
              <a:defRPr sz="1238"/>
            </a:lvl2pPr>
            <a:lvl3pPr marL="940523" indent="0">
              <a:buNone/>
              <a:defRPr sz="1031"/>
            </a:lvl3pPr>
            <a:lvl4pPr marL="1410785" indent="0">
              <a:buNone/>
              <a:defRPr sz="919"/>
            </a:lvl4pPr>
            <a:lvl5pPr marL="1881047" indent="0">
              <a:buNone/>
              <a:defRPr sz="919"/>
            </a:lvl5pPr>
            <a:lvl6pPr marL="2351308" indent="0">
              <a:buNone/>
              <a:defRPr sz="919"/>
            </a:lvl6pPr>
            <a:lvl7pPr marL="2821570" indent="0">
              <a:buNone/>
              <a:defRPr sz="919"/>
            </a:lvl7pPr>
            <a:lvl8pPr marL="3291831" indent="0">
              <a:buNone/>
              <a:defRPr sz="919"/>
            </a:lvl8pPr>
            <a:lvl9pPr marL="3762093" indent="0">
              <a:buNone/>
              <a:defRPr sz="919"/>
            </a:lvl9pPr>
          </a:lstStyle>
          <a:p>
            <a:pPr lvl="0"/>
            <a:r>
              <a:rPr lang="en-US"/>
              <a:t>Click to edit Master text styles</a:t>
            </a:r>
          </a:p>
        </p:txBody>
      </p:sp>
      <p:sp>
        <p:nvSpPr>
          <p:cNvPr id="15" name="Date Placeholder 14"/>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16" name="Slide Number Placeholder 15"/>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
        <p:nvSpPr>
          <p:cNvPr id="17" name="Footer Placeholder 16"/>
          <p:cNvSpPr>
            <a:spLocks noGrp="1"/>
          </p:cNvSpPr>
          <p:nvPr>
            <p:ph type="ftr" sz="quarter" idx="12"/>
          </p:nvPr>
        </p:nvSpPr>
        <p:spPr/>
        <p:txBody>
          <a:bodyPr/>
          <a:lstStyle/>
          <a:p>
            <a:endParaRPr lang="en-US">
              <a:solidFill>
                <a:prstClr val="white">
                  <a:alpha val="60000"/>
                </a:prstClr>
              </a:solidFill>
            </a:endParaRPr>
          </a:p>
        </p:txBody>
      </p:sp>
      <p:sp>
        <p:nvSpPr>
          <p:cNvPr id="18" name="Title 1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345337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625600" y="612776"/>
            <a:ext cx="8940800" cy="2546985"/>
          </a:xfrm>
          <a:effectLst>
            <a:outerShdw blurRad="152400" dist="317500" dir="5400000" sx="90000" sy="-19000" rotWithShape="0">
              <a:prstClr val="black">
                <a:alpha val="15000"/>
              </a:prstClr>
            </a:outerShdw>
          </a:effectLst>
        </p:spPr>
        <p:txBody>
          <a:bodyPr/>
          <a:lstStyle>
            <a:lvl1pPr marL="0" indent="0">
              <a:buNone/>
              <a:defRPr sz="3300"/>
            </a:lvl1pPr>
            <a:lvl2pPr marL="470262" indent="0">
              <a:buNone/>
              <a:defRPr sz="2888"/>
            </a:lvl2pPr>
            <a:lvl3pPr marL="940523" indent="0">
              <a:buNone/>
              <a:defRPr sz="2475"/>
            </a:lvl3pPr>
            <a:lvl4pPr marL="1410785" indent="0">
              <a:buNone/>
              <a:defRPr sz="2063"/>
            </a:lvl4pPr>
            <a:lvl5pPr marL="1881047" indent="0">
              <a:buNone/>
              <a:defRPr sz="2063"/>
            </a:lvl5pPr>
            <a:lvl6pPr marL="2351308" indent="0">
              <a:buNone/>
              <a:defRPr sz="2063"/>
            </a:lvl6pPr>
            <a:lvl7pPr marL="2821570" indent="0">
              <a:buNone/>
              <a:defRPr sz="2063"/>
            </a:lvl7pPr>
            <a:lvl8pPr marL="3291831" indent="0">
              <a:buNone/>
              <a:defRPr sz="2063"/>
            </a:lvl8pPr>
            <a:lvl9pPr marL="3762093" indent="0">
              <a:buNone/>
              <a:defRPr sz="2063"/>
            </a:lvl9pPr>
          </a:lstStyle>
          <a:p>
            <a:r>
              <a:rPr lang="en-US"/>
              <a:t>Click icon to add picture</a:t>
            </a:r>
          </a:p>
        </p:txBody>
      </p:sp>
      <p:sp>
        <p:nvSpPr>
          <p:cNvPr id="4" name="Text Placeholder 3"/>
          <p:cNvSpPr>
            <a:spLocks noGrp="1"/>
          </p:cNvSpPr>
          <p:nvPr>
            <p:ph type="body" sz="half" idx="2"/>
          </p:nvPr>
        </p:nvSpPr>
        <p:spPr>
          <a:xfrm>
            <a:off x="3657600" y="3453047"/>
            <a:ext cx="6705600" cy="720804"/>
          </a:xfrm>
        </p:spPr>
        <p:txBody>
          <a:bodyPr anchor="ctr">
            <a:normAutofit/>
          </a:bodyPr>
          <a:lstStyle>
            <a:lvl1pPr marL="0" indent="0">
              <a:buNone/>
              <a:defRPr sz="1650"/>
            </a:lvl1pPr>
            <a:lvl2pPr marL="470262" indent="0">
              <a:buNone/>
              <a:defRPr sz="1238"/>
            </a:lvl2pPr>
            <a:lvl3pPr marL="940523" indent="0">
              <a:buNone/>
              <a:defRPr sz="1031"/>
            </a:lvl3pPr>
            <a:lvl4pPr marL="1410785" indent="0">
              <a:buNone/>
              <a:defRPr sz="919"/>
            </a:lvl4pPr>
            <a:lvl5pPr marL="1881047" indent="0">
              <a:buNone/>
              <a:defRPr sz="919"/>
            </a:lvl5pPr>
            <a:lvl6pPr marL="2351308" indent="0">
              <a:buNone/>
              <a:defRPr sz="919"/>
            </a:lvl6pPr>
            <a:lvl7pPr marL="2821570" indent="0">
              <a:buNone/>
              <a:defRPr sz="919"/>
            </a:lvl7pPr>
            <a:lvl8pPr marL="3291831" indent="0">
              <a:buNone/>
              <a:defRPr sz="919"/>
            </a:lvl8pPr>
            <a:lvl9pPr marL="3762093" indent="0">
              <a:buNone/>
              <a:defRPr sz="919"/>
            </a:lvl9pPr>
          </a:lstStyle>
          <a:p>
            <a:pPr lvl="0"/>
            <a:r>
              <a:rPr lang="en-US"/>
              <a:t>Click to edit Master text styles</a:t>
            </a:r>
          </a:p>
        </p:txBody>
      </p:sp>
      <p:sp>
        <p:nvSpPr>
          <p:cNvPr id="9" name="TextBox 8"/>
          <p:cNvSpPr txBox="1"/>
          <p:nvPr/>
        </p:nvSpPr>
        <p:spPr>
          <a:xfrm>
            <a:off x="3247136" y="3331464"/>
            <a:ext cx="609600" cy="949362"/>
          </a:xfrm>
          <a:prstGeom prst="rect">
            <a:avLst/>
          </a:prstGeom>
          <a:noFill/>
        </p:spPr>
        <p:txBody>
          <a:bodyPr wrap="square" lIns="0" tIns="0" rIns="0" bIns="0" rtlCol="0" anchor="t" anchorCtr="0">
            <a:spAutoFit/>
          </a:bodyPr>
          <a:lstStyle/>
          <a:p>
            <a:pPr defTabSz="940523"/>
            <a:r>
              <a:rPr lang="en-US" sz="6169">
                <a:solidFill>
                  <a:prstClr val="white"/>
                </a:solidFill>
                <a:effectLst>
                  <a:outerShdw blurRad="38100" dist="38100" dir="2700000" algn="tl">
                    <a:srgbClr val="000000">
                      <a:alpha val="43137"/>
                    </a:srgbClr>
                  </a:outerShdw>
                </a:effectLst>
                <a:ea typeface="MS PGothic" panose="020B0600070205080204" pitchFamily="34" charset="-128"/>
              </a:rPr>
              <a:t>{</a:t>
            </a:r>
          </a:p>
        </p:txBody>
      </p:sp>
      <p:sp>
        <p:nvSpPr>
          <p:cNvPr id="11" name="Title 10"/>
          <p:cNvSpPr>
            <a:spLocks noGrp="1"/>
          </p:cNvSpPr>
          <p:nvPr>
            <p:ph type="title"/>
          </p:nvPr>
        </p:nvSpPr>
        <p:spPr/>
        <p:txBody>
          <a:bodyPr/>
          <a:lstStyle/>
          <a:p>
            <a:r>
              <a:rPr lang="en-US"/>
              <a:t>Click to edit Master title style</a:t>
            </a:r>
          </a:p>
        </p:txBody>
      </p:sp>
      <p:sp>
        <p:nvSpPr>
          <p:cNvPr id="13" name="Date Placeholder 12"/>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14" name="Slide Number Placeholder 13"/>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
        <p:nvSpPr>
          <p:cNvPr id="15" name="Footer Placeholder 14"/>
          <p:cNvSpPr>
            <a:spLocks noGrp="1"/>
          </p:cNvSpPr>
          <p:nvPr>
            <p:ph type="ftr" sz="quarter" idx="12"/>
          </p:nvPr>
        </p:nvSpPr>
        <p:spPr/>
        <p:txBody>
          <a:bodyPr/>
          <a:lstStyle/>
          <a:p>
            <a:endParaRPr lang="en-US">
              <a:solidFill>
                <a:prstClr val="white">
                  <a:alpha val="60000"/>
                </a:prstClr>
              </a:solidFill>
            </a:endParaRPr>
          </a:p>
        </p:txBody>
      </p:sp>
    </p:spTree>
    <p:extLst>
      <p:ext uri="{BB962C8B-B14F-4D97-AF65-F5344CB8AC3E}">
        <p14:creationId xmlns:p14="http://schemas.microsoft.com/office/powerpoint/2010/main" val="91668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844800" y="685802"/>
            <a:ext cx="7721600" cy="3505199"/>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5" name="Footer Placeholder 4"/>
          <p:cNvSpPr>
            <a:spLocks noGrp="1"/>
          </p:cNvSpPr>
          <p:nvPr>
            <p:ph type="ftr" sz="quarter" idx="11"/>
          </p:nvPr>
        </p:nvSpPr>
        <p:spPr/>
        <p:txBody>
          <a:bodyPr/>
          <a:lstStyle/>
          <a:p>
            <a:endParaRPr lang="en-US">
              <a:solidFill>
                <a:prstClr val="white">
                  <a:alpha val="60000"/>
                </a:prstClr>
              </a:solidFill>
            </a:endParaRPr>
          </a:p>
        </p:txBody>
      </p:sp>
      <p:sp>
        <p:nvSpPr>
          <p:cNvPr id="6" name="Slide Number Placeholder 5"/>
          <p:cNvSpPr>
            <a:spLocks noGrp="1"/>
          </p:cNvSpPr>
          <p:nvPr>
            <p:ph type="sldNum" sz="quarter" idx="12"/>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Tree>
    <p:extLst>
      <p:ext uri="{BB962C8B-B14F-4D97-AF65-F5344CB8AC3E}">
        <p14:creationId xmlns:p14="http://schemas.microsoft.com/office/powerpoint/2010/main" val="4255372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2800" y="609601"/>
            <a:ext cx="2844800" cy="5181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60800" y="685801"/>
            <a:ext cx="6705600" cy="45720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a:solidFill>
                <a:prstClr val="white">
                  <a:alpha val="60000"/>
                </a:prstClr>
              </a:solidFill>
            </a:endParaRPr>
          </a:p>
        </p:txBody>
      </p:sp>
      <p:sp>
        <p:nvSpPr>
          <p:cNvPr id="5" name="Footer Placeholder 4"/>
          <p:cNvSpPr>
            <a:spLocks noGrp="1"/>
          </p:cNvSpPr>
          <p:nvPr>
            <p:ph type="ftr" sz="quarter" idx="11"/>
          </p:nvPr>
        </p:nvSpPr>
        <p:spPr/>
        <p:txBody>
          <a:bodyPr/>
          <a:lstStyle/>
          <a:p>
            <a:endParaRPr lang="en-US">
              <a:solidFill>
                <a:prstClr val="white">
                  <a:alpha val="60000"/>
                </a:prstClr>
              </a:solidFill>
            </a:endParaRPr>
          </a:p>
        </p:txBody>
      </p:sp>
      <p:sp>
        <p:nvSpPr>
          <p:cNvPr id="6" name="Slide Number Placeholder 5"/>
          <p:cNvSpPr>
            <a:spLocks noGrp="1"/>
          </p:cNvSpPr>
          <p:nvPr>
            <p:ph type="sldNum" sz="quarter" idx="12"/>
          </p:nvPr>
        </p:nvSpPr>
        <p:spPr/>
        <p:txBody>
          <a:bodyPr/>
          <a:lstStyle/>
          <a:p>
            <a:fld id="{E7B01E68-97CB-4984-877F-A9D37F03E1F2}" type="slidenum">
              <a:rPr lang="en-US" smtClean="0">
                <a:solidFill>
                  <a:prstClr val="white">
                    <a:alpha val="60000"/>
                  </a:prstClr>
                </a:solidFill>
              </a:rPr>
              <a:pPr/>
              <a:t>‹#›</a:t>
            </a:fld>
            <a:endParaRPr lang="en-US">
              <a:solidFill>
                <a:prstClr val="white">
                  <a:alpha val="60000"/>
                </a:prstClr>
              </a:solidFill>
            </a:endParaRPr>
          </a:p>
        </p:txBody>
      </p:sp>
    </p:spTree>
    <p:extLst>
      <p:ext uri="{BB962C8B-B14F-4D97-AF65-F5344CB8AC3E}">
        <p14:creationId xmlns:p14="http://schemas.microsoft.com/office/powerpoint/2010/main" val="1704731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940523"/>
            <a:fld id="{94E20425-5003-4A04-BD92-C997BC952271}" type="datetimeFigureOut">
              <a:rPr lang="en-US" smtClean="0">
                <a:solidFill>
                  <a:prstClr val="white">
                    <a:alpha val="60000"/>
                  </a:prstClr>
                </a:solidFill>
                <a:ea typeface="MS PGothic" panose="020B0600070205080204" pitchFamily="34" charset="-128"/>
              </a:rPr>
              <a:pPr defTabSz="940523"/>
              <a:t>10/28/2026</a:t>
            </a:fld>
            <a:endParaRPr lang="en-US">
              <a:solidFill>
                <a:prstClr val="white">
                  <a:alpha val="60000"/>
                </a:prstClr>
              </a:solidFill>
              <a:ea typeface="MS PGothic" panose="020B0600070205080204" pitchFamily="34" charset="-128"/>
            </a:endParaRPr>
          </a:p>
        </p:txBody>
      </p:sp>
      <p:sp>
        <p:nvSpPr>
          <p:cNvPr id="5" name="Footer Placeholder 4"/>
          <p:cNvSpPr>
            <a:spLocks noGrp="1"/>
          </p:cNvSpPr>
          <p:nvPr>
            <p:ph type="ftr" sz="quarter" idx="11"/>
          </p:nvPr>
        </p:nvSpPr>
        <p:spPr/>
        <p:txBody>
          <a:bodyPr/>
          <a:lstStyle/>
          <a:p>
            <a:pPr defTabSz="940523"/>
            <a:endParaRPr lang="en-US">
              <a:solidFill>
                <a:prstClr val="white">
                  <a:alpha val="60000"/>
                </a:prstClr>
              </a:solidFill>
              <a:ea typeface="MS PGothic" panose="020B0600070205080204" pitchFamily="34" charset="-128"/>
            </a:endParaRPr>
          </a:p>
        </p:txBody>
      </p:sp>
      <p:sp>
        <p:nvSpPr>
          <p:cNvPr id="6" name="Slide Number Placeholder 5"/>
          <p:cNvSpPr>
            <a:spLocks noGrp="1"/>
          </p:cNvSpPr>
          <p:nvPr>
            <p:ph type="sldNum" sz="quarter" idx="12"/>
          </p:nvPr>
        </p:nvSpPr>
        <p:spPr/>
        <p:txBody>
          <a:bodyPr/>
          <a:lstStyle/>
          <a:p>
            <a:pPr defTabSz="940523"/>
            <a:fld id="{E7B01E68-97CB-4984-877F-A9D37F03E1F2}" type="slidenum">
              <a:rPr lang="en-US" smtClean="0">
                <a:solidFill>
                  <a:prstClr val="white">
                    <a:alpha val="60000"/>
                  </a:prstClr>
                </a:solidFill>
                <a:ea typeface="MS PGothic" panose="020B0600070205080204" pitchFamily="34" charset="-128"/>
              </a:rPr>
              <a:pPr defTabSz="940523"/>
              <a:t>‹#›</a:t>
            </a:fld>
            <a:endParaRPr lang="en-US">
              <a:solidFill>
                <a:prstClr val="white">
                  <a:alpha val="60000"/>
                </a:prstClr>
              </a:solidFill>
              <a:ea typeface="MS PGothic" panose="020B0600070205080204" pitchFamily="34" charset="-128"/>
            </a:endParaRPr>
          </a:p>
        </p:txBody>
      </p:sp>
    </p:spTree>
    <p:extLst>
      <p:ext uri="{BB962C8B-B14F-4D97-AF65-F5344CB8AC3E}">
        <p14:creationId xmlns:p14="http://schemas.microsoft.com/office/powerpoint/2010/main" val="20430747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latin typeface="Arial"/>
                <a:ea typeface="Arial"/>
                <a:cs typeface="Arial"/>
                <a:sym typeface="Arial"/>
              </a:rPr>
              <a:pPr algn="r">
                <a:buSzPct val="25000"/>
              </a:pPr>
              <a:t>‹#›</a:t>
            </a:fld>
            <a:endParaRPr lang="en-US" sz="90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44342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a:t>Edit Master text styles</a:t>
            </a:r>
          </a:p>
          <a:p>
            <a:pPr lvl="1"/>
            <a:r>
              <a:rPr lang="en-US"/>
              <a:t> </a:t>
            </a:r>
          </a:p>
          <a:p>
            <a:pPr lvl="2"/>
            <a:r>
              <a:rPr lang="en-US"/>
              <a:t> </a:t>
            </a:r>
          </a:p>
          <a:p>
            <a:pPr lvl="3"/>
            <a:r>
              <a:rPr lang="en-US"/>
              <a:t> </a:t>
            </a:r>
          </a:p>
          <a:p>
            <a:pPr lvl="3"/>
            <a:endParaRPr lang="en-US"/>
          </a:p>
          <a:p>
            <a:pPr lvl="4"/>
            <a:endParaRPr lang="en-US"/>
          </a:p>
        </p:txBody>
      </p:sp>
      <p:sp>
        <p:nvSpPr>
          <p:cNvPr id="7" name="Text Placeholder 5"/>
          <p:cNvSpPr txBox="1">
            <a:spLocks/>
          </p:cNvSpPr>
          <p:nvPr userDrawn="1"/>
        </p:nvSpPr>
        <p:spPr>
          <a:xfrm>
            <a:off x="3604590" y="6490310"/>
            <a:ext cx="8069315" cy="368298"/>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a:solidFill>
                  <a:schemeClr val="tx1"/>
                </a:solidFill>
                <a:latin typeface="Verdana"/>
                <a:ea typeface="Verdana" panose="020B0604030504040204" pitchFamily="34" charset="0"/>
                <a:cs typeface="Verdana" panose="020B0604030504040204" pitchFamily="34" charset="0"/>
              </a:rPr>
              <a:t>Copyright © 2020, 2017, 2014 Pearson Education, Inc. All Rights Reserved</a:t>
            </a:r>
          </a:p>
        </p:txBody>
      </p:sp>
    </p:spTree>
    <p:extLst>
      <p:ext uri="{BB962C8B-B14F-4D97-AF65-F5344CB8AC3E}">
        <p14:creationId xmlns:p14="http://schemas.microsoft.com/office/powerpoint/2010/main" val="1119178774"/>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6804-38C2-437C-9C63-D99FCEDC7D63}"/>
              </a:ext>
            </a:extLst>
          </p:cNvPr>
          <p:cNvSpPr>
            <a:spLocks noGrp="1"/>
          </p:cNvSpPr>
          <p:nvPr>
            <p:ph type="ctrTitle"/>
          </p:nvPr>
        </p:nvSpPr>
        <p:spPr>
          <a:xfrm>
            <a:off x="1524000" y="1122363"/>
            <a:ext cx="9144000" cy="2387600"/>
          </a:xfrm>
        </p:spPr>
        <p:txBody>
          <a:bodyPr anchor="b">
            <a:normAutofit/>
          </a:bodyPr>
          <a:lstStyle>
            <a:lvl1pPr algn="ctr">
              <a:defRPr sz="4400"/>
            </a:lvl1pPr>
          </a:lstStyle>
          <a:p>
            <a:r>
              <a:rPr lang="en-US"/>
              <a:t>Click to edit Master title style</a:t>
            </a:r>
          </a:p>
        </p:txBody>
      </p:sp>
      <p:sp>
        <p:nvSpPr>
          <p:cNvPr id="3" name="Subtitle 2">
            <a:extLst>
              <a:ext uri="{FF2B5EF4-FFF2-40B4-BE49-F238E27FC236}">
                <a16:creationId xmlns:a16="http://schemas.microsoft.com/office/drawing/2014/main" id="{D317D8C1-4DE1-4001-BD53-BAB10868F443}"/>
              </a:ext>
            </a:extLst>
          </p:cNvPr>
          <p:cNvSpPr>
            <a:spLocks noGrp="1"/>
          </p:cNvSpPr>
          <p:nvPr>
            <p:ph type="subTitle" idx="1"/>
          </p:nvPr>
        </p:nvSpPr>
        <p:spPr>
          <a:xfrm>
            <a:off x="1524000" y="3602038"/>
            <a:ext cx="9144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312580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B2BAA-8A62-429C-B65D-A304207D5C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2555CC-51C1-4C10-8099-1763A160C1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07338-6BFB-47F6-8C15-97C75CE3764E}"/>
              </a:ext>
            </a:extLst>
          </p:cNvPr>
          <p:cNvSpPr>
            <a:spLocks noGrp="1"/>
          </p:cNvSpPr>
          <p:nvPr>
            <p:ph type="dt" sz="half" idx="10"/>
          </p:nvPr>
        </p:nvSpPr>
        <p:spPr>
          <a:xfrm>
            <a:off x="838200" y="6356350"/>
            <a:ext cx="2743200" cy="365125"/>
          </a:xfrm>
          <a:prstGeom prst="rect">
            <a:avLst/>
          </a:prstGeom>
        </p:spPr>
        <p:txBody>
          <a:bodyPr/>
          <a:lstStyle/>
          <a:p>
            <a:fld id="{1CCD57D2-31D9-4DE0-BFC4-728315A3B8EA}" type="datetimeFigureOut">
              <a:rPr lang="en-US" smtClean="0"/>
              <a:t>10/28/2026</a:t>
            </a:fld>
            <a:endParaRPr lang="en-US"/>
          </a:p>
        </p:txBody>
      </p:sp>
      <p:sp>
        <p:nvSpPr>
          <p:cNvPr id="5" name="Footer Placeholder 4">
            <a:extLst>
              <a:ext uri="{FF2B5EF4-FFF2-40B4-BE49-F238E27FC236}">
                <a16:creationId xmlns:a16="http://schemas.microsoft.com/office/drawing/2014/main" id="{593C35FE-2BC9-49E1-AD55-E5B9BA72563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7AC26D5-D0A7-4862-A60C-9F92A494D0FF}"/>
              </a:ext>
            </a:extLst>
          </p:cNvPr>
          <p:cNvSpPr>
            <a:spLocks noGrp="1"/>
          </p:cNvSpPr>
          <p:nvPr>
            <p:ph type="sldNum" sz="quarter" idx="12"/>
          </p:nvPr>
        </p:nvSpPr>
        <p:spPr>
          <a:xfrm>
            <a:off x="8610600" y="6356350"/>
            <a:ext cx="2743200" cy="365125"/>
          </a:xfrm>
          <a:prstGeom prst="rect">
            <a:avLst/>
          </a:prstGeom>
        </p:spPr>
        <p:txBody>
          <a:bodyPr/>
          <a:lstStyle/>
          <a:p>
            <a:fld id="{6A91AAD7-4E7A-4345-A59F-8365A72A20ED}" type="slidenum">
              <a:rPr lang="en-US" smtClean="0"/>
              <a:t>‹#›</a:t>
            </a:fld>
            <a:endParaRPr lang="en-US"/>
          </a:p>
        </p:txBody>
      </p:sp>
    </p:spTree>
    <p:extLst>
      <p:ext uri="{BB962C8B-B14F-4D97-AF65-F5344CB8AC3E}">
        <p14:creationId xmlns:p14="http://schemas.microsoft.com/office/powerpoint/2010/main" val="28832882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A4877-1156-4E6F-A72B-FA2BB7D1C715}"/>
              </a:ext>
            </a:extLst>
          </p:cNvPr>
          <p:cNvSpPr>
            <a:spLocks noGrp="1"/>
          </p:cNvSpPr>
          <p:nvPr>
            <p:ph type="title"/>
          </p:nvPr>
        </p:nvSpPr>
        <p:spPr>
          <a:xfrm>
            <a:off x="831850" y="1709738"/>
            <a:ext cx="10515600" cy="2852737"/>
          </a:xfrm>
        </p:spPr>
        <p:txBody>
          <a:bodyPr anchor="b">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99AA80EB-E425-45AD-A977-7F1A08BD6874}"/>
              </a:ext>
            </a:extLst>
          </p:cNvPr>
          <p:cNvSpPr>
            <a:spLocks noGrp="1"/>
          </p:cNvSpPr>
          <p:nvPr>
            <p:ph type="body" idx="1"/>
          </p:nvPr>
        </p:nvSpPr>
        <p:spPr>
          <a:xfrm>
            <a:off x="831850" y="4589463"/>
            <a:ext cx="10515600"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305B6F-DCFE-48B1-AFB0-258F1E8FA428}"/>
              </a:ext>
            </a:extLst>
          </p:cNvPr>
          <p:cNvSpPr>
            <a:spLocks noGrp="1"/>
          </p:cNvSpPr>
          <p:nvPr>
            <p:ph type="dt" sz="half" idx="10"/>
          </p:nvPr>
        </p:nvSpPr>
        <p:spPr>
          <a:xfrm>
            <a:off x="838200" y="6356350"/>
            <a:ext cx="2743200" cy="365125"/>
          </a:xfrm>
          <a:prstGeom prst="rect">
            <a:avLst/>
          </a:prstGeom>
        </p:spPr>
        <p:txBody>
          <a:bodyPr/>
          <a:lstStyle>
            <a:lvl1pPr>
              <a:defRPr sz="1400"/>
            </a:lvl1pPr>
          </a:lstStyle>
          <a:p>
            <a:fld id="{1CCD57D2-31D9-4DE0-BFC4-728315A3B8EA}" type="datetimeFigureOut">
              <a:rPr lang="en-US" smtClean="0"/>
              <a:pPr/>
              <a:t>10/28/2026</a:t>
            </a:fld>
            <a:endParaRPr lang="en-US"/>
          </a:p>
        </p:txBody>
      </p:sp>
      <p:sp>
        <p:nvSpPr>
          <p:cNvPr id="5" name="Footer Placeholder 4">
            <a:extLst>
              <a:ext uri="{FF2B5EF4-FFF2-40B4-BE49-F238E27FC236}">
                <a16:creationId xmlns:a16="http://schemas.microsoft.com/office/drawing/2014/main" id="{FA162573-E72D-432B-B128-9A95E559DA4C}"/>
              </a:ext>
            </a:extLst>
          </p:cNvPr>
          <p:cNvSpPr>
            <a:spLocks noGrp="1"/>
          </p:cNvSpPr>
          <p:nvPr>
            <p:ph type="ftr" sz="quarter" idx="11"/>
          </p:nvPr>
        </p:nvSpPr>
        <p:spPr>
          <a:xfrm>
            <a:off x="4038600" y="6356350"/>
            <a:ext cx="4114800" cy="365125"/>
          </a:xfrm>
          <a:prstGeom prst="rect">
            <a:avLst/>
          </a:prstGeom>
        </p:spPr>
        <p:txBody>
          <a:bodyPr/>
          <a:lstStyle>
            <a:lvl1pPr>
              <a:defRPr sz="1400"/>
            </a:lvl1pPr>
          </a:lstStyle>
          <a:p>
            <a:endParaRPr lang="en-US"/>
          </a:p>
        </p:txBody>
      </p:sp>
      <p:sp>
        <p:nvSpPr>
          <p:cNvPr id="6" name="Slide Number Placeholder 5">
            <a:extLst>
              <a:ext uri="{FF2B5EF4-FFF2-40B4-BE49-F238E27FC236}">
                <a16:creationId xmlns:a16="http://schemas.microsoft.com/office/drawing/2014/main" id="{352846A4-4C35-483B-83F8-3D31851E85AE}"/>
              </a:ext>
            </a:extLst>
          </p:cNvPr>
          <p:cNvSpPr>
            <a:spLocks noGrp="1"/>
          </p:cNvSpPr>
          <p:nvPr>
            <p:ph type="sldNum" sz="quarter" idx="12"/>
          </p:nvPr>
        </p:nvSpPr>
        <p:spPr>
          <a:xfrm>
            <a:off x="8610600" y="6356350"/>
            <a:ext cx="2743200" cy="365125"/>
          </a:xfrm>
          <a:prstGeom prst="rect">
            <a:avLst/>
          </a:prstGeom>
        </p:spPr>
        <p:txBody>
          <a:bodyPr/>
          <a:lstStyle>
            <a:lvl1pPr>
              <a:defRPr sz="1400"/>
            </a:lvl1pPr>
          </a:lstStyle>
          <a:p>
            <a:fld id="{6A91AAD7-4E7A-4345-A59F-8365A72A20ED}" type="slidenum">
              <a:rPr lang="en-US" smtClean="0"/>
              <a:pPr/>
              <a:t>‹#›</a:t>
            </a:fld>
            <a:endParaRPr lang="en-US"/>
          </a:p>
        </p:txBody>
      </p:sp>
    </p:spTree>
    <p:extLst>
      <p:ext uri="{BB962C8B-B14F-4D97-AF65-F5344CB8AC3E}">
        <p14:creationId xmlns:p14="http://schemas.microsoft.com/office/powerpoint/2010/main" val="38455482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55EF5-E11C-43CC-8DDF-7CEBC003CD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4B707-7079-45C8-AC8F-4D673F850F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3BC72D-BC92-4849-B056-50737CD8EE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128DD7-4627-4941-A963-49E7F1E5EAB9}"/>
              </a:ext>
            </a:extLst>
          </p:cNvPr>
          <p:cNvSpPr>
            <a:spLocks noGrp="1"/>
          </p:cNvSpPr>
          <p:nvPr>
            <p:ph type="dt" sz="half" idx="10"/>
          </p:nvPr>
        </p:nvSpPr>
        <p:spPr>
          <a:xfrm>
            <a:off x="838200" y="6356350"/>
            <a:ext cx="2743200" cy="365125"/>
          </a:xfrm>
          <a:prstGeom prst="rect">
            <a:avLst/>
          </a:prstGeom>
        </p:spPr>
        <p:txBody>
          <a:bodyPr/>
          <a:lstStyle/>
          <a:p>
            <a:fld id="{1CCD57D2-31D9-4DE0-BFC4-728315A3B8EA}" type="datetimeFigureOut">
              <a:rPr lang="en-US" smtClean="0"/>
              <a:t>10/28/2026</a:t>
            </a:fld>
            <a:endParaRPr lang="en-US"/>
          </a:p>
        </p:txBody>
      </p:sp>
      <p:sp>
        <p:nvSpPr>
          <p:cNvPr id="6" name="Footer Placeholder 5">
            <a:extLst>
              <a:ext uri="{FF2B5EF4-FFF2-40B4-BE49-F238E27FC236}">
                <a16:creationId xmlns:a16="http://schemas.microsoft.com/office/drawing/2014/main" id="{A6BD2432-C30E-4FDC-8CF9-47237756752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32E2342-7883-4966-AA54-AAA3B8FF758D}"/>
              </a:ext>
            </a:extLst>
          </p:cNvPr>
          <p:cNvSpPr>
            <a:spLocks noGrp="1"/>
          </p:cNvSpPr>
          <p:nvPr>
            <p:ph type="sldNum" sz="quarter" idx="12"/>
          </p:nvPr>
        </p:nvSpPr>
        <p:spPr>
          <a:xfrm>
            <a:off x="8610600" y="6356350"/>
            <a:ext cx="2743200" cy="365125"/>
          </a:xfrm>
          <a:prstGeom prst="rect">
            <a:avLst/>
          </a:prstGeom>
        </p:spPr>
        <p:txBody>
          <a:bodyPr/>
          <a:lstStyle/>
          <a:p>
            <a:fld id="{6A91AAD7-4E7A-4345-A59F-8365A72A20ED}" type="slidenum">
              <a:rPr lang="en-US" smtClean="0"/>
              <a:t>‹#›</a:t>
            </a:fld>
            <a:endParaRPr lang="en-US"/>
          </a:p>
        </p:txBody>
      </p:sp>
    </p:spTree>
    <p:extLst>
      <p:ext uri="{BB962C8B-B14F-4D97-AF65-F5344CB8AC3E}">
        <p14:creationId xmlns:p14="http://schemas.microsoft.com/office/powerpoint/2010/main" val="4861205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6BFEB-04A4-43FF-ADD8-DB4E8DDB46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B003E9-DEF1-4488-B7AB-D5BF1B4DBB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F2EF19-F24F-46F8-99B2-126D9A9491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40C394-DEC2-4034-A203-231A17E194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DD5550-4872-409A-937A-D87E3D0665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1F7BEE-F497-45EF-8CE8-BD9BAC699760}"/>
              </a:ext>
            </a:extLst>
          </p:cNvPr>
          <p:cNvSpPr>
            <a:spLocks noGrp="1"/>
          </p:cNvSpPr>
          <p:nvPr>
            <p:ph type="dt" sz="half" idx="10"/>
          </p:nvPr>
        </p:nvSpPr>
        <p:spPr>
          <a:xfrm>
            <a:off x="838200" y="6356350"/>
            <a:ext cx="2743200" cy="365125"/>
          </a:xfrm>
          <a:prstGeom prst="rect">
            <a:avLst/>
          </a:prstGeom>
        </p:spPr>
        <p:txBody>
          <a:bodyPr/>
          <a:lstStyle/>
          <a:p>
            <a:fld id="{1CCD57D2-31D9-4DE0-BFC4-728315A3B8EA}" type="datetimeFigureOut">
              <a:rPr lang="en-US" smtClean="0"/>
              <a:t>10/28/2026</a:t>
            </a:fld>
            <a:endParaRPr lang="en-US"/>
          </a:p>
        </p:txBody>
      </p:sp>
      <p:sp>
        <p:nvSpPr>
          <p:cNvPr id="8" name="Footer Placeholder 7">
            <a:extLst>
              <a:ext uri="{FF2B5EF4-FFF2-40B4-BE49-F238E27FC236}">
                <a16:creationId xmlns:a16="http://schemas.microsoft.com/office/drawing/2014/main" id="{CDEEF3E9-FFCA-4D31-9C37-43CB5E3640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7825ED0-230F-4FDB-B52B-58E8D6E724EA}"/>
              </a:ext>
            </a:extLst>
          </p:cNvPr>
          <p:cNvSpPr>
            <a:spLocks noGrp="1"/>
          </p:cNvSpPr>
          <p:nvPr>
            <p:ph type="sldNum" sz="quarter" idx="12"/>
          </p:nvPr>
        </p:nvSpPr>
        <p:spPr>
          <a:xfrm>
            <a:off x="8610600" y="6356350"/>
            <a:ext cx="2743200" cy="365125"/>
          </a:xfrm>
          <a:prstGeom prst="rect">
            <a:avLst/>
          </a:prstGeom>
        </p:spPr>
        <p:txBody>
          <a:bodyPr/>
          <a:lstStyle/>
          <a:p>
            <a:fld id="{6A91AAD7-4E7A-4345-A59F-8365A72A20ED}" type="slidenum">
              <a:rPr lang="en-US" smtClean="0"/>
              <a:t>‹#›</a:t>
            </a:fld>
            <a:endParaRPr lang="en-US"/>
          </a:p>
        </p:txBody>
      </p:sp>
    </p:spTree>
    <p:extLst>
      <p:ext uri="{BB962C8B-B14F-4D97-AF65-F5344CB8AC3E}">
        <p14:creationId xmlns:p14="http://schemas.microsoft.com/office/powerpoint/2010/main" val="11397637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D6C60-D76F-4C28-97D9-5D6CA8AC24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C7151F-B4B8-4F19-AE48-325C85DAAC91}"/>
              </a:ext>
            </a:extLst>
          </p:cNvPr>
          <p:cNvSpPr>
            <a:spLocks noGrp="1"/>
          </p:cNvSpPr>
          <p:nvPr>
            <p:ph type="dt" sz="half" idx="10"/>
          </p:nvPr>
        </p:nvSpPr>
        <p:spPr>
          <a:xfrm>
            <a:off x="838200" y="6356350"/>
            <a:ext cx="2743200" cy="365125"/>
          </a:xfrm>
          <a:prstGeom prst="rect">
            <a:avLst/>
          </a:prstGeom>
        </p:spPr>
        <p:txBody>
          <a:bodyPr/>
          <a:lstStyle/>
          <a:p>
            <a:fld id="{1CCD57D2-31D9-4DE0-BFC4-728315A3B8EA}" type="datetimeFigureOut">
              <a:rPr lang="en-US" smtClean="0"/>
              <a:t>10/28/2026</a:t>
            </a:fld>
            <a:endParaRPr lang="en-US"/>
          </a:p>
        </p:txBody>
      </p:sp>
      <p:sp>
        <p:nvSpPr>
          <p:cNvPr id="4" name="Footer Placeholder 3">
            <a:extLst>
              <a:ext uri="{FF2B5EF4-FFF2-40B4-BE49-F238E27FC236}">
                <a16:creationId xmlns:a16="http://schemas.microsoft.com/office/drawing/2014/main" id="{2A2A30D6-2EC4-4A1A-9CC9-94E0EA5E95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7CDAD74E-5FDC-407D-9FB3-FC0C760D416B}"/>
              </a:ext>
            </a:extLst>
          </p:cNvPr>
          <p:cNvSpPr>
            <a:spLocks noGrp="1"/>
          </p:cNvSpPr>
          <p:nvPr>
            <p:ph type="sldNum" sz="quarter" idx="12"/>
          </p:nvPr>
        </p:nvSpPr>
        <p:spPr>
          <a:xfrm>
            <a:off x="8610600" y="6356350"/>
            <a:ext cx="2743200" cy="365125"/>
          </a:xfrm>
          <a:prstGeom prst="rect">
            <a:avLst/>
          </a:prstGeom>
        </p:spPr>
        <p:txBody>
          <a:bodyPr/>
          <a:lstStyle/>
          <a:p>
            <a:fld id="{6A91AAD7-4E7A-4345-A59F-8365A72A20ED}" type="slidenum">
              <a:rPr lang="en-US" smtClean="0"/>
              <a:t>‹#›</a:t>
            </a:fld>
            <a:endParaRPr lang="en-US"/>
          </a:p>
        </p:txBody>
      </p:sp>
    </p:spTree>
    <p:extLst>
      <p:ext uri="{BB962C8B-B14F-4D97-AF65-F5344CB8AC3E}">
        <p14:creationId xmlns:p14="http://schemas.microsoft.com/office/powerpoint/2010/main" val="6052124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849469-EED6-4D8A-A806-A8BBC15C7E09}"/>
              </a:ext>
            </a:extLst>
          </p:cNvPr>
          <p:cNvSpPr>
            <a:spLocks noGrp="1"/>
          </p:cNvSpPr>
          <p:nvPr>
            <p:ph type="dt" sz="half" idx="10"/>
          </p:nvPr>
        </p:nvSpPr>
        <p:spPr>
          <a:xfrm>
            <a:off x="838200" y="6356350"/>
            <a:ext cx="2743200" cy="365125"/>
          </a:xfrm>
          <a:prstGeom prst="rect">
            <a:avLst/>
          </a:prstGeom>
        </p:spPr>
        <p:txBody>
          <a:bodyPr/>
          <a:lstStyle/>
          <a:p>
            <a:fld id="{1CCD57D2-31D9-4DE0-BFC4-728315A3B8EA}" type="datetimeFigureOut">
              <a:rPr lang="en-US" smtClean="0"/>
              <a:t>10/28/2026</a:t>
            </a:fld>
            <a:endParaRPr lang="en-US"/>
          </a:p>
        </p:txBody>
      </p:sp>
      <p:sp>
        <p:nvSpPr>
          <p:cNvPr id="3" name="Footer Placeholder 2">
            <a:extLst>
              <a:ext uri="{FF2B5EF4-FFF2-40B4-BE49-F238E27FC236}">
                <a16:creationId xmlns:a16="http://schemas.microsoft.com/office/drawing/2014/main" id="{D69871FE-D8B7-45B2-8AF0-9749FF1DB97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7FC0F02-7356-4B2F-92FF-12C5B2D6283C}"/>
              </a:ext>
            </a:extLst>
          </p:cNvPr>
          <p:cNvSpPr>
            <a:spLocks noGrp="1"/>
          </p:cNvSpPr>
          <p:nvPr>
            <p:ph type="sldNum" sz="quarter" idx="12"/>
          </p:nvPr>
        </p:nvSpPr>
        <p:spPr>
          <a:xfrm>
            <a:off x="8610600" y="6356350"/>
            <a:ext cx="2743200" cy="365125"/>
          </a:xfrm>
          <a:prstGeom prst="rect">
            <a:avLst/>
          </a:prstGeom>
        </p:spPr>
        <p:txBody>
          <a:bodyPr/>
          <a:lstStyle/>
          <a:p>
            <a:fld id="{6A91AAD7-4E7A-4345-A59F-8365A72A20ED}" type="slidenum">
              <a:rPr lang="en-US" smtClean="0"/>
              <a:t>‹#›</a:t>
            </a:fld>
            <a:endParaRPr lang="en-US"/>
          </a:p>
        </p:txBody>
      </p:sp>
    </p:spTree>
    <p:extLst>
      <p:ext uri="{BB962C8B-B14F-4D97-AF65-F5344CB8AC3E}">
        <p14:creationId xmlns:p14="http://schemas.microsoft.com/office/powerpoint/2010/main" val="39627008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B952-4D81-478A-A300-4F3EEDE85B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000614-411B-43AA-A102-6DF9901F06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09BC97-BACA-4088-B766-1C77236E9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5E5B91-5EDF-43A5-88D8-7D14C7E73F51}"/>
              </a:ext>
            </a:extLst>
          </p:cNvPr>
          <p:cNvSpPr>
            <a:spLocks noGrp="1"/>
          </p:cNvSpPr>
          <p:nvPr>
            <p:ph type="dt" sz="half" idx="10"/>
          </p:nvPr>
        </p:nvSpPr>
        <p:spPr>
          <a:xfrm>
            <a:off x="838200" y="6356350"/>
            <a:ext cx="2743200" cy="365125"/>
          </a:xfrm>
          <a:prstGeom prst="rect">
            <a:avLst/>
          </a:prstGeom>
        </p:spPr>
        <p:txBody>
          <a:bodyPr/>
          <a:lstStyle/>
          <a:p>
            <a:fld id="{1CCD57D2-31D9-4DE0-BFC4-728315A3B8EA}" type="datetimeFigureOut">
              <a:rPr lang="en-US" smtClean="0"/>
              <a:t>10/28/2026</a:t>
            </a:fld>
            <a:endParaRPr lang="en-US"/>
          </a:p>
        </p:txBody>
      </p:sp>
      <p:sp>
        <p:nvSpPr>
          <p:cNvPr id="6" name="Footer Placeholder 5">
            <a:extLst>
              <a:ext uri="{FF2B5EF4-FFF2-40B4-BE49-F238E27FC236}">
                <a16:creationId xmlns:a16="http://schemas.microsoft.com/office/drawing/2014/main" id="{5CE37E8D-A936-4D25-BB78-8E623CAB689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51730CA-F69E-488C-B2C1-67D8E8868863}"/>
              </a:ext>
            </a:extLst>
          </p:cNvPr>
          <p:cNvSpPr>
            <a:spLocks noGrp="1"/>
          </p:cNvSpPr>
          <p:nvPr>
            <p:ph type="sldNum" sz="quarter" idx="12"/>
          </p:nvPr>
        </p:nvSpPr>
        <p:spPr>
          <a:xfrm>
            <a:off x="8610600" y="6356350"/>
            <a:ext cx="2743200" cy="365125"/>
          </a:xfrm>
          <a:prstGeom prst="rect">
            <a:avLst/>
          </a:prstGeom>
        </p:spPr>
        <p:txBody>
          <a:bodyPr/>
          <a:lstStyle/>
          <a:p>
            <a:fld id="{6A91AAD7-4E7A-4345-A59F-8365A72A20ED}" type="slidenum">
              <a:rPr lang="en-US" smtClean="0"/>
              <a:t>‹#›</a:t>
            </a:fld>
            <a:endParaRPr lang="en-US"/>
          </a:p>
        </p:txBody>
      </p:sp>
    </p:spTree>
    <p:extLst>
      <p:ext uri="{BB962C8B-B14F-4D97-AF65-F5344CB8AC3E}">
        <p14:creationId xmlns:p14="http://schemas.microsoft.com/office/powerpoint/2010/main" val="3303565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B1592-BF55-4A50-B1A9-1E54B052E8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FEEE3E-F369-4048-8D8D-E77677485E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ECEFC9C-9266-43A0-B645-4E4E5CE93E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BB3A50-D188-45F0-A1CB-A85BA0D19A91}"/>
              </a:ext>
            </a:extLst>
          </p:cNvPr>
          <p:cNvSpPr>
            <a:spLocks noGrp="1"/>
          </p:cNvSpPr>
          <p:nvPr>
            <p:ph type="dt" sz="half" idx="10"/>
          </p:nvPr>
        </p:nvSpPr>
        <p:spPr>
          <a:xfrm>
            <a:off x="838200" y="6356350"/>
            <a:ext cx="2743200" cy="365125"/>
          </a:xfrm>
          <a:prstGeom prst="rect">
            <a:avLst/>
          </a:prstGeom>
        </p:spPr>
        <p:txBody>
          <a:bodyPr/>
          <a:lstStyle/>
          <a:p>
            <a:fld id="{1CCD57D2-31D9-4DE0-BFC4-728315A3B8EA}" type="datetimeFigureOut">
              <a:rPr lang="en-US" smtClean="0"/>
              <a:t>10/28/2026</a:t>
            </a:fld>
            <a:endParaRPr lang="en-US"/>
          </a:p>
        </p:txBody>
      </p:sp>
      <p:sp>
        <p:nvSpPr>
          <p:cNvPr id="6" name="Footer Placeholder 5">
            <a:extLst>
              <a:ext uri="{FF2B5EF4-FFF2-40B4-BE49-F238E27FC236}">
                <a16:creationId xmlns:a16="http://schemas.microsoft.com/office/drawing/2014/main" id="{6A411802-E3C3-40E1-8018-01CAD502E7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2934421-8918-4FE6-A19B-175F4BA2698F}"/>
              </a:ext>
            </a:extLst>
          </p:cNvPr>
          <p:cNvSpPr>
            <a:spLocks noGrp="1"/>
          </p:cNvSpPr>
          <p:nvPr>
            <p:ph type="sldNum" sz="quarter" idx="12"/>
          </p:nvPr>
        </p:nvSpPr>
        <p:spPr>
          <a:xfrm>
            <a:off x="8610600" y="6356350"/>
            <a:ext cx="2743200" cy="365125"/>
          </a:xfrm>
          <a:prstGeom prst="rect">
            <a:avLst/>
          </a:prstGeom>
        </p:spPr>
        <p:txBody>
          <a:bodyPr/>
          <a:lstStyle/>
          <a:p>
            <a:fld id="{6A91AAD7-4E7A-4345-A59F-8365A72A20ED}" type="slidenum">
              <a:rPr lang="en-US" smtClean="0"/>
              <a:t>‹#›</a:t>
            </a:fld>
            <a:endParaRPr lang="en-US"/>
          </a:p>
        </p:txBody>
      </p:sp>
    </p:spTree>
    <p:extLst>
      <p:ext uri="{BB962C8B-B14F-4D97-AF65-F5344CB8AC3E}">
        <p14:creationId xmlns:p14="http://schemas.microsoft.com/office/powerpoint/2010/main" val="27999612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75A18-7028-4446-BE5C-07EAABA974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47F7E5-BD80-4BDA-A43F-4EB5D35BCD63}"/>
              </a:ext>
            </a:extLst>
          </p:cNvPr>
          <p:cNvSpPr>
            <a:spLocks noGrp="1"/>
          </p:cNvSpPr>
          <p:nvPr>
            <p:ph type="dt" sz="half" idx="10"/>
          </p:nvPr>
        </p:nvSpPr>
        <p:spPr>
          <a:xfrm>
            <a:off x="838200" y="6356350"/>
            <a:ext cx="2743200" cy="365125"/>
          </a:xfrm>
          <a:prstGeom prst="rect">
            <a:avLst/>
          </a:prstGeom>
        </p:spPr>
        <p:txBody>
          <a:bodyPr/>
          <a:lstStyle/>
          <a:p>
            <a:fld id="{1CCD57D2-31D9-4DE0-BFC4-728315A3B8EA}" type="datetimeFigureOut">
              <a:rPr lang="en-US" smtClean="0"/>
              <a:t>10/28/2026</a:t>
            </a:fld>
            <a:endParaRPr lang="en-US"/>
          </a:p>
        </p:txBody>
      </p:sp>
      <p:sp>
        <p:nvSpPr>
          <p:cNvPr id="4" name="Footer Placeholder 3">
            <a:extLst>
              <a:ext uri="{FF2B5EF4-FFF2-40B4-BE49-F238E27FC236}">
                <a16:creationId xmlns:a16="http://schemas.microsoft.com/office/drawing/2014/main" id="{3DE6AB28-F898-4BA9-8555-A8A62709D9B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D792849-4BBC-4220-A33D-97BC13015EFE}"/>
              </a:ext>
            </a:extLst>
          </p:cNvPr>
          <p:cNvSpPr>
            <a:spLocks noGrp="1"/>
          </p:cNvSpPr>
          <p:nvPr>
            <p:ph type="sldNum" sz="quarter" idx="12"/>
          </p:nvPr>
        </p:nvSpPr>
        <p:spPr>
          <a:xfrm>
            <a:off x="8610600" y="6356350"/>
            <a:ext cx="2743200" cy="365125"/>
          </a:xfrm>
          <a:prstGeom prst="rect">
            <a:avLst/>
          </a:prstGeom>
        </p:spPr>
        <p:txBody>
          <a:bodyPr/>
          <a:lstStyle/>
          <a:p>
            <a:fld id="{6A91AAD7-4E7A-4345-A59F-8365A72A20ED}" type="slidenum">
              <a:rPr lang="en-US" smtClean="0"/>
              <a:t>‹#›</a:t>
            </a:fld>
            <a:endParaRPr lang="en-US"/>
          </a:p>
        </p:txBody>
      </p:sp>
      <p:sp>
        <p:nvSpPr>
          <p:cNvPr id="7" name="Media Placeholder 6">
            <a:extLst>
              <a:ext uri="{FF2B5EF4-FFF2-40B4-BE49-F238E27FC236}">
                <a16:creationId xmlns:a16="http://schemas.microsoft.com/office/drawing/2014/main" id="{E7DCD624-9B6F-4D05-A6B6-164D2A582422}"/>
              </a:ext>
            </a:extLst>
          </p:cNvPr>
          <p:cNvSpPr>
            <a:spLocks noGrp="1"/>
          </p:cNvSpPr>
          <p:nvPr>
            <p:ph type="media" sz="quarter" idx="13"/>
          </p:nvPr>
        </p:nvSpPr>
        <p:spPr>
          <a:xfrm>
            <a:off x="838200" y="1828800"/>
            <a:ext cx="10515600" cy="4108450"/>
          </a:xfrm>
        </p:spPr>
        <p:txBody>
          <a:bodyPr/>
          <a:lstStyle/>
          <a:p>
            <a:r>
              <a:rPr lang="en-US"/>
              <a:t>Click icon to add media</a:t>
            </a:r>
          </a:p>
        </p:txBody>
      </p:sp>
    </p:spTree>
    <p:extLst>
      <p:ext uri="{BB962C8B-B14F-4D97-AF65-F5344CB8AC3E}">
        <p14:creationId xmlns:p14="http://schemas.microsoft.com/office/powerpoint/2010/main" val="42404800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and On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ea typeface="Arial"/>
                <a:cs typeface="Arial"/>
                <a:sym typeface="Arial"/>
              </a:rPr>
              <a:pPr algn="r">
                <a:buSzPct val="25000"/>
              </a:pPr>
              <a:t>‹#›</a:t>
            </a:fld>
            <a:endParaRPr lang="en-US" sz="90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4434275"/>
          </a:xfrm>
        </p:spPr>
        <p:txBody>
          <a:bodyPr lIns="0" tIns="0" rIns="0" bIns="0"/>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a:t>Edit Master text styles</a:t>
            </a:r>
          </a:p>
          <a:p>
            <a:pPr lvl="1"/>
            <a:r>
              <a:rPr lang="en-US"/>
              <a:t> </a:t>
            </a:r>
          </a:p>
          <a:p>
            <a:pPr lvl="2"/>
            <a:r>
              <a:rPr lang="en-US"/>
              <a:t> </a:t>
            </a:r>
          </a:p>
          <a:p>
            <a:pPr lvl="3"/>
            <a:r>
              <a:rPr lang="en-US"/>
              <a:t> </a:t>
            </a:r>
          </a:p>
          <a:p>
            <a:pPr lvl="3"/>
            <a:endParaRPr lang="en-US"/>
          </a:p>
          <a:p>
            <a:pPr lvl="4"/>
            <a:endParaRPr lang="en-US"/>
          </a:p>
        </p:txBody>
      </p:sp>
      <p:sp>
        <p:nvSpPr>
          <p:cNvPr id="7" name="Text Placeholder 5"/>
          <p:cNvSpPr txBox="1">
            <a:spLocks/>
          </p:cNvSpPr>
          <p:nvPr userDrawn="1"/>
        </p:nvSpPr>
        <p:spPr>
          <a:xfrm>
            <a:off x="3604590" y="6490310"/>
            <a:ext cx="8069315" cy="368298"/>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a:solidFill>
                  <a:schemeClr val="tx1"/>
                </a:solidFill>
                <a:latin typeface="Verdana"/>
                <a:ea typeface="Verdana" panose="020B0604030504040204" pitchFamily="34" charset="0"/>
                <a:cs typeface="Verdana" panose="020B0604030504040204" pitchFamily="34" charset="0"/>
              </a:rPr>
              <a:t>Copyright © 2020, 2017, 2014 Pearson Education, Inc. All Rights Reserved</a:t>
            </a:r>
          </a:p>
        </p:txBody>
      </p:sp>
    </p:spTree>
    <p:extLst>
      <p:ext uri="{BB962C8B-B14F-4D97-AF65-F5344CB8AC3E}">
        <p14:creationId xmlns:p14="http://schemas.microsoft.com/office/powerpoint/2010/main" val="1613707715"/>
      </p:ext>
    </p:extLst>
  </p:cSld>
  <p:clrMapOvr>
    <a:masterClrMapping/>
  </p:clrMapOvr>
  <p:extLst>
    <p:ext uri="{DCECCB84-F9BA-43D5-87BE-67443E8EF086}">
      <p15:sldGuideLst xmlns:p15="http://schemas.microsoft.com/office/powerpoint/2012/main">
        <p15:guide id="2" pos="28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and Five Content">
    <p:spTree>
      <p:nvGrpSpPr>
        <p:cNvPr id="1" name="Shape 30"/>
        <p:cNvGrpSpPr/>
        <p:nvPr/>
      </p:nvGrpSpPr>
      <p:grpSpPr>
        <a:xfrm>
          <a:off x="0" y="0"/>
          <a:ext cx="0" cy="0"/>
          <a:chOff x="0" y="0"/>
          <a:chExt cx="0" cy="0"/>
        </a:xfrm>
      </p:grpSpPr>
      <p:sp>
        <p:nvSpPr>
          <p:cNvPr id="31" name="Title"/>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ea typeface="Arial"/>
                <a:cs typeface="Arial"/>
                <a:sym typeface="Arial"/>
              </a:rPr>
              <a:pPr algn="r">
                <a:buSzPct val="25000"/>
              </a:pPr>
              <a:t>‹#›</a:t>
            </a:fld>
            <a:endParaRPr lang="en-US" sz="90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8"/>
            <a:ext cx="10972800" cy="708308"/>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a:t>Edit Master text styles</a:t>
            </a:r>
          </a:p>
          <a:p>
            <a:pPr lvl="1"/>
            <a:r>
              <a:rPr lang="en-US"/>
              <a:t> </a:t>
            </a:r>
          </a:p>
          <a:p>
            <a:pPr lvl="2"/>
            <a:r>
              <a:rPr lang="en-US"/>
              <a:t> </a:t>
            </a:r>
          </a:p>
          <a:p>
            <a:pPr lvl="3"/>
            <a:r>
              <a:rPr lang="en-US"/>
              <a:t> </a:t>
            </a:r>
          </a:p>
          <a:p>
            <a:pPr lvl="3"/>
            <a:endParaRPr lang="en-US"/>
          </a:p>
          <a:p>
            <a:pPr lvl="4"/>
            <a:endParaRPr lang="en-US"/>
          </a:p>
        </p:txBody>
      </p:sp>
      <p:sp>
        <p:nvSpPr>
          <p:cNvPr id="3" name="Content Placeholder 2"/>
          <p:cNvSpPr>
            <a:spLocks noGrp="1"/>
          </p:cNvSpPr>
          <p:nvPr>
            <p:ph sz="quarter" idx="14"/>
          </p:nvPr>
        </p:nvSpPr>
        <p:spPr>
          <a:xfrm>
            <a:off x="609600" y="2451378"/>
            <a:ext cx="10972800" cy="735437"/>
          </a:xfrm>
        </p:spPr>
        <p:txBody>
          <a:bodyPr lIns="0" tIns="0" rIns="0" bIns="0"/>
          <a:lstStyle>
            <a:lvl1pPr indent="-255600">
              <a:defRPr sz="2400">
                <a:latin typeface="+mn-lt"/>
              </a:defRPr>
            </a:lvl1pPr>
            <a:lvl2pPr indent="-230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15"/>
          </p:nvPr>
        </p:nvSpPr>
        <p:spPr>
          <a:xfrm>
            <a:off x="609600" y="3486685"/>
            <a:ext cx="10972800" cy="716830"/>
          </a:xfrm>
        </p:spPr>
        <p:txBody>
          <a:bodyPr lIns="0" tIns="0" rIns="0" bIns="0"/>
          <a:lstStyle>
            <a:lvl1pPr indent="-255600">
              <a:defRPr sz="2400">
                <a:latin typeface="+mn-lt"/>
              </a:defRPr>
            </a:lvl1pPr>
            <a:lvl2pPr indent="-2556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Content Placeholder 5"/>
          <p:cNvSpPr>
            <a:spLocks noGrp="1"/>
          </p:cNvSpPr>
          <p:nvPr>
            <p:ph sz="quarter" idx="16"/>
          </p:nvPr>
        </p:nvSpPr>
        <p:spPr>
          <a:xfrm>
            <a:off x="609601" y="4503386"/>
            <a:ext cx="10977033" cy="71682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a:solidFill>
                  <a:schemeClr val="dk1"/>
                </a:solidFill>
                <a:latin typeface="+mn-lt"/>
                <a:ea typeface="Arial"/>
                <a:cs typeface="Arial"/>
                <a:sym typeface="Aria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Content Placeholder 6"/>
          <p:cNvSpPr>
            <a:spLocks noGrp="1"/>
          </p:cNvSpPr>
          <p:nvPr>
            <p:ph sz="quarter" idx="17"/>
          </p:nvPr>
        </p:nvSpPr>
        <p:spPr>
          <a:xfrm>
            <a:off x="609600" y="5494339"/>
            <a:ext cx="10972800" cy="5556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ext Placeholder 5"/>
          <p:cNvSpPr txBox="1">
            <a:spLocks/>
          </p:cNvSpPr>
          <p:nvPr userDrawn="1"/>
        </p:nvSpPr>
        <p:spPr>
          <a:xfrm>
            <a:off x="3604590" y="6490310"/>
            <a:ext cx="8069315" cy="368298"/>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a:solidFill>
                  <a:schemeClr val="tx1"/>
                </a:solidFill>
                <a:latin typeface="Verdana"/>
                <a:ea typeface="Verdana" panose="020B0604030504040204" pitchFamily="34" charset="0"/>
                <a:cs typeface="Verdana" panose="020B0604030504040204" pitchFamily="34" charset="0"/>
              </a:rPr>
              <a:t>Copyright © 2020, 2017, 2014 Pearson Education, Inc. All Rights Reserved</a:t>
            </a:r>
          </a:p>
        </p:txBody>
      </p:sp>
    </p:spTree>
    <p:extLst>
      <p:ext uri="{BB962C8B-B14F-4D97-AF65-F5344CB8AC3E}">
        <p14:creationId xmlns:p14="http://schemas.microsoft.com/office/powerpoint/2010/main" val="266206544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129054"/>
            <a:ext cx="10363200" cy="854219"/>
          </a:xfrm>
        </p:spPr>
        <p:txBody>
          <a:bodyPr anchor="b">
            <a:normAutofit/>
          </a:bodyPr>
          <a:lstStyle>
            <a:lvl1pPr algn="ctr">
              <a:defRPr sz="4400"/>
            </a:lvl1pPr>
          </a:lstStyle>
          <a:p>
            <a:r>
              <a:rPr lang="en-US" dirty="0"/>
              <a:t>Click to edit Master title style</a:t>
            </a:r>
          </a:p>
        </p:txBody>
      </p:sp>
      <p:sp>
        <p:nvSpPr>
          <p:cNvPr id="3" name="Subtitle 2"/>
          <p:cNvSpPr>
            <a:spLocks noGrp="1"/>
          </p:cNvSpPr>
          <p:nvPr>
            <p:ph type="subTitle" idx="1"/>
          </p:nvPr>
        </p:nvSpPr>
        <p:spPr>
          <a:xfrm>
            <a:off x="1524000" y="3628376"/>
            <a:ext cx="9144000" cy="1655762"/>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lvl1pPr>
              <a:defRPr sz="1400"/>
            </a:lvl1pPr>
          </a:lstStyle>
          <a:p>
            <a:fld id="{6277ACEB-9A4F-47B9-8A89-44C0CB4E8D33}" type="datetimeFigureOut">
              <a:rPr lang="en-US" smtClean="0"/>
              <a:pPr/>
              <a:t>10/28/2026</a:t>
            </a:fld>
            <a:endParaRPr lang="en-US" dirty="0"/>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lvl1pPr>
              <a:defRPr sz="1400"/>
            </a:lvl1pPr>
          </a:lstStyle>
          <a:p>
            <a:endParaRPr lang="en-US" dirty="0"/>
          </a:p>
        </p:txBody>
      </p:sp>
      <p:sp>
        <p:nvSpPr>
          <p:cNvPr id="6" name="Slide Number Placeholder 5"/>
          <p:cNvSpPr>
            <a:spLocks noGrp="1"/>
          </p:cNvSpPr>
          <p:nvPr>
            <p:ph type="sldNum" sz="quarter" idx="12"/>
          </p:nvPr>
        </p:nvSpPr>
        <p:spPr/>
        <p:txBody>
          <a:bodyPr/>
          <a:lstStyle>
            <a:lvl1pPr>
              <a:defRPr sz="1400"/>
            </a:lvl1pPr>
          </a:lstStyle>
          <a:p>
            <a:fld id="{66B3DD52-7454-44FB-86E4-8174EE2766F3}" type="slidenum">
              <a:rPr lang="en-US" smtClean="0"/>
              <a:pPr/>
              <a:t>‹#›</a:t>
            </a:fld>
            <a:endParaRPr lang="en-US" dirty="0"/>
          </a:p>
        </p:txBody>
      </p:sp>
    </p:spTree>
    <p:extLst>
      <p:ext uri="{BB962C8B-B14F-4D97-AF65-F5344CB8AC3E}">
        <p14:creationId xmlns:p14="http://schemas.microsoft.com/office/powerpoint/2010/main" val="33785480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6277ACEB-9A4F-47B9-8A89-44C0CB4E8D33}" type="datetimeFigureOut">
              <a:rPr lang="en-US" smtClean="0"/>
              <a:t>10/28/2026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6B3DD52-7454-44FB-86E4-8174EE2766F3}" type="slidenum">
              <a:rPr lang="en-US" smtClean="0"/>
              <a:t>‹#›</a:t>
            </a:fld>
            <a:endParaRPr lang="en-US"/>
          </a:p>
        </p:txBody>
      </p:sp>
    </p:spTree>
    <p:extLst>
      <p:ext uri="{BB962C8B-B14F-4D97-AF65-F5344CB8AC3E}">
        <p14:creationId xmlns:p14="http://schemas.microsoft.com/office/powerpoint/2010/main" val="21647712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sz="44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6" name="Slide Number Placeholder 5"/>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26671083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7" name="Slide Number Placeholder 6"/>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255313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9" name="Slide Number Placeholder 8"/>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12243000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5" name="Slide Number Placeholder 4"/>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32928907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4" name="Slide Number Placeholder 3"/>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22516955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7" name="Slide Number Placeholder 6"/>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13520075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7" name="Slide Number Placeholder 6"/>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5396663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6" name="Slide Number Placeholder 5"/>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32422905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6" name="Slide Number Placeholder 5"/>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34188209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129054"/>
            <a:ext cx="10363200" cy="854219"/>
          </a:xfrm>
        </p:spPr>
        <p:txBody>
          <a:bodyPr anchor="b">
            <a:norm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524000" y="3628376"/>
            <a:ext cx="9144000" cy="1655762"/>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lvl1pPr>
              <a:defRPr sz="1400"/>
            </a:lvl1pPr>
          </a:lstStyle>
          <a:p>
            <a:fld id="{6277ACEB-9A4F-47B9-8A89-44C0CB4E8D33}" type="datetimeFigureOut">
              <a:rPr lang="en-US" smtClean="0"/>
              <a:pPr/>
              <a:t>10/28/2026</a:t>
            </a:fld>
            <a:endParaRPr lang="en-US" dirty="0"/>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lvl1pPr>
              <a:defRPr sz="1400"/>
            </a:lvl1pPr>
          </a:lstStyle>
          <a:p>
            <a:endParaRPr lang="en-US" dirty="0"/>
          </a:p>
        </p:txBody>
      </p:sp>
      <p:sp>
        <p:nvSpPr>
          <p:cNvPr id="6" name="Slide Number Placeholder 5"/>
          <p:cNvSpPr>
            <a:spLocks noGrp="1"/>
          </p:cNvSpPr>
          <p:nvPr>
            <p:ph type="sldNum" sz="quarter" idx="12"/>
          </p:nvPr>
        </p:nvSpPr>
        <p:spPr/>
        <p:txBody>
          <a:bodyPr/>
          <a:lstStyle>
            <a:lvl1pPr>
              <a:defRPr sz="1400"/>
            </a:lvl1pPr>
          </a:lstStyle>
          <a:p>
            <a:fld id="{66B3DD52-7454-44FB-86E4-8174EE2766F3}" type="slidenum">
              <a:rPr lang="en-US" smtClean="0"/>
              <a:pPr/>
              <a:t>‹#›</a:t>
            </a:fld>
            <a:endParaRPr lang="en-US" dirty="0"/>
          </a:p>
        </p:txBody>
      </p:sp>
    </p:spTree>
    <p:extLst>
      <p:ext uri="{BB962C8B-B14F-4D97-AF65-F5344CB8AC3E}">
        <p14:creationId xmlns:p14="http://schemas.microsoft.com/office/powerpoint/2010/main" val="39530034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6277ACEB-9A4F-47B9-8A89-44C0CB4E8D33}" type="datetimeFigureOut">
              <a:rPr lang="en-US" smtClean="0"/>
              <a:t>10/28/2026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66B3DD52-7454-44FB-86E4-8174EE2766F3}" type="slidenum">
              <a:rPr lang="en-US" smtClean="0"/>
              <a:t>‹#›</a:t>
            </a:fld>
            <a:endParaRPr lang="en-US"/>
          </a:p>
        </p:txBody>
      </p:sp>
    </p:spTree>
    <p:extLst>
      <p:ext uri="{BB962C8B-B14F-4D97-AF65-F5344CB8AC3E}">
        <p14:creationId xmlns:p14="http://schemas.microsoft.com/office/powerpoint/2010/main" val="27283436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6" name="Slide Number Placeholder 5"/>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6871987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7" name="Slide Number Placeholder 6"/>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28187466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9" name="Slide Number Placeholder 8"/>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785588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5" name="Slide Number Placeholder 4"/>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17698807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4" name="Slide Number Placeholder 3"/>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11797896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7" name="Slide Number Placeholder 6"/>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6122109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7" name="Slide Number Placeholder 6"/>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3978470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6" name="Slide Number Placeholder 5"/>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366210473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lvl1pPr>
              <a:defRPr lang="en-US" sz="1400" smtClean="0"/>
            </a:lvl1pPr>
          </a:lstStyle>
          <a:p>
            <a:fld id="{6277ACEB-9A4F-47B9-8A89-44C0CB4E8D33}" type="datetimeFigureOut">
              <a:rPr lang="en-US" smtClean="0"/>
              <a:pPr/>
              <a:t>10/28/2026</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lvl1pPr>
              <a:defRPr lang="en-US" sz="1400"/>
            </a:lvl1pPr>
          </a:lstStyle>
          <a:p>
            <a:endParaRPr lang="en-US"/>
          </a:p>
        </p:txBody>
      </p:sp>
      <p:sp>
        <p:nvSpPr>
          <p:cNvPr id="6" name="Slide Number Placeholder 5"/>
          <p:cNvSpPr>
            <a:spLocks noGrp="1"/>
          </p:cNvSpPr>
          <p:nvPr>
            <p:ph type="sldNum" sz="quarter" idx="12"/>
          </p:nvPr>
        </p:nvSpPr>
        <p:spPr/>
        <p:txBody>
          <a:bodyPr/>
          <a:lstStyle>
            <a:lvl1pPr>
              <a:defRPr lang="en-US" sz="1400" smtClean="0">
                <a:solidFill>
                  <a:schemeClr val="tx1"/>
                </a:solidFill>
              </a:defRPr>
            </a:lvl1pPr>
          </a:lstStyle>
          <a:p>
            <a:pPr algn="l"/>
            <a:fld id="{66B3DD52-7454-44FB-86E4-8174EE2766F3}" type="slidenum">
              <a:rPr lang="en-US" smtClean="0"/>
              <a:pPr algn="l"/>
              <a:t>‹#›</a:t>
            </a:fld>
            <a:endParaRPr lang="en-US"/>
          </a:p>
        </p:txBody>
      </p:sp>
    </p:spTree>
    <p:extLst>
      <p:ext uri="{BB962C8B-B14F-4D97-AF65-F5344CB8AC3E}">
        <p14:creationId xmlns:p14="http://schemas.microsoft.com/office/powerpoint/2010/main" val="921388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theme" Target="../theme/theme5.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15D858-8470-A60D-0982-53A83D197C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BFAB38-BCE1-A4D6-A128-860102ACAD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05193-4BFB-94CC-D28A-19A7515369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474FDB-E4A8-4519-B4E4-92A968FF6909}" type="datetimeFigureOut">
              <a:rPr lang="en-US" smtClean="0"/>
              <a:t>10/28/2026</a:t>
            </a:fld>
            <a:endParaRPr lang="en-US"/>
          </a:p>
        </p:txBody>
      </p:sp>
      <p:sp>
        <p:nvSpPr>
          <p:cNvPr id="5" name="Footer Placeholder 4">
            <a:extLst>
              <a:ext uri="{FF2B5EF4-FFF2-40B4-BE49-F238E27FC236}">
                <a16:creationId xmlns:a16="http://schemas.microsoft.com/office/drawing/2014/main" id="{ECD00F97-9343-DA3D-5166-F3D7DFC024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E6FECF7-82B6-7744-4BFA-DFBAAD1979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6BA19A-867D-4089-B66F-7307AD6E9576}" type="slidenum">
              <a:rPr lang="en-US" smtClean="0"/>
              <a:t>‹#›</a:t>
            </a:fld>
            <a:endParaRPr lang="en-US"/>
          </a:p>
        </p:txBody>
      </p:sp>
    </p:spTree>
    <p:extLst>
      <p:ext uri="{BB962C8B-B14F-4D97-AF65-F5344CB8AC3E}">
        <p14:creationId xmlns:p14="http://schemas.microsoft.com/office/powerpoint/2010/main" val="3389121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4052" tIns="47026" rIns="94052" bIns="47026" rtlCol="0" anchor="ctr"/>
          <a:lstStyle/>
          <a:p>
            <a:pPr algn="ctr" defTabSz="940523"/>
            <a:endParaRPr lang="en-US" sz="1856">
              <a:solidFill>
                <a:prstClr val="white"/>
              </a:solidFill>
            </a:endParaRPr>
          </a:p>
        </p:txBody>
      </p:sp>
      <p:sp>
        <p:nvSpPr>
          <p:cNvPr id="8" name="Oval 7"/>
          <p:cNvSpPr/>
          <p:nvPr/>
        </p:nvSpPr>
        <p:spPr>
          <a:xfrm rot="19724275">
            <a:off x="1830961" y="1038440"/>
            <a:ext cx="965416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4052" tIns="47026" rIns="94052" bIns="47026" rtlCol="0" anchor="ctr"/>
          <a:lstStyle/>
          <a:p>
            <a:pPr algn="ctr" defTabSz="940523"/>
            <a:endParaRPr lang="en-US" sz="1856">
              <a:solidFill>
                <a:prstClr val="white"/>
              </a:solidFill>
            </a:endParaRPr>
          </a:p>
        </p:txBody>
      </p:sp>
      <p:sp>
        <p:nvSpPr>
          <p:cNvPr id="9" name="Oval 8"/>
          <p:cNvSpPr/>
          <p:nvPr/>
        </p:nvSpPr>
        <p:spPr>
          <a:xfrm rot="17656910">
            <a:off x="557464" y="419132"/>
            <a:ext cx="5538472" cy="5973945"/>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4052" tIns="47026" rIns="94052" bIns="47026" rtlCol="0" anchor="ctr"/>
          <a:lstStyle/>
          <a:p>
            <a:pPr algn="ctr" defTabSz="940523"/>
            <a:endParaRPr lang="en-US" sz="1856">
              <a:solidFill>
                <a:prstClr val="white"/>
              </a:solidFill>
            </a:endParaRPr>
          </a:p>
        </p:txBody>
      </p:sp>
      <p:sp>
        <p:nvSpPr>
          <p:cNvPr id="10" name="Oval 9"/>
          <p:cNvSpPr/>
          <p:nvPr/>
        </p:nvSpPr>
        <p:spPr>
          <a:xfrm rot="19724275">
            <a:off x="4370607" y="116855"/>
            <a:ext cx="8639149"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4052" tIns="47026" rIns="94052" bIns="47026" rtlCol="0" anchor="ctr"/>
          <a:lstStyle/>
          <a:p>
            <a:pPr algn="ctr" defTabSz="940523"/>
            <a:endParaRPr lang="en-US" sz="1856">
              <a:solidFill>
                <a:prstClr val="white"/>
              </a:solidFill>
            </a:endParaRPr>
          </a:p>
        </p:txBody>
      </p:sp>
      <p:sp>
        <p:nvSpPr>
          <p:cNvPr id="2" name="Title Placeholder 1"/>
          <p:cNvSpPr>
            <a:spLocks noGrp="1"/>
          </p:cNvSpPr>
          <p:nvPr>
            <p:ph type="title"/>
          </p:nvPr>
        </p:nvSpPr>
        <p:spPr>
          <a:xfrm>
            <a:off x="1036320" y="4876800"/>
            <a:ext cx="10058400" cy="914400"/>
          </a:xfrm>
          <a:prstGeom prst="rect">
            <a:avLst/>
          </a:prstGeom>
        </p:spPr>
        <p:txBody>
          <a:bodyPr vert="horz" lIns="501612" tIns="250806" rIns="501612" bIns="250806" rtlCol="0" anchor="b">
            <a:noAutofit/>
          </a:bodyPr>
          <a:lstStyle/>
          <a:p>
            <a:r>
              <a:rPr lang="en-US"/>
              <a:t>Click to edit Master title style</a:t>
            </a:r>
          </a:p>
        </p:txBody>
      </p:sp>
      <p:sp>
        <p:nvSpPr>
          <p:cNvPr id="3" name="Text Placeholder 2"/>
          <p:cNvSpPr>
            <a:spLocks noGrp="1"/>
          </p:cNvSpPr>
          <p:nvPr>
            <p:ph type="body" idx="1"/>
          </p:nvPr>
        </p:nvSpPr>
        <p:spPr>
          <a:xfrm>
            <a:off x="2844800" y="685802"/>
            <a:ext cx="8128000" cy="3657599"/>
          </a:xfrm>
          <a:prstGeom prst="rect">
            <a:avLst/>
          </a:prstGeom>
        </p:spPr>
        <p:txBody>
          <a:bodyPr vert="horz" lIns="501612" tIns="250806" rIns="501612" bIns="250806"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00" y="6154739"/>
            <a:ext cx="2844800" cy="365125"/>
          </a:xfrm>
          <a:prstGeom prst="rect">
            <a:avLst/>
          </a:prstGeom>
        </p:spPr>
        <p:txBody>
          <a:bodyPr vert="horz" lIns="501612" tIns="250806" rIns="501612" bIns="250806" rtlCol="0" anchor="t"/>
          <a:lstStyle>
            <a:lvl1pPr algn="r">
              <a:defRPr sz="1125">
                <a:solidFill>
                  <a:schemeClr val="tx1">
                    <a:alpha val="60000"/>
                  </a:schemeClr>
                </a:solidFill>
                <a:effectLst/>
              </a:defRPr>
            </a:lvl1pPr>
          </a:lstStyle>
          <a:p>
            <a:pPr defTabSz="940523"/>
            <a:fld id="{94E20425-5003-4A04-BD92-C997BC952271}" type="datetimeFigureOut">
              <a:rPr lang="en-US" smtClean="0">
                <a:solidFill>
                  <a:prstClr val="white">
                    <a:alpha val="60000"/>
                  </a:prstClr>
                </a:solidFill>
                <a:ea typeface="MS PGothic" panose="020B0600070205080204" pitchFamily="34" charset="-128"/>
              </a:rPr>
              <a:pPr defTabSz="940523"/>
              <a:t>10/28/2026</a:t>
            </a:fld>
            <a:endParaRPr lang="en-US">
              <a:solidFill>
                <a:prstClr val="white">
                  <a:alpha val="60000"/>
                </a:prstClr>
              </a:solidFill>
              <a:ea typeface="MS PGothic" panose="020B0600070205080204" pitchFamily="34" charset="-128"/>
            </a:endParaRPr>
          </a:p>
        </p:txBody>
      </p:sp>
      <p:sp>
        <p:nvSpPr>
          <p:cNvPr id="5" name="Footer Placeholder 4"/>
          <p:cNvSpPr>
            <a:spLocks noGrp="1"/>
          </p:cNvSpPr>
          <p:nvPr>
            <p:ph type="ftr" sz="quarter" idx="3"/>
          </p:nvPr>
        </p:nvSpPr>
        <p:spPr>
          <a:xfrm>
            <a:off x="1097280" y="6154739"/>
            <a:ext cx="6096000" cy="365125"/>
          </a:xfrm>
          <a:prstGeom prst="rect">
            <a:avLst/>
          </a:prstGeom>
        </p:spPr>
        <p:txBody>
          <a:bodyPr vert="horz" lIns="501612" tIns="250806" rIns="501612" bIns="250806" rtlCol="0" anchor="t"/>
          <a:lstStyle>
            <a:lvl1pPr algn="l">
              <a:defRPr sz="1125">
                <a:solidFill>
                  <a:schemeClr val="tx1">
                    <a:alpha val="60000"/>
                  </a:schemeClr>
                </a:solidFill>
                <a:effectLst/>
              </a:defRPr>
            </a:lvl1pPr>
          </a:lstStyle>
          <a:p>
            <a:pPr defTabSz="940523"/>
            <a:endParaRPr lang="en-US">
              <a:solidFill>
                <a:prstClr val="white">
                  <a:alpha val="60000"/>
                </a:prstClr>
              </a:solidFill>
              <a:ea typeface="MS PGothic" panose="020B0600070205080204" pitchFamily="34" charset="-128"/>
            </a:endParaRPr>
          </a:p>
        </p:txBody>
      </p:sp>
      <p:sp>
        <p:nvSpPr>
          <p:cNvPr id="6" name="Slide Number Placeholder 5"/>
          <p:cNvSpPr>
            <a:spLocks noGrp="1"/>
          </p:cNvSpPr>
          <p:nvPr>
            <p:ph type="sldNum" sz="quarter" idx="4"/>
          </p:nvPr>
        </p:nvSpPr>
        <p:spPr>
          <a:xfrm>
            <a:off x="1097280" y="5842000"/>
            <a:ext cx="2844800" cy="304800"/>
          </a:xfrm>
          <a:prstGeom prst="rect">
            <a:avLst/>
          </a:prstGeom>
        </p:spPr>
        <p:txBody>
          <a:bodyPr vert="horz" lIns="501612" tIns="250806" rIns="501612" bIns="50161" rtlCol="0" anchor="b"/>
          <a:lstStyle>
            <a:lvl1pPr algn="l">
              <a:defRPr sz="1650">
                <a:solidFill>
                  <a:schemeClr val="tx1">
                    <a:alpha val="60000"/>
                  </a:schemeClr>
                </a:solidFill>
                <a:effectLst/>
              </a:defRPr>
            </a:lvl1pPr>
          </a:lstStyle>
          <a:p>
            <a:pPr defTabSz="940523"/>
            <a:fld id="{E7B01E68-97CB-4984-877F-A9D37F03E1F2}" type="slidenum">
              <a:rPr lang="en-US" smtClean="0">
                <a:solidFill>
                  <a:prstClr val="white">
                    <a:alpha val="60000"/>
                  </a:prstClr>
                </a:solidFill>
                <a:ea typeface="MS PGothic" panose="020B0600070205080204" pitchFamily="34" charset="-128"/>
              </a:rPr>
              <a:pPr defTabSz="940523"/>
              <a:t>‹#›</a:t>
            </a:fld>
            <a:endParaRPr lang="en-US">
              <a:solidFill>
                <a:prstClr val="white">
                  <a:alpha val="60000"/>
                </a:prstClr>
              </a:solidFill>
              <a:ea typeface="MS PGothic" panose="020B0600070205080204" pitchFamily="34" charset="-128"/>
            </a:endParaRPr>
          </a:p>
        </p:txBody>
      </p:sp>
    </p:spTree>
    <p:extLst>
      <p:ext uri="{BB962C8B-B14F-4D97-AF65-F5344CB8AC3E}">
        <p14:creationId xmlns:p14="http://schemas.microsoft.com/office/powerpoint/2010/main" val="229643699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40523" rtl="0" eaLnBrk="1" latinLnBrk="0" hangingPunct="1">
        <a:spcBef>
          <a:spcPct val="0"/>
        </a:spcBef>
        <a:buNone/>
        <a:defRPr sz="5044"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2157" indent="-263347" algn="l" defTabSz="940523" rtl="0" eaLnBrk="1" latinLnBrk="0" hangingPunct="1">
        <a:spcBef>
          <a:spcPct val="20000"/>
        </a:spcBef>
        <a:spcAft>
          <a:spcPts val="0"/>
        </a:spcAft>
        <a:buSzPct val="60000"/>
        <a:buFont typeface="Wingdings" pitchFamily="2" charset="2"/>
        <a:buChar char=""/>
        <a:defRPr sz="2156" kern="1200">
          <a:solidFill>
            <a:schemeClr val="tx1"/>
          </a:solidFill>
          <a:effectLst>
            <a:outerShdw blurRad="38100" dist="38100" dir="2700000" algn="tl">
              <a:srgbClr val="000000">
                <a:alpha val="43137"/>
              </a:srgbClr>
            </a:outerShdw>
          </a:effectLst>
          <a:latin typeface="+mn-lt"/>
          <a:ea typeface="+mn-ea"/>
          <a:cs typeface="+mn-cs"/>
        </a:defRPr>
      </a:lvl1pPr>
      <a:lvl2pPr marL="658366" indent="-263347" algn="l" defTabSz="940523" rtl="0" eaLnBrk="1" latinLnBrk="0" hangingPunct="1">
        <a:spcBef>
          <a:spcPct val="20000"/>
        </a:spcBef>
        <a:buSzPct val="60000"/>
        <a:buFont typeface="Wingdings" pitchFamily="2" charset="2"/>
        <a:buChar char=""/>
        <a:defRPr sz="1950" kern="1200">
          <a:solidFill>
            <a:schemeClr val="tx1"/>
          </a:solidFill>
          <a:effectLst>
            <a:outerShdw blurRad="38100" dist="38100" dir="2700000" algn="tl">
              <a:srgbClr val="000000">
                <a:alpha val="43137"/>
              </a:srgbClr>
            </a:outerShdw>
          </a:effectLst>
          <a:latin typeface="+mn-lt"/>
          <a:ea typeface="+mn-ea"/>
          <a:cs typeface="+mn-cs"/>
        </a:defRPr>
      </a:lvl2pPr>
      <a:lvl3pPr marL="1034576" indent="-263347" algn="l" defTabSz="940523" rtl="0" eaLnBrk="1" latinLnBrk="0" hangingPunct="1">
        <a:spcBef>
          <a:spcPct val="20000"/>
        </a:spcBef>
        <a:buSzPct val="60000"/>
        <a:buFont typeface="Wingdings" pitchFamily="2" charset="2"/>
        <a:buChar char=""/>
        <a:defRPr sz="1744" kern="1200">
          <a:solidFill>
            <a:schemeClr val="tx1"/>
          </a:solidFill>
          <a:effectLst>
            <a:outerShdw blurRad="38100" dist="38100" dir="2700000" algn="tl">
              <a:srgbClr val="000000">
                <a:alpha val="43137"/>
              </a:srgbClr>
            </a:outerShdw>
          </a:effectLst>
          <a:latin typeface="+mn-lt"/>
          <a:ea typeface="+mn-ea"/>
          <a:cs typeface="+mn-cs"/>
        </a:defRPr>
      </a:lvl3pPr>
      <a:lvl4pPr marL="1410785" indent="-263347" algn="l" defTabSz="940523" rtl="0" eaLnBrk="1" latinLnBrk="0" hangingPunct="1">
        <a:spcBef>
          <a:spcPct val="20000"/>
        </a:spcBef>
        <a:buSzPct val="60000"/>
        <a:buFont typeface="Wingdings" pitchFamily="2" charset="2"/>
        <a:buChar char=""/>
        <a:defRPr sz="1650" kern="1200">
          <a:solidFill>
            <a:schemeClr val="tx1"/>
          </a:solidFill>
          <a:effectLst>
            <a:outerShdw blurRad="38100" dist="38100" dir="2700000" algn="tl">
              <a:srgbClr val="000000">
                <a:alpha val="43137"/>
              </a:srgbClr>
            </a:outerShdw>
          </a:effectLst>
          <a:latin typeface="+mn-lt"/>
          <a:ea typeface="+mn-ea"/>
          <a:cs typeface="+mn-cs"/>
        </a:defRPr>
      </a:lvl4pPr>
      <a:lvl5pPr marL="1692942" indent="-263347" algn="l" defTabSz="940523" rtl="0" eaLnBrk="1" latinLnBrk="0" hangingPunct="1">
        <a:spcBef>
          <a:spcPct val="20000"/>
        </a:spcBef>
        <a:buSzPct val="60000"/>
        <a:buFont typeface="Wingdings" pitchFamily="2" charset="2"/>
        <a:buChar char=""/>
        <a:defRPr sz="1538" kern="1200">
          <a:solidFill>
            <a:schemeClr val="tx1"/>
          </a:solidFill>
          <a:effectLst>
            <a:outerShdw blurRad="38100" dist="38100" dir="2700000" algn="tl">
              <a:srgbClr val="000000">
                <a:alpha val="43137"/>
              </a:srgbClr>
            </a:outerShdw>
          </a:effectLst>
          <a:latin typeface="+mn-lt"/>
          <a:ea typeface="+mn-ea"/>
          <a:cs typeface="+mn-cs"/>
        </a:defRPr>
      </a:lvl5pPr>
      <a:lvl6pPr marL="2022125"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6pPr>
      <a:lvl7pPr marL="2304282"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86439"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8pPr>
      <a:lvl9pPr marL="2915622"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40523" rtl="0" eaLnBrk="1" latinLnBrk="0" hangingPunct="1">
        <a:defRPr sz="1856" kern="1200">
          <a:solidFill>
            <a:schemeClr val="tx1"/>
          </a:solidFill>
          <a:latin typeface="+mn-lt"/>
          <a:ea typeface="+mn-ea"/>
          <a:cs typeface="+mn-cs"/>
        </a:defRPr>
      </a:lvl1pPr>
      <a:lvl2pPr marL="470262" algn="l" defTabSz="940523" rtl="0" eaLnBrk="1" latinLnBrk="0" hangingPunct="1">
        <a:defRPr sz="1856" kern="1200">
          <a:solidFill>
            <a:schemeClr val="tx1"/>
          </a:solidFill>
          <a:latin typeface="+mn-lt"/>
          <a:ea typeface="+mn-ea"/>
          <a:cs typeface="+mn-cs"/>
        </a:defRPr>
      </a:lvl2pPr>
      <a:lvl3pPr marL="940523" algn="l" defTabSz="940523" rtl="0" eaLnBrk="1" latinLnBrk="0" hangingPunct="1">
        <a:defRPr sz="1856" kern="1200">
          <a:solidFill>
            <a:schemeClr val="tx1"/>
          </a:solidFill>
          <a:latin typeface="+mn-lt"/>
          <a:ea typeface="+mn-ea"/>
          <a:cs typeface="+mn-cs"/>
        </a:defRPr>
      </a:lvl3pPr>
      <a:lvl4pPr marL="1410785" algn="l" defTabSz="940523" rtl="0" eaLnBrk="1" latinLnBrk="0" hangingPunct="1">
        <a:defRPr sz="1856" kern="1200">
          <a:solidFill>
            <a:schemeClr val="tx1"/>
          </a:solidFill>
          <a:latin typeface="+mn-lt"/>
          <a:ea typeface="+mn-ea"/>
          <a:cs typeface="+mn-cs"/>
        </a:defRPr>
      </a:lvl4pPr>
      <a:lvl5pPr marL="1881047" algn="l" defTabSz="940523" rtl="0" eaLnBrk="1" latinLnBrk="0" hangingPunct="1">
        <a:defRPr sz="1856" kern="1200">
          <a:solidFill>
            <a:schemeClr val="tx1"/>
          </a:solidFill>
          <a:latin typeface="+mn-lt"/>
          <a:ea typeface="+mn-ea"/>
          <a:cs typeface="+mn-cs"/>
        </a:defRPr>
      </a:lvl5pPr>
      <a:lvl6pPr marL="2351308" algn="l" defTabSz="940523" rtl="0" eaLnBrk="1" latinLnBrk="0" hangingPunct="1">
        <a:defRPr sz="1856" kern="1200">
          <a:solidFill>
            <a:schemeClr val="tx1"/>
          </a:solidFill>
          <a:latin typeface="+mn-lt"/>
          <a:ea typeface="+mn-ea"/>
          <a:cs typeface="+mn-cs"/>
        </a:defRPr>
      </a:lvl6pPr>
      <a:lvl7pPr marL="2821570" algn="l" defTabSz="940523" rtl="0" eaLnBrk="1" latinLnBrk="0" hangingPunct="1">
        <a:defRPr sz="1856" kern="1200">
          <a:solidFill>
            <a:schemeClr val="tx1"/>
          </a:solidFill>
          <a:latin typeface="+mn-lt"/>
          <a:ea typeface="+mn-ea"/>
          <a:cs typeface="+mn-cs"/>
        </a:defRPr>
      </a:lvl7pPr>
      <a:lvl8pPr marL="3291831" algn="l" defTabSz="940523" rtl="0" eaLnBrk="1" latinLnBrk="0" hangingPunct="1">
        <a:defRPr sz="1856" kern="1200">
          <a:solidFill>
            <a:schemeClr val="tx1"/>
          </a:solidFill>
          <a:latin typeface="+mn-lt"/>
          <a:ea typeface="+mn-ea"/>
          <a:cs typeface="+mn-cs"/>
        </a:defRPr>
      </a:lvl8pPr>
      <a:lvl9pPr marL="3762093" algn="l" defTabSz="940523" rtl="0" eaLnBrk="1" latinLnBrk="0" hangingPunct="1">
        <a:defRPr sz="1856"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333253"/>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D874D4-632E-4162-9F3E-7B67A91389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E3D101-AF17-44FC-8601-260BF3E8EA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607769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37355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B3DD52-7454-44FB-86E4-8174EE2766F3}" type="slidenum">
              <a:rPr lang="en-US" smtClean="0"/>
              <a:t>‹#›</a:t>
            </a:fld>
            <a:endParaRPr lang="en-US"/>
          </a:p>
        </p:txBody>
      </p:sp>
    </p:spTree>
    <p:extLst>
      <p:ext uri="{BB962C8B-B14F-4D97-AF65-F5344CB8AC3E}">
        <p14:creationId xmlns:p14="http://schemas.microsoft.com/office/powerpoint/2010/main" val="4038594980"/>
      </p:ext>
    </p:extLst>
  </p:cSld>
  <p:clrMap bg1="dk1" tx1="lt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ctr"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37355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B3DD52-7454-44FB-86E4-8174EE2766F3}" type="slidenum">
              <a:rPr lang="en-US" smtClean="0"/>
              <a:t>‹#›</a:t>
            </a:fld>
            <a:endParaRPr lang="en-US"/>
          </a:p>
        </p:txBody>
      </p:sp>
    </p:spTree>
    <p:extLst>
      <p:ext uri="{BB962C8B-B14F-4D97-AF65-F5344CB8AC3E}">
        <p14:creationId xmlns:p14="http://schemas.microsoft.com/office/powerpoint/2010/main" val="3316399591"/>
      </p:ext>
    </p:extLst>
  </p:cSld>
  <p:clrMap bg1="dk1" tx1="lt1" bg2="dk2" tx2="lt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ctr"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LnnDOMyZjbE?feature=oembed" TargetMode="Externa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38.xml"/><Relationship Id="rId5" Type="http://schemas.openxmlformats.org/officeDocument/2006/relationships/image" Target="../media/image19.svg"/><Relationship Id="rId4" Type="http://schemas.openxmlformats.org/officeDocument/2006/relationships/image" Target="../media/image18.sv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8.xml"/><Relationship Id="rId5" Type="http://schemas.openxmlformats.org/officeDocument/2006/relationships/image" Target="../media/image22.svg"/><Relationship Id="rId4" Type="http://schemas.openxmlformats.org/officeDocument/2006/relationships/image" Target="../media/image21.svg"/></Relationships>
</file>

<file path=ppt/slides/_rels/slide2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3.xml"/><Relationship Id="rId1" Type="http://schemas.openxmlformats.org/officeDocument/2006/relationships/slideLayout" Target="../slideLayouts/slideLayout38.xml"/><Relationship Id="rId4" Type="http://schemas.openxmlformats.org/officeDocument/2006/relationships/image" Target="../media/image21.svg"/></Relationships>
</file>

<file path=ppt/slides/_rels/slide2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9.xml"/><Relationship Id="rId4" Type="http://schemas.openxmlformats.org/officeDocument/2006/relationships/image" Target="../media/image24.svg"/></Relationships>
</file>

<file path=ppt/slides/_rels/slide3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2.xml"/><Relationship Id="rId1" Type="http://schemas.openxmlformats.org/officeDocument/2006/relationships/slideLayout" Target="../slideLayouts/slideLayout49.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3.xml"/><Relationship Id="rId1" Type="http://schemas.openxmlformats.org/officeDocument/2006/relationships/slideLayout" Target="../slideLayouts/slideLayout49.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4.xml"/><Relationship Id="rId1" Type="http://schemas.openxmlformats.org/officeDocument/2006/relationships/slideLayout" Target="../slideLayouts/slideLayout49.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5.xml"/><Relationship Id="rId1" Type="http://schemas.openxmlformats.org/officeDocument/2006/relationships/slideLayout" Target="../slideLayouts/slideLayout49.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6.xml"/><Relationship Id="rId1" Type="http://schemas.openxmlformats.org/officeDocument/2006/relationships/slideLayout" Target="../slideLayouts/slideLayout49.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12886-01BB-B36A-E5E5-4A5FCB9DB4F0}"/>
              </a:ext>
            </a:extLst>
          </p:cNvPr>
          <p:cNvSpPr>
            <a:spLocks noGrp="1"/>
          </p:cNvSpPr>
          <p:nvPr>
            <p:ph type="ctrTitle"/>
          </p:nvPr>
        </p:nvSpPr>
        <p:spPr>
          <a:xfrm>
            <a:off x="1713470" y="597854"/>
            <a:ext cx="8839200" cy="1222708"/>
          </a:xfrm>
        </p:spPr>
        <p:txBody>
          <a:bodyPr>
            <a:normAutofit fontScale="90000"/>
          </a:bodyPr>
          <a:lstStyle/>
          <a:p>
            <a:r>
              <a:rPr lang="en-US" sz="3600" dirty="0"/>
              <a:t>Undergraduate Science Communication about Culturally Controversial Science Topics</a:t>
            </a:r>
          </a:p>
        </p:txBody>
      </p:sp>
      <p:sp>
        <p:nvSpPr>
          <p:cNvPr id="3" name="Subtitle 2">
            <a:extLst>
              <a:ext uri="{FF2B5EF4-FFF2-40B4-BE49-F238E27FC236}">
                <a16:creationId xmlns:a16="http://schemas.microsoft.com/office/drawing/2014/main" id="{A3CEF606-4AB5-35B5-9DCC-7871576BB743}"/>
              </a:ext>
            </a:extLst>
          </p:cNvPr>
          <p:cNvSpPr>
            <a:spLocks noGrp="1"/>
          </p:cNvSpPr>
          <p:nvPr>
            <p:ph type="subTitle" idx="1"/>
          </p:nvPr>
        </p:nvSpPr>
        <p:spPr>
          <a:xfrm>
            <a:off x="2667000" y="2187678"/>
            <a:ext cx="6858000" cy="1655762"/>
          </a:xfrm>
        </p:spPr>
        <p:txBody>
          <a:bodyPr>
            <a:normAutofit/>
          </a:bodyPr>
          <a:lstStyle/>
          <a:p>
            <a:pPr>
              <a:lnSpc>
                <a:spcPct val="100000"/>
              </a:lnSpc>
            </a:pPr>
            <a:r>
              <a:rPr lang="en-US" sz="2000" dirty="0"/>
              <a:t>M. Elizabeth Barnes, Ph.D.</a:t>
            </a:r>
          </a:p>
        </p:txBody>
      </p:sp>
      <p:pic>
        <p:nvPicPr>
          <p:cNvPr id="10" name="Picture 9" descr="A logo with a dna and leaves&#10;&#10;AI-generated content may be incorrect.">
            <a:extLst>
              <a:ext uri="{FF2B5EF4-FFF2-40B4-BE49-F238E27FC236}">
                <a16:creationId xmlns:a16="http://schemas.microsoft.com/office/drawing/2014/main" id="{081A9B1B-AACF-E3FF-7482-B478F3DDDF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3470" y="4656175"/>
            <a:ext cx="2201825" cy="2201825"/>
          </a:xfrm>
          <a:prstGeom prst="rect">
            <a:avLst/>
          </a:prstGeom>
        </p:spPr>
      </p:pic>
      <p:pic>
        <p:nvPicPr>
          <p:cNvPr id="14" name="Picture 13" descr="A black and white logo&#10;&#10;AI-generated content may be incorrect.">
            <a:extLst>
              <a:ext uri="{FF2B5EF4-FFF2-40B4-BE49-F238E27FC236}">
                <a16:creationId xmlns:a16="http://schemas.microsoft.com/office/drawing/2014/main" id="{97061C70-BF1C-CD98-DA3B-D542BE15F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3338" y="4656175"/>
            <a:ext cx="1661886" cy="1913058"/>
          </a:xfrm>
          <a:prstGeom prst="rect">
            <a:avLst/>
          </a:prstGeom>
        </p:spPr>
      </p:pic>
    </p:spTree>
    <p:extLst>
      <p:ext uri="{BB962C8B-B14F-4D97-AF65-F5344CB8AC3E}">
        <p14:creationId xmlns:p14="http://schemas.microsoft.com/office/powerpoint/2010/main" val="1153571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A5B6-F78D-BB98-5066-C277868F16A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2A2A2F0-C6E1-74ED-FAE8-22D374E371BB}"/>
              </a:ext>
            </a:extLst>
          </p:cNvPr>
          <p:cNvSpPr txBox="1">
            <a:spLocks/>
          </p:cNvSpPr>
          <p:nvPr/>
        </p:nvSpPr>
        <p:spPr>
          <a:xfrm>
            <a:off x="250109" y="267625"/>
            <a:ext cx="11691781"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dirty="0">
                <a:ln>
                  <a:noFill/>
                </a:ln>
                <a:effectLst/>
                <a:uLnTx/>
                <a:uFillTx/>
                <a:latin typeface="Calibri Light" panose="020F0302020204030204"/>
                <a:ea typeface="+mj-ea"/>
                <a:cs typeface="+mj-cs"/>
              </a:rPr>
              <a:t>Grab a worksheet from your LA and answer this question:</a:t>
            </a:r>
          </a:p>
        </p:txBody>
      </p:sp>
      <p:sp>
        <p:nvSpPr>
          <p:cNvPr id="5" name="Content Placeholder 2">
            <a:extLst>
              <a:ext uri="{FF2B5EF4-FFF2-40B4-BE49-F238E27FC236}">
                <a16:creationId xmlns:a16="http://schemas.microsoft.com/office/drawing/2014/main" id="{76743359-97EC-10FA-7016-4C26D3E1A709}"/>
              </a:ext>
            </a:extLst>
          </p:cNvPr>
          <p:cNvSpPr txBox="1">
            <a:spLocks/>
          </p:cNvSpPr>
          <p:nvPr/>
        </p:nvSpPr>
        <p:spPr>
          <a:xfrm>
            <a:off x="838200" y="2141537"/>
            <a:ext cx="10515600"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800" b="1" i="0" u="none" strike="noStrike" kern="100" cap="none" spc="0" normalizeH="0" baseline="0" noProof="0" dirty="0">
                <a:ln>
                  <a:noFill/>
                </a:ln>
                <a:effectLst/>
                <a:uLnTx/>
                <a:uFillTx/>
                <a:latin typeface="Calibri" panose="020F0502020204030204"/>
                <a:ea typeface="Calibri" panose="020F0502020204030204" pitchFamily="34" charset="0"/>
                <a:cs typeface="+mn-cs"/>
              </a:rPr>
              <a:t>Answer 1: </a:t>
            </a:r>
            <a:r>
              <a:rPr kumimoji="0" lang="en-US" sz="3800" b="0" i="0" u="none" strike="noStrike" kern="100" cap="none" spc="0" normalizeH="0" baseline="0" noProof="0" dirty="0">
                <a:ln>
                  <a:noFill/>
                </a:ln>
                <a:effectLst/>
                <a:uLnTx/>
                <a:uFillTx/>
                <a:latin typeface="Calibri" panose="020F0502020204030204"/>
                <a:ea typeface="Calibri" panose="020F0502020204030204" pitchFamily="34" charset="0"/>
                <a:cs typeface="+mn-cs"/>
              </a:rPr>
              <a:t>What would you say to someone you know who told you that humans were not causing climate change?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800" b="0" i="0" u="none" strike="noStrike" kern="1200" cap="none" spc="0" normalizeH="0" baseline="0" noProof="0" dirty="0">
                <a:ln>
                  <a:noFill/>
                </a:ln>
                <a:effectLst/>
                <a:uLnTx/>
                <a:uFillTx/>
                <a:latin typeface="Calibri" panose="020F0502020204030204"/>
                <a:ea typeface="+mn-ea"/>
                <a:cs typeface="+mn-cs"/>
              </a:rPr>
              <a:t>There are no right or wrong answers to the question. I just want your genuine honest response. Take 5 minutes to type your answer to this question. Be as thorough as you can. </a:t>
            </a:r>
          </a:p>
        </p:txBody>
      </p:sp>
    </p:spTree>
    <p:extLst>
      <p:ext uri="{BB962C8B-B14F-4D97-AF65-F5344CB8AC3E}">
        <p14:creationId xmlns:p14="http://schemas.microsoft.com/office/powerpoint/2010/main" val="3659452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FBB90-CA08-8273-DE77-2451E1B74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A2DC1-F40C-F17C-7FD8-0DCA54EBD6AF}"/>
              </a:ext>
            </a:extLst>
          </p:cNvPr>
          <p:cNvSpPr>
            <a:spLocks noGrp="1"/>
          </p:cNvSpPr>
          <p:nvPr>
            <p:ph type="title"/>
          </p:nvPr>
        </p:nvSpPr>
        <p:spPr>
          <a:xfrm>
            <a:off x="180724" y="125589"/>
            <a:ext cx="10515600" cy="857231"/>
          </a:xfrm>
        </p:spPr>
        <p:txBody>
          <a:bodyPr>
            <a:normAutofit fontScale="90000"/>
          </a:bodyPr>
          <a:lstStyle/>
          <a:p>
            <a:r>
              <a:rPr lang="en-US" sz="3200" dirty="0">
                <a:latin typeface="Calibri" panose="020F0502020204030204" pitchFamily="34" charset="0"/>
                <a:ea typeface="Calibri" panose="020F0502020204030204" pitchFamily="34" charset="0"/>
                <a:cs typeface="Calibri" panose="020F0502020204030204" pitchFamily="34" charset="0"/>
              </a:rPr>
              <a:t>What we have learned this semester….</a:t>
            </a:r>
          </a:p>
        </p:txBody>
      </p:sp>
      <p:sp>
        <p:nvSpPr>
          <p:cNvPr id="3" name="Content Placeholder 2">
            <a:extLst>
              <a:ext uri="{FF2B5EF4-FFF2-40B4-BE49-F238E27FC236}">
                <a16:creationId xmlns:a16="http://schemas.microsoft.com/office/drawing/2014/main" id="{0EACD86E-B4A6-8B13-1A0D-457B675C0E0E}"/>
              </a:ext>
            </a:extLst>
          </p:cNvPr>
          <p:cNvSpPr>
            <a:spLocks noGrp="1"/>
          </p:cNvSpPr>
          <p:nvPr>
            <p:ph idx="1"/>
          </p:nvPr>
        </p:nvSpPr>
        <p:spPr>
          <a:xfrm>
            <a:off x="552575" y="1154638"/>
            <a:ext cx="5508458" cy="2007275"/>
          </a:xfrm>
        </p:spPr>
        <p:txBody>
          <a:bodyPr>
            <a:noAutofit/>
          </a:bodyPr>
          <a:lstStyle/>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The five core concepts of biology:</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Evolution</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Structure function</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Information flow</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Systems</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Transformation of Energy and Matter</a:t>
            </a:r>
          </a:p>
        </p:txBody>
      </p:sp>
      <p:sp>
        <p:nvSpPr>
          <p:cNvPr id="4" name="Content Placeholder 2">
            <a:extLst>
              <a:ext uri="{FF2B5EF4-FFF2-40B4-BE49-F238E27FC236}">
                <a16:creationId xmlns:a16="http://schemas.microsoft.com/office/drawing/2014/main" id="{DE510E20-5880-12B6-1F48-6351DE356235}"/>
              </a:ext>
            </a:extLst>
          </p:cNvPr>
          <p:cNvSpPr txBox="1">
            <a:spLocks/>
          </p:cNvSpPr>
          <p:nvPr/>
        </p:nvSpPr>
        <p:spPr>
          <a:xfrm>
            <a:off x="6532145" y="1194618"/>
            <a:ext cx="5508458" cy="13851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three unifying theories of biology: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Evolutionary theory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Chromosomal theory of inheritance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Cell Theory</a:t>
            </a:r>
          </a:p>
        </p:txBody>
      </p:sp>
      <p:sp>
        <p:nvSpPr>
          <p:cNvPr id="8" name="TextBox 7">
            <a:extLst>
              <a:ext uri="{FF2B5EF4-FFF2-40B4-BE49-F238E27FC236}">
                <a16:creationId xmlns:a16="http://schemas.microsoft.com/office/drawing/2014/main" id="{EA1F3DC2-F0A2-2B06-FC61-36C3E56987BB}"/>
              </a:ext>
            </a:extLst>
          </p:cNvPr>
          <p:cNvSpPr txBox="1"/>
          <p:nvPr/>
        </p:nvSpPr>
        <p:spPr>
          <a:xfrm>
            <a:off x="180724" y="3722923"/>
            <a:ext cx="505727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What are we made of? atoms, biomolecules, cells!</a:t>
            </a:r>
          </a:p>
        </p:txBody>
      </p:sp>
      <p:sp>
        <p:nvSpPr>
          <p:cNvPr id="10" name="TextBox 9">
            <a:extLst>
              <a:ext uri="{FF2B5EF4-FFF2-40B4-BE49-F238E27FC236}">
                <a16:creationId xmlns:a16="http://schemas.microsoft.com/office/drawing/2014/main" id="{754D0472-D773-8A70-02A7-9D5985FF455F}"/>
              </a:ext>
            </a:extLst>
          </p:cNvPr>
          <p:cNvSpPr txBox="1"/>
          <p:nvPr/>
        </p:nvSpPr>
        <p:spPr>
          <a:xfrm>
            <a:off x="552575" y="5199656"/>
            <a:ext cx="47359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Why do we eat and breath? cellular respiration!</a:t>
            </a:r>
          </a:p>
        </p:txBody>
      </p:sp>
      <p:sp>
        <p:nvSpPr>
          <p:cNvPr id="12" name="TextBox 11">
            <a:extLst>
              <a:ext uri="{FF2B5EF4-FFF2-40B4-BE49-F238E27FC236}">
                <a16:creationId xmlns:a16="http://schemas.microsoft.com/office/drawing/2014/main" id="{CB159BED-B414-31DC-9C39-D39646FF53E4}"/>
              </a:ext>
            </a:extLst>
          </p:cNvPr>
          <p:cNvSpPr txBox="1"/>
          <p:nvPr/>
        </p:nvSpPr>
        <p:spPr>
          <a:xfrm>
            <a:off x="6075696" y="3748787"/>
            <a:ext cx="573455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How does one cell divide into an entire organism? mitosis!</a:t>
            </a:r>
          </a:p>
        </p:txBody>
      </p:sp>
      <p:sp>
        <p:nvSpPr>
          <p:cNvPr id="14" name="TextBox 13">
            <a:extLst>
              <a:ext uri="{FF2B5EF4-FFF2-40B4-BE49-F238E27FC236}">
                <a16:creationId xmlns:a16="http://schemas.microsoft.com/office/drawing/2014/main" id="{BF17FE99-745C-6CC9-82AF-5958A059CF05}"/>
              </a:ext>
            </a:extLst>
          </p:cNvPr>
          <p:cNvSpPr txBox="1"/>
          <p:nvPr/>
        </p:nvSpPr>
        <p:spPr>
          <a:xfrm>
            <a:off x="5621504" y="4560130"/>
            <a:ext cx="664293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How are organisms built from DNA? transcription and translation!</a:t>
            </a:r>
          </a:p>
        </p:txBody>
      </p:sp>
      <p:sp>
        <p:nvSpPr>
          <p:cNvPr id="16" name="TextBox 15">
            <a:extLst>
              <a:ext uri="{FF2B5EF4-FFF2-40B4-BE49-F238E27FC236}">
                <a16:creationId xmlns:a16="http://schemas.microsoft.com/office/drawing/2014/main" id="{268BE86D-A7E4-AC75-C1E4-86DC9B4CBEE5}"/>
              </a:ext>
            </a:extLst>
          </p:cNvPr>
          <p:cNvSpPr txBox="1"/>
          <p:nvPr/>
        </p:nvSpPr>
        <p:spPr>
          <a:xfrm>
            <a:off x="180724" y="6030803"/>
            <a:ext cx="672715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Why do you resemble your biological parents? genetics and heredity!</a:t>
            </a:r>
          </a:p>
        </p:txBody>
      </p:sp>
      <p:sp>
        <p:nvSpPr>
          <p:cNvPr id="18" name="TextBox 17">
            <a:extLst>
              <a:ext uri="{FF2B5EF4-FFF2-40B4-BE49-F238E27FC236}">
                <a16:creationId xmlns:a16="http://schemas.microsoft.com/office/drawing/2014/main" id="{0B10B785-51DC-19A3-BA1C-D03899D2E4A7}"/>
              </a:ext>
            </a:extLst>
          </p:cNvPr>
          <p:cNvSpPr txBox="1"/>
          <p:nvPr/>
        </p:nvSpPr>
        <p:spPr>
          <a:xfrm>
            <a:off x="5657599" y="5243235"/>
            <a:ext cx="660684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How did your genetic parents transfer their genes to you? meiosis!</a:t>
            </a:r>
          </a:p>
        </p:txBody>
      </p:sp>
      <p:sp>
        <p:nvSpPr>
          <p:cNvPr id="19" name="TextBox 18">
            <a:extLst>
              <a:ext uri="{FF2B5EF4-FFF2-40B4-BE49-F238E27FC236}">
                <a16:creationId xmlns:a16="http://schemas.microsoft.com/office/drawing/2014/main" id="{0BAA1B24-B2AF-5861-2891-4D823CEB2431}"/>
              </a:ext>
            </a:extLst>
          </p:cNvPr>
          <p:cNvSpPr txBox="1"/>
          <p:nvPr/>
        </p:nvSpPr>
        <p:spPr>
          <a:xfrm>
            <a:off x="7065294" y="6030803"/>
            <a:ext cx="47449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How did different species come to be? Evolution!</a:t>
            </a:r>
          </a:p>
        </p:txBody>
      </p:sp>
      <p:sp>
        <p:nvSpPr>
          <p:cNvPr id="20" name="TextBox 19">
            <a:extLst>
              <a:ext uri="{FF2B5EF4-FFF2-40B4-BE49-F238E27FC236}">
                <a16:creationId xmlns:a16="http://schemas.microsoft.com/office/drawing/2014/main" id="{32761582-8142-32D8-1FD3-3CF43872C090}"/>
              </a:ext>
            </a:extLst>
          </p:cNvPr>
          <p:cNvSpPr txBox="1"/>
          <p:nvPr/>
        </p:nvSpPr>
        <p:spPr>
          <a:xfrm>
            <a:off x="180724" y="4517109"/>
            <a:ext cx="52169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How do we fight off infections? The immune system!</a:t>
            </a:r>
          </a:p>
        </p:txBody>
      </p:sp>
    </p:spTree>
    <p:extLst>
      <p:ext uri="{BB962C8B-B14F-4D97-AF65-F5344CB8AC3E}">
        <p14:creationId xmlns:p14="http://schemas.microsoft.com/office/powerpoint/2010/main" val="100661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 end="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8" grpId="0"/>
      <p:bldP spid="10" grpId="0"/>
      <p:bldP spid="12" grpId="0"/>
      <p:bldP spid="14" grpId="0"/>
      <p:bldP spid="16" grpId="0"/>
      <p:bldP spid="18" grpId="0"/>
      <p:bldP spid="19"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00E3A-2844-1CBA-9D84-29C2C18A2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837BA-F5FF-F231-2F10-543DB582C5F4}"/>
              </a:ext>
            </a:extLst>
          </p:cNvPr>
          <p:cNvSpPr>
            <a:spLocks noGrp="1"/>
          </p:cNvSpPr>
          <p:nvPr>
            <p:ph type="title"/>
          </p:nvPr>
        </p:nvSpPr>
        <p:spPr>
          <a:xfrm>
            <a:off x="838200" y="553373"/>
            <a:ext cx="10515600" cy="1325563"/>
          </a:xfrm>
        </p:spPr>
        <p:txBody>
          <a:bodyPr/>
          <a:lstStyle/>
          <a:p>
            <a:pPr algn="ctr"/>
            <a:r>
              <a:rPr lang="en-US" sz="3600" dirty="0">
                <a:latin typeface="Calibri" panose="020F0502020204030204" pitchFamily="34" charset="0"/>
                <a:ea typeface="Calibri" panose="020F0502020204030204" pitchFamily="34" charset="0"/>
                <a:cs typeface="Calibri" panose="020F0502020204030204" pitchFamily="34" charset="0"/>
              </a:rPr>
              <a:t>Today: How do we communicate effectively about topics that are controversial but important?</a:t>
            </a:r>
          </a:p>
        </p:txBody>
      </p:sp>
      <p:sp>
        <p:nvSpPr>
          <p:cNvPr id="3" name="TextBox 2">
            <a:extLst>
              <a:ext uri="{FF2B5EF4-FFF2-40B4-BE49-F238E27FC236}">
                <a16:creationId xmlns:a16="http://schemas.microsoft.com/office/drawing/2014/main" id="{AEF17FCA-EFE6-7A39-6502-10411A27D362}"/>
              </a:ext>
            </a:extLst>
          </p:cNvPr>
          <p:cNvSpPr txBox="1"/>
          <p:nvPr/>
        </p:nvSpPr>
        <p:spPr>
          <a:xfrm>
            <a:off x="8802776" y="2659538"/>
            <a:ext cx="198109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evolution</a:t>
            </a:r>
            <a:endParaRPr kumimoji="0" lang="da-DK"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E5EE9D56-DDA2-828C-5596-68094F628F3B}"/>
              </a:ext>
            </a:extLst>
          </p:cNvPr>
          <p:cNvSpPr txBox="1"/>
          <p:nvPr/>
        </p:nvSpPr>
        <p:spPr>
          <a:xfrm>
            <a:off x="931325" y="2723749"/>
            <a:ext cx="2457896"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climate change</a:t>
            </a:r>
            <a:endParaRPr kumimoji="0" lang="da-DK"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AEDDD22-B0F5-FB7D-6F2A-9B21B4ABDCC4}"/>
              </a:ext>
            </a:extLst>
          </p:cNvPr>
          <p:cNvSpPr txBox="1"/>
          <p:nvPr/>
        </p:nvSpPr>
        <p:spPr>
          <a:xfrm>
            <a:off x="5331989" y="2723749"/>
            <a:ext cx="152801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vaccines</a:t>
            </a:r>
            <a:endParaRPr kumimoji="0" lang="da-DK"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AD2C5654-106E-B00D-85E5-462C293228C4}"/>
              </a:ext>
            </a:extLst>
          </p:cNvPr>
          <p:cNvPicPr>
            <a:picLocks noChangeAspect="1"/>
          </p:cNvPicPr>
          <p:nvPr/>
        </p:nvPicPr>
        <p:blipFill>
          <a:blip r:embed="rId2"/>
          <a:stretch>
            <a:fillRect/>
          </a:stretch>
        </p:blipFill>
        <p:spPr>
          <a:xfrm>
            <a:off x="8344028" y="3533343"/>
            <a:ext cx="3336229" cy="2968498"/>
          </a:xfrm>
          <a:prstGeom prst="rect">
            <a:avLst/>
          </a:prstGeom>
          <a:ln w="57150">
            <a:solidFill>
              <a:schemeClr val="bg1"/>
            </a:solidFill>
          </a:ln>
        </p:spPr>
      </p:pic>
      <p:pic>
        <p:nvPicPr>
          <p:cNvPr id="13" name="Picture 12">
            <a:extLst>
              <a:ext uri="{FF2B5EF4-FFF2-40B4-BE49-F238E27FC236}">
                <a16:creationId xmlns:a16="http://schemas.microsoft.com/office/drawing/2014/main" id="{C8D7694D-F9AA-FE76-D7C0-942A95E322AC}"/>
              </a:ext>
            </a:extLst>
          </p:cNvPr>
          <p:cNvPicPr>
            <a:picLocks noChangeAspect="1"/>
          </p:cNvPicPr>
          <p:nvPr/>
        </p:nvPicPr>
        <p:blipFill rotWithShape="1">
          <a:blip r:embed="rId3"/>
          <a:srcRect l="15764" r="15320"/>
          <a:stretch/>
        </p:blipFill>
        <p:spPr>
          <a:xfrm>
            <a:off x="511744" y="3533343"/>
            <a:ext cx="3336229" cy="2720759"/>
          </a:xfrm>
          <a:prstGeom prst="rect">
            <a:avLst/>
          </a:prstGeom>
          <a:ln w="57150">
            <a:solidFill>
              <a:schemeClr val="bg1"/>
            </a:solidFill>
          </a:ln>
        </p:spPr>
      </p:pic>
      <p:pic>
        <p:nvPicPr>
          <p:cNvPr id="14" name="Picture 13">
            <a:extLst>
              <a:ext uri="{FF2B5EF4-FFF2-40B4-BE49-F238E27FC236}">
                <a16:creationId xmlns:a16="http://schemas.microsoft.com/office/drawing/2014/main" id="{0E87C3D1-DB58-3620-5AF8-E846ECB5F48A}"/>
              </a:ext>
            </a:extLst>
          </p:cNvPr>
          <p:cNvPicPr>
            <a:picLocks noChangeAspect="1"/>
          </p:cNvPicPr>
          <p:nvPr/>
        </p:nvPicPr>
        <p:blipFill rotWithShape="1">
          <a:blip r:embed="rId4"/>
          <a:srcRect l="18023" r="23812" b="36847"/>
          <a:stretch>
            <a:fillRect/>
          </a:stretch>
        </p:blipFill>
        <p:spPr>
          <a:xfrm>
            <a:off x="5087340" y="3533343"/>
            <a:ext cx="2216076" cy="1804594"/>
          </a:xfrm>
          <a:prstGeom prst="rect">
            <a:avLst/>
          </a:prstGeom>
          <a:ln w="57150">
            <a:solidFill>
              <a:schemeClr val="bg1"/>
            </a:solidFill>
          </a:ln>
        </p:spPr>
      </p:pic>
    </p:spTree>
    <p:extLst>
      <p:ext uri="{BB962C8B-B14F-4D97-AF65-F5344CB8AC3E}">
        <p14:creationId xmlns:p14="http://schemas.microsoft.com/office/powerpoint/2010/main" val="1959743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3087B-1989-5B0E-C0BC-2569DD83196D}"/>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464E6062-7450-9BF6-54B5-F08F54059CA4}"/>
              </a:ext>
            </a:extLst>
          </p:cNvPr>
          <p:cNvSpPr txBox="1">
            <a:spLocks/>
          </p:cNvSpPr>
          <p:nvPr/>
        </p:nvSpPr>
        <p:spPr>
          <a:xfrm>
            <a:off x="410357" y="150512"/>
            <a:ext cx="563478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a:ln>
                  <a:noFill/>
                </a:ln>
                <a:effectLst/>
                <a:uLnTx/>
                <a:uFillTx/>
                <a:latin typeface="Calibri Light" panose="020F0302020204030204"/>
                <a:ea typeface="+mj-ea"/>
                <a:cs typeface="+mj-cs"/>
              </a:rPr>
              <a:t>Learning Objectives</a:t>
            </a:r>
            <a:endParaRPr kumimoji="0" lang="en-US" sz="3600" b="0" i="0" u="none" strike="noStrike" kern="1200" cap="none" spc="0" normalizeH="0" baseline="0" noProof="0" dirty="0">
              <a:ln>
                <a:noFill/>
              </a:ln>
              <a:effectLst/>
              <a:uLnTx/>
              <a:uFillTx/>
              <a:latin typeface="Calibri Light" panose="020F0302020204030204"/>
              <a:ea typeface="+mj-ea"/>
              <a:cs typeface="+mj-cs"/>
            </a:endParaRPr>
          </a:p>
        </p:txBody>
      </p:sp>
      <p:sp>
        <p:nvSpPr>
          <p:cNvPr id="12" name="Content Placeholder 2">
            <a:extLst>
              <a:ext uri="{FF2B5EF4-FFF2-40B4-BE49-F238E27FC236}">
                <a16:creationId xmlns:a16="http://schemas.microsoft.com/office/drawing/2014/main" id="{3A1C82BE-4F23-E7F1-7D28-609F0FE04751}"/>
              </a:ext>
            </a:extLst>
          </p:cNvPr>
          <p:cNvSpPr txBox="1">
            <a:spLocks/>
          </p:cNvSpPr>
          <p:nvPr/>
        </p:nvSpPr>
        <p:spPr>
          <a:xfrm>
            <a:off x="410357" y="1511173"/>
            <a:ext cx="7444020" cy="49817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effectLst/>
                <a:uLnTx/>
                <a:uFillTx/>
                <a:latin typeface="Calibri" panose="020F0502020204030204"/>
                <a:ea typeface="+mn-ea"/>
                <a:cs typeface="+mn-cs"/>
              </a:rPr>
              <a:t>Identify culturally controversial science topics and the evidence gathered for the scientific consensus about these topics.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effectLst/>
                <a:uLnTx/>
                <a:uFillTx/>
                <a:latin typeface="Calibri" panose="020F0502020204030204"/>
                <a:ea typeface="+mn-ea"/>
                <a:cs typeface="+mn-cs"/>
              </a:rPr>
              <a:t>Explain reasons why people reject valid scientific information.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effectLst/>
                <a:uLnTx/>
                <a:uFillTx/>
                <a:latin typeface="Calibri" panose="020F0502020204030204"/>
                <a:ea typeface="+mn-ea"/>
                <a:cs typeface="+mn-cs"/>
              </a:rPr>
              <a:t>Identify potential negative societal consequences for rejection of valid scientific information.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effectLst/>
                <a:uLnTx/>
                <a:uFillTx/>
                <a:latin typeface="Calibri" panose="020F0502020204030204"/>
                <a:ea typeface="+mn-ea"/>
                <a:cs typeface="+mn-cs"/>
              </a:rPr>
              <a:t>Explain the potential significance of boundary spanning and cultural competence in science communication.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effectLst/>
                <a:uLnTx/>
                <a:uFillTx/>
                <a:latin typeface="Calibri" panose="020F0502020204030204"/>
                <a:ea typeface="+mn-ea"/>
                <a:cs typeface="+mn-cs"/>
              </a:rPr>
              <a:t>Explain science communication principles that can help reduce conflict about culturally controversial science topics.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effectLst/>
                <a:uLnTx/>
                <a:uFillTx/>
                <a:latin typeface="Calibri" panose="020F0502020204030204"/>
                <a:ea typeface="+mn-ea"/>
                <a:cs typeface="+mn-cs"/>
              </a:rPr>
              <a:t>Be able to apply science communication principles in your communication about culturally controversial science topics.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13" name="Title 1">
            <a:extLst>
              <a:ext uri="{FF2B5EF4-FFF2-40B4-BE49-F238E27FC236}">
                <a16:creationId xmlns:a16="http://schemas.microsoft.com/office/drawing/2014/main" id="{4B76CE0F-73CE-60CB-13DB-671C3FE61B0E}"/>
              </a:ext>
            </a:extLst>
          </p:cNvPr>
          <p:cNvSpPr txBox="1">
            <a:spLocks/>
          </p:cNvSpPr>
          <p:nvPr/>
        </p:nvSpPr>
        <p:spPr>
          <a:xfrm>
            <a:off x="8138160" y="365123"/>
            <a:ext cx="3089068" cy="8963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3600" dirty="0">
                <a:latin typeface="Calibri Light" panose="020F0302020204030204"/>
              </a:rPr>
              <a:t>Definitions</a:t>
            </a:r>
          </a:p>
        </p:txBody>
      </p:sp>
      <p:sp>
        <p:nvSpPr>
          <p:cNvPr id="14" name="Content Placeholder 2">
            <a:extLst>
              <a:ext uri="{FF2B5EF4-FFF2-40B4-BE49-F238E27FC236}">
                <a16:creationId xmlns:a16="http://schemas.microsoft.com/office/drawing/2014/main" id="{91EB7D12-DDBC-615B-99B9-FD99ECC10325}"/>
              </a:ext>
            </a:extLst>
          </p:cNvPr>
          <p:cNvSpPr txBox="1">
            <a:spLocks/>
          </p:cNvSpPr>
          <p:nvPr/>
        </p:nvSpPr>
        <p:spPr>
          <a:xfrm>
            <a:off x="8138160" y="1511173"/>
            <a:ext cx="3743826" cy="40982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US" sz="1800" dirty="0">
                <a:latin typeface="Calibri" panose="020F0502020204030204"/>
              </a:rPr>
              <a:t>Culturally controversial science topics</a:t>
            </a:r>
          </a:p>
          <a:p>
            <a:pPr marL="0" indent="0">
              <a:buFont typeface="Arial" panose="020B0604020202020204" pitchFamily="34" charset="0"/>
              <a:buNone/>
              <a:defRPr/>
            </a:pPr>
            <a:r>
              <a:rPr lang="en-US" sz="1800" dirty="0">
                <a:latin typeface="Calibri" panose="020F0502020204030204"/>
              </a:rPr>
              <a:t>Scientific consensus</a:t>
            </a:r>
          </a:p>
          <a:p>
            <a:pPr marL="0" indent="0">
              <a:buFont typeface="Arial" panose="020B0604020202020204" pitchFamily="34" charset="0"/>
              <a:buNone/>
              <a:defRPr/>
            </a:pPr>
            <a:r>
              <a:rPr lang="en-US" sz="1800" dirty="0">
                <a:latin typeface="Calibri" panose="020F0502020204030204"/>
              </a:rPr>
              <a:t>Dialogue approach</a:t>
            </a:r>
          </a:p>
          <a:p>
            <a:pPr marL="0" indent="0">
              <a:buFont typeface="Arial" panose="020B0604020202020204" pitchFamily="34" charset="0"/>
              <a:buNone/>
              <a:defRPr/>
            </a:pPr>
            <a:r>
              <a:rPr lang="en-US" sz="1800" dirty="0">
                <a:latin typeface="Calibri" panose="020F0502020204030204"/>
              </a:rPr>
              <a:t>Deficit approach </a:t>
            </a:r>
          </a:p>
          <a:p>
            <a:pPr marL="0" indent="0">
              <a:buFont typeface="Arial" panose="020B0604020202020204" pitchFamily="34" charset="0"/>
              <a:buNone/>
              <a:defRPr/>
            </a:pPr>
            <a:r>
              <a:rPr lang="en-US" sz="1800" dirty="0">
                <a:latin typeface="Calibri" panose="020F0502020204030204"/>
              </a:rPr>
              <a:t>Boundary spanning</a:t>
            </a:r>
          </a:p>
          <a:p>
            <a:pPr marL="0" indent="0">
              <a:buFont typeface="Arial" panose="020B0604020202020204" pitchFamily="34" charset="0"/>
              <a:buNone/>
              <a:defRPr/>
            </a:pPr>
            <a:r>
              <a:rPr lang="en-US" sz="1800" dirty="0">
                <a:latin typeface="Calibri" panose="020F0502020204030204"/>
              </a:rPr>
              <a:t>Cultural competence</a:t>
            </a:r>
          </a:p>
          <a:p>
            <a:pPr marL="0" indent="0">
              <a:buFont typeface="Arial" panose="020B0604020202020204" pitchFamily="34" charset="0"/>
              <a:buNone/>
              <a:defRPr/>
            </a:pPr>
            <a:endParaRPr lang="en-US" sz="1800" dirty="0">
              <a:latin typeface="Calibri" panose="020F0502020204030204"/>
            </a:endParaRPr>
          </a:p>
          <a:p>
            <a:pPr marL="0" indent="0">
              <a:buFont typeface="Arial" panose="020B0604020202020204" pitchFamily="34" charset="0"/>
              <a:buNone/>
              <a:defRPr/>
            </a:pPr>
            <a:endParaRPr lang="en-US" sz="1800" dirty="0">
              <a:latin typeface="Calibri" panose="020F0502020204030204"/>
            </a:endParaRPr>
          </a:p>
          <a:p>
            <a:pPr marL="0" indent="0">
              <a:buFont typeface="Arial" panose="020B0604020202020204" pitchFamily="34" charset="0"/>
              <a:buNone/>
              <a:defRPr/>
            </a:pPr>
            <a:endParaRPr lang="en-US" sz="1800" dirty="0">
              <a:latin typeface="Calibri" panose="020F0502020204030204"/>
            </a:endParaRPr>
          </a:p>
        </p:txBody>
      </p:sp>
    </p:spTree>
    <p:extLst>
      <p:ext uri="{BB962C8B-B14F-4D97-AF65-F5344CB8AC3E}">
        <p14:creationId xmlns:p14="http://schemas.microsoft.com/office/powerpoint/2010/main" val="1434086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E0F50-6C50-3D83-398D-E14A2E6A9C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113687-150F-6C1F-4525-0C9AF7D9A331}"/>
              </a:ext>
            </a:extLst>
          </p:cNvPr>
          <p:cNvSpPr txBox="1"/>
          <p:nvPr/>
        </p:nvSpPr>
        <p:spPr>
          <a:xfrm>
            <a:off x="8802776" y="2659538"/>
            <a:ext cx="198109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evolution</a:t>
            </a:r>
            <a:endParaRPr kumimoji="0" lang="da-DK"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69BFD92-F004-61C9-1B45-4C8A667E803A}"/>
              </a:ext>
            </a:extLst>
          </p:cNvPr>
          <p:cNvSpPr txBox="1"/>
          <p:nvPr/>
        </p:nvSpPr>
        <p:spPr>
          <a:xfrm>
            <a:off x="931325" y="2723749"/>
            <a:ext cx="2457896"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climate change</a:t>
            </a:r>
            <a:endParaRPr kumimoji="0" lang="da-DK"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FB9AF7A-A8DD-C882-7E24-D4C5CF754728}"/>
              </a:ext>
            </a:extLst>
          </p:cNvPr>
          <p:cNvSpPr txBox="1"/>
          <p:nvPr/>
        </p:nvSpPr>
        <p:spPr>
          <a:xfrm>
            <a:off x="5331989" y="2723749"/>
            <a:ext cx="152801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vaccines</a:t>
            </a:r>
            <a:endParaRPr kumimoji="0" lang="da-DK"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C0206970-0307-6BFD-F988-59C25FF3ECD1}"/>
              </a:ext>
            </a:extLst>
          </p:cNvPr>
          <p:cNvPicPr>
            <a:picLocks noChangeAspect="1"/>
          </p:cNvPicPr>
          <p:nvPr/>
        </p:nvPicPr>
        <p:blipFill>
          <a:blip r:embed="rId2"/>
          <a:stretch>
            <a:fillRect/>
          </a:stretch>
        </p:blipFill>
        <p:spPr>
          <a:xfrm>
            <a:off x="8344028" y="3533343"/>
            <a:ext cx="3336229" cy="2968498"/>
          </a:xfrm>
          <a:prstGeom prst="rect">
            <a:avLst/>
          </a:prstGeom>
          <a:ln w="57150">
            <a:solidFill>
              <a:schemeClr val="bg1"/>
            </a:solidFill>
          </a:ln>
        </p:spPr>
      </p:pic>
      <p:pic>
        <p:nvPicPr>
          <p:cNvPr id="8" name="Picture 7">
            <a:extLst>
              <a:ext uri="{FF2B5EF4-FFF2-40B4-BE49-F238E27FC236}">
                <a16:creationId xmlns:a16="http://schemas.microsoft.com/office/drawing/2014/main" id="{0C6D02E6-EF89-A2A0-4C27-D812AB94F09D}"/>
              </a:ext>
            </a:extLst>
          </p:cNvPr>
          <p:cNvPicPr>
            <a:picLocks noChangeAspect="1"/>
          </p:cNvPicPr>
          <p:nvPr/>
        </p:nvPicPr>
        <p:blipFill rotWithShape="1">
          <a:blip r:embed="rId3"/>
          <a:srcRect l="15764" r="15320"/>
          <a:stretch/>
        </p:blipFill>
        <p:spPr>
          <a:xfrm>
            <a:off x="511744" y="3533343"/>
            <a:ext cx="3336229" cy="2720759"/>
          </a:xfrm>
          <a:prstGeom prst="rect">
            <a:avLst/>
          </a:prstGeom>
          <a:ln w="57150">
            <a:solidFill>
              <a:schemeClr val="bg1"/>
            </a:solidFill>
          </a:ln>
        </p:spPr>
      </p:pic>
      <p:pic>
        <p:nvPicPr>
          <p:cNvPr id="9" name="Picture 8">
            <a:extLst>
              <a:ext uri="{FF2B5EF4-FFF2-40B4-BE49-F238E27FC236}">
                <a16:creationId xmlns:a16="http://schemas.microsoft.com/office/drawing/2014/main" id="{5803F7B0-A113-681F-D169-366E597480C5}"/>
              </a:ext>
            </a:extLst>
          </p:cNvPr>
          <p:cNvPicPr>
            <a:picLocks noChangeAspect="1"/>
          </p:cNvPicPr>
          <p:nvPr/>
        </p:nvPicPr>
        <p:blipFill rotWithShape="1">
          <a:blip r:embed="rId4"/>
          <a:srcRect l="18023" r="23812" b="36847"/>
          <a:stretch>
            <a:fillRect/>
          </a:stretch>
        </p:blipFill>
        <p:spPr>
          <a:xfrm>
            <a:off x="5087340" y="3533343"/>
            <a:ext cx="2216076" cy="1804594"/>
          </a:xfrm>
          <a:prstGeom prst="rect">
            <a:avLst/>
          </a:prstGeom>
          <a:ln w="57150">
            <a:solidFill>
              <a:schemeClr val="bg1"/>
            </a:solidFill>
          </a:ln>
        </p:spPr>
      </p:pic>
      <p:sp>
        <p:nvSpPr>
          <p:cNvPr id="13" name="Title 1">
            <a:extLst>
              <a:ext uri="{FF2B5EF4-FFF2-40B4-BE49-F238E27FC236}">
                <a16:creationId xmlns:a16="http://schemas.microsoft.com/office/drawing/2014/main" id="{697298CC-393E-D3D9-D71C-08377D6DDDD9}"/>
              </a:ext>
            </a:extLst>
          </p:cNvPr>
          <p:cNvSpPr txBox="1">
            <a:spLocks/>
          </p:cNvSpPr>
          <p:nvPr/>
        </p:nvSpPr>
        <p:spPr>
          <a:xfrm>
            <a:off x="298431" y="441899"/>
            <a:ext cx="11673833" cy="64544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a:ln>
                  <a:noFill/>
                </a:ln>
                <a:effectLst/>
                <a:uLnTx/>
                <a:uFillTx/>
                <a:latin typeface="Calibri" panose="020F0502020204030204"/>
                <a:ea typeface="+mj-ea"/>
                <a:cs typeface="+mj-cs"/>
              </a:rPr>
              <a:t>Culturally Controversial Science Topics (CCSTs)</a:t>
            </a:r>
          </a:p>
        </p:txBody>
      </p:sp>
      <p:sp>
        <p:nvSpPr>
          <p:cNvPr id="14" name="Content Placeholder 2">
            <a:extLst>
              <a:ext uri="{FF2B5EF4-FFF2-40B4-BE49-F238E27FC236}">
                <a16:creationId xmlns:a16="http://schemas.microsoft.com/office/drawing/2014/main" id="{82A1EDF6-96C2-7FF7-1517-5117CEA2C543}"/>
              </a:ext>
            </a:extLst>
          </p:cNvPr>
          <p:cNvSpPr txBox="1">
            <a:spLocks/>
          </p:cNvSpPr>
          <p:nvPr/>
        </p:nvSpPr>
        <p:spPr>
          <a:xfrm>
            <a:off x="93572" y="1582824"/>
            <a:ext cx="12004854" cy="6454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Font typeface="Arial" panose="020B0604020202020204" pitchFamily="34" charset="0"/>
              <a:buNone/>
              <a:defRPr/>
            </a:pPr>
            <a:r>
              <a:rPr lang="en-US" sz="2800">
                <a:latin typeface="Calibri" panose="020F0502020204030204"/>
              </a:rPr>
              <a:t>When there is </a:t>
            </a:r>
            <a:r>
              <a:rPr lang="en-US" sz="2800" b="1">
                <a:latin typeface="Calibri" panose="020F0502020204030204"/>
              </a:rPr>
              <a:t>broad scientific consensus </a:t>
            </a:r>
            <a:r>
              <a:rPr lang="en-US" sz="2800">
                <a:latin typeface="Calibri" panose="020F0502020204030204"/>
              </a:rPr>
              <a:t>but</a:t>
            </a:r>
            <a:r>
              <a:rPr lang="en-US" sz="2800" b="1">
                <a:latin typeface="Calibri" panose="020F0502020204030204"/>
              </a:rPr>
              <a:t> </a:t>
            </a:r>
            <a:r>
              <a:rPr lang="en-US" sz="2800">
                <a:latin typeface="Calibri" panose="020F0502020204030204"/>
              </a:rPr>
              <a:t>significant</a:t>
            </a:r>
            <a:r>
              <a:rPr lang="en-US" sz="2800" b="1">
                <a:latin typeface="Calibri" panose="020F0502020204030204"/>
              </a:rPr>
              <a:t> public disagreement</a:t>
            </a:r>
            <a:endParaRPr lang="en-US" sz="2800">
              <a:latin typeface="Calibri" panose="020F0502020204030204"/>
            </a:endParaRPr>
          </a:p>
        </p:txBody>
      </p:sp>
    </p:spTree>
    <p:extLst>
      <p:ext uri="{BB962C8B-B14F-4D97-AF65-F5344CB8AC3E}">
        <p14:creationId xmlns:p14="http://schemas.microsoft.com/office/powerpoint/2010/main" val="863629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74E28-388B-EA73-5E44-3555A400BAEB}"/>
              </a:ext>
            </a:extLst>
          </p:cNvPr>
          <p:cNvSpPr>
            <a:spLocks noGrp="1"/>
          </p:cNvSpPr>
          <p:nvPr>
            <p:ph type="title"/>
          </p:nvPr>
        </p:nvSpPr>
        <p:spPr>
          <a:xfrm>
            <a:off x="424851" y="391004"/>
            <a:ext cx="11135264" cy="1325563"/>
          </a:xfrm>
        </p:spPr>
        <p:txBody>
          <a:bodyPr>
            <a:normAutofit/>
          </a:bodyPr>
          <a:lstStyle/>
          <a:p>
            <a:pPr algn="ctr"/>
            <a:r>
              <a:rPr lang="en-US" sz="4000"/>
              <a:t>What is scientific consensus? How is it determined? </a:t>
            </a:r>
          </a:p>
        </p:txBody>
      </p:sp>
      <p:pic>
        <p:nvPicPr>
          <p:cNvPr id="4" name="Online Media 3" title="97% of Climate Scientists Really Do Agree">
            <a:hlinkClick r:id="" action="ppaction://media"/>
            <a:extLst>
              <a:ext uri="{FF2B5EF4-FFF2-40B4-BE49-F238E27FC236}">
                <a16:creationId xmlns:a16="http://schemas.microsoft.com/office/drawing/2014/main" id="{DE1C2A49-F1F4-DCD5-A33E-BB9EAFBAE69B}"/>
              </a:ext>
            </a:extLst>
          </p:cNvPr>
          <p:cNvPicPr>
            <a:picLocks noGrp="1" noRot="1" noChangeAspect="1"/>
          </p:cNvPicPr>
          <p:nvPr>
            <p:ph idx="1"/>
            <a:videoFile r:link="rId1"/>
          </p:nvPr>
        </p:nvPicPr>
        <p:blipFill>
          <a:blip r:embed="rId4"/>
          <a:stretch>
            <a:fillRect/>
          </a:stretch>
        </p:blipFill>
        <p:spPr>
          <a:xfrm>
            <a:off x="611349" y="1799362"/>
            <a:ext cx="7700962" cy="4351338"/>
          </a:xfrm>
          <a:prstGeom prst="rect">
            <a:avLst/>
          </a:prstGeom>
        </p:spPr>
      </p:pic>
      <p:sp>
        <p:nvSpPr>
          <p:cNvPr id="5" name="TextBox 4">
            <a:extLst>
              <a:ext uri="{FF2B5EF4-FFF2-40B4-BE49-F238E27FC236}">
                <a16:creationId xmlns:a16="http://schemas.microsoft.com/office/drawing/2014/main" id="{98CD8C2F-8C2D-5979-3E39-4E4F8C4BE260}"/>
              </a:ext>
            </a:extLst>
          </p:cNvPr>
          <p:cNvSpPr txBox="1"/>
          <p:nvPr/>
        </p:nvSpPr>
        <p:spPr>
          <a:xfrm>
            <a:off x="8439005" y="1989872"/>
            <a:ext cx="3511016" cy="42473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Guiding questions, answer in your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 What is scientific consensus?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 </a:t>
            </a:r>
            <a:r>
              <a:rPr lang="en-US" dirty="0">
                <a:solidFill>
                  <a:prstClr val="black"/>
                </a:solidFill>
              </a:rPr>
              <a:t>What is peer review and why does this make the scientific consensus even more useful?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 </a:t>
            </a:r>
            <a:r>
              <a:rPr lang="en-US" dirty="0">
                <a:solidFill>
                  <a:prstClr val="black"/>
                </a:solidFill>
              </a:rPr>
              <a:t>Why is scientific consensus useful for determining the current most likely scientific truths?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 </a:t>
            </a:r>
            <a:r>
              <a:rPr lang="en-US" dirty="0">
                <a:solidFill>
                  <a:prstClr val="black"/>
                </a:solidFill>
              </a:rPr>
              <a:t>What are ways we can measure scientific consensus? </a:t>
            </a:r>
          </a:p>
        </p:txBody>
      </p:sp>
      <p:sp>
        <p:nvSpPr>
          <p:cNvPr id="8" name="TextBox 7">
            <a:extLst>
              <a:ext uri="{FF2B5EF4-FFF2-40B4-BE49-F238E27FC236}">
                <a16:creationId xmlns:a16="http://schemas.microsoft.com/office/drawing/2014/main" id="{099B9294-18AF-61E2-A880-396A08B7770F}"/>
              </a:ext>
            </a:extLst>
          </p:cNvPr>
          <p:cNvSpPr txBox="1"/>
          <p:nvPr/>
        </p:nvSpPr>
        <p:spPr>
          <a:xfrm>
            <a:off x="424851" y="6282330"/>
            <a:ext cx="6094206" cy="369332"/>
          </a:xfrm>
          <a:prstGeom prst="rect">
            <a:avLst/>
          </a:prstGeom>
          <a:noFill/>
        </p:spPr>
        <p:txBody>
          <a:bodyPr wrap="square">
            <a:spAutoFit/>
          </a:bodyPr>
          <a:lstStyle/>
          <a:p>
            <a:r>
              <a:rPr lang="en-US" dirty="0"/>
              <a:t>https://www.youtube.com/watch?v=LnnDOMyZjbE&amp;t=1s</a:t>
            </a:r>
          </a:p>
        </p:txBody>
      </p:sp>
    </p:spTree>
    <p:extLst>
      <p:ext uri="{BB962C8B-B14F-4D97-AF65-F5344CB8AC3E}">
        <p14:creationId xmlns:p14="http://schemas.microsoft.com/office/powerpoint/2010/main" val="415668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0281F-E3CC-4A86-288B-0C9BA4943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9A55C-C8A6-05C2-F2A1-6E39D6011ADD}"/>
              </a:ext>
            </a:extLst>
          </p:cNvPr>
          <p:cNvSpPr txBox="1">
            <a:spLocks/>
          </p:cNvSpPr>
          <p:nvPr/>
        </p:nvSpPr>
        <p:spPr>
          <a:xfrm>
            <a:off x="838200" y="27662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a:ln>
                  <a:noFill/>
                </a:ln>
                <a:effectLst/>
                <a:uLnTx/>
                <a:uFillTx/>
                <a:latin typeface="Calibri Light" panose="020F0302020204030204"/>
                <a:ea typeface="+mj-ea"/>
                <a:cs typeface="+mj-cs"/>
              </a:rPr>
              <a:t>98% of biologists believe evolution is the foundation of biology, but about 40% of the public do not think humans evolved.</a:t>
            </a:r>
            <a:endParaRPr kumimoji="0" lang="en-US" sz="3200" b="1" i="0" u="none" strike="noStrike" kern="1200" cap="none" spc="0" normalizeH="0" baseline="0" noProof="0" dirty="0">
              <a:ln>
                <a:noFill/>
              </a:ln>
              <a:effectLst/>
              <a:uLnTx/>
              <a:uFillTx/>
              <a:latin typeface="Calibri Light" panose="020F0302020204030204"/>
              <a:ea typeface="+mj-ea"/>
              <a:cs typeface="+mj-cs"/>
            </a:endParaRPr>
          </a:p>
        </p:txBody>
      </p:sp>
      <p:sp>
        <p:nvSpPr>
          <p:cNvPr id="3" name="TextBox 2">
            <a:extLst>
              <a:ext uri="{FF2B5EF4-FFF2-40B4-BE49-F238E27FC236}">
                <a16:creationId xmlns:a16="http://schemas.microsoft.com/office/drawing/2014/main" id="{63AFA5A4-564A-9E30-DA38-D42708B2BC3E}"/>
              </a:ext>
            </a:extLst>
          </p:cNvPr>
          <p:cNvSpPr txBox="1"/>
          <p:nvPr/>
        </p:nvSpPr>
        <p:spPr>
          <a:xfrm>
            <a:off x="918713" y="878190"/>
            <a:ext cx="10617679" cy="1077218"/>
          </a:xfrm>
          <a:prstGeom prst="rect">
            <a:avLst/>
          </a:prstGeom>
          <a:noFill/>
        </p:spPr>
        <p:txBody>
          <a:bodyPr wrap="square">
            <a:spAutoFit/>
          </a:bodyPr>
          <a:lstStyle/>
          <a:p>
            <a:pPr>
              <a:defRPr/>
            </a:pPr>
            <a:r>
              <a:rPr lang="en-US" sz="3200" b="1" dirty="0">
                <a:latin typeface="Calibri Light" panose="020F0302020204030204"/>
              </a:rPr>
              <a:t>97% of climate scientists agree humans are causing climate change but about 40% of the public disagrees.</a:t>
            </a:r>
          </a:p>
        </p:txBody>
      </p:sp>
      <p:sp>
        <p:nvSpPr>
          <p:cNvPr id="10" name="Title 1">
            <a:extLst>
              <a:ext uri="{FF2B5EF4-FFF2-40B4-BE49-F238E27FC236}">
                <a16:creationId xmlns:a16="http://schemas.microsoft.com/office/drawing/2014/main" id="{9B532FD5-B772-E0B3-CB54-DA43C35DF315}"/>
              </a:ext>
            </a:extLst>
          </p:cNvPr>
          <p:cNvSpPr txBox="1">
            <a:spLocks/>
          </p:cNvSpPr>
          <p:nvPr/>
        </p:nvSpPr>
        <p:spPr>
          <a:xfrm>
            <a:off x="838200" y="4825016"/>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3200" b="1" dirty="0">
                <a:latin typeface="Calibri Light" panose="020F0302020204030204"/>
              </a:rPr>
              <a:t>Most b</a:t>
            </a:r>
            <a:r>
              <a:rPr lang="en-US" sz="3200" b="1" dirty="0" err="1">
                <a:latin typeface="Calibri Light" panose="020F0302020204030204"/>
              </a:rPr>
              <a:t>iologists</a:t>
            </a:r>
            <a:r>
              <a:rPr lang="en-US" sz="3200" b="1" dirty="0">
                <a:latin typeface="Calibri Light" panose="020F0302020204030204"/>
              </a:rPr>
              <a:t> regard vaccines as the greatest public health achievement from science, many people are skeptical.</a:t>
            </a:r>
          </a:p>
        </p:txBody>
      </p:sp>
    </p:spTree>
    <p:extLst>
      <p:ext uri="{BB962C8B-B14F-4D97-AF65-F5344CB8AC3E}">
        <p14:creationId xmlns:p14="http://schemas.microsoft.com/office/powerpoint/2010/main" val="105397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9502-FCC8-8E2D-9A80-BAD6CCF6739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A0AB19-A679-04A4-0D8B-A491F5A4EDDF}"/>
              </a:ext>
            </a:extLst>
          </p:cNvPr>
          <p:cNvSpPr txBox="1"/>
          <p:nvPr/>
        </p:nvSpPr>
        <p:spPr>
          <a:xfrm>
            <a:off x="8802776" y="2939238"/>
            <a:ext cx="198109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evolution</a:t>
            </a:r>
            <a:endParaRPr kumimoji="0" lang="da-DK"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8283355-8BD1-7CA3-5FB9-36FA591CE159}"/>
              </a:ext>
            </a:extLst>
          </p:cNvPr>
          <p:cNvSpPr txBox="1"/>
          <p:nvPr/>
        </p:nvSpPr>
        <p:spPr>
          <a:xfrm>
            <a:off x="931325" y="3003449"/>
            <a:ext cx="2457896"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climate change</a:t>
            </a:r>
            <a:endParaRPr kumimoji="0" lang="da-DK"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2A9FE30-8A30-942D-7AFA-AC4D970E7F1B}"/>
              </a:ext>
            </a:extLst>
          </p:cNvPr>
          <p:cNvSpPr txBox="1"/>
          <p:nvPr/>
        </p:nvSpPr>
        <p:spPr>
          <a:xfrm>
            <a:off x="5331989" y="3003449"/>
            <a:ext cx="152801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vaccines</a:t>
            </a:r>
            <a:endParaRPr kumimoji="0" lang="da-DK"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825B267E-ACB8-4065-D9EE-2BD0D16DAD50}"/>
              </a:ext>
            </a:extLst>
          </p:cNvPr>
          <p:cNvPicPr>
            <a:picLocks noChangeAspect="1"/>
          </p:cNvPicPr>
          <p:nvPr/>
        </p:nvPicPr>
        <p:blipFill>
          <a:blip r:embed="rId2"/>
          <a:stretch>
            <a:fillRect/>
          </a:stretch>
        </p:blipFill>
        <p:spPr>
          <a:xfrm>
            <a:off x="8344028" y="3813043"/>
            <a:ext cx="3336229" cy="2968498"/>
          </a:xfrm>
          <a:prstGeom prst="rect">
            <a:avLst/>
          </a:prstGeom>
          <a:ln w="57150">
            <a:solidFill>
              <a:schemeClr val="bg1"/>
            </a:solidFill>
          </a:ln>
        </p:spPr>
      </p:pic>
      <p:pic>
        <p:nvPicPr>
          <p:cNvPr id="8" name="Picture 7">
            <a:extLst>
              <a:ext uri="{FF2B5EF4-FFF2-40B4-BE49-F238E27FC236}">
                <a16:creationId xmlns:a16="http://schemas.microsoft.com/office/drawing/2014/main" id="{F9DC3E1E-779E-F0A0-371D-21426CEB9411}"/>
              </a:ext>
            </a:extLst>
          </p:cNvPr>
          <p:cNvPicPr>
            <a:picLocks noChangeAspect="1"/>
          </p:cNvPicPr>
          <p:nvPr/>
        </p:nvPicPr>
        <p:blipFill rotWithShape="1">
          <a:blip r:embed="rId3"/>
          <a:srcRect l="15764" r="15320"/>
          <a:stretch/>
        </p:blipFill>
        <p:spPr>
          <a:xfrm>
            <a:off x="511744" y="3813043"/>
            <a:ext cx="3336229" cy="2720759"/>
          </a:xfrm>
          <a:prstGeom prst="rect">
            <a:avLst/>
          </a:prstGeom>
          <a:ln w="57150">
            <a:solidFill>
              <a:schemeClr val="bg1"/>
            </a:solidFill>
          </a:ln>
        </p:spPr>
      </p:pic>
      <p:pic>
        <p:nvPicPr>
          <p:cNvPr id="9" name="Picture 8">
            <a:extLst>
              <a:ext uri="{FF2B5EF4-FFF2-40B4-BE49-F238E27FC236}">
                <a16:creationId xmlns:a16="http://schemas.microsoft.com/office/drawing/2014/main" id="{9DAD5706-B7DE-D83B-3AB8-D9E9294E9A25}"/>
              </a:ext>
            </a:extLst>
          </p:cNvPr>
          <p:cNvPicPr>
            <a:picLocks noChangeAspect="1"/>
          </p:cNvPicPr>
          <p:nvPr/>
        </p:nvPicPr>
        <p:blipFill rotWithShape="1">
          <a:blip r:embed="rId4"/>
          <a:srcRect l="18023" r="23812" b="36847"/>
          <a:stretch>
            <a:fillRect/>
          </a:stretch>
        </p:blipFill>
        <p:spPr>
          <a:xfrm>
            <a:off x="5087340" y="3813043"/>
            <a:ext cx="2216076" cy="1804594"/>
          </a:xfrm>
          <a:prstGeom prst="rect">
            <a:avLst/>
          </a:prstGeom>
          <a:ln w="57150">
            <a:solidFill>
              <a:schemeClr val="bg1"/>
            </a:solidFill>
          </a:ln>
        </p:spPr>
      </p:pic>
      <p:sp>
        <p:nvSpPr>
          <p:cNvPr id="2" name="Title 1">
            <a:extLst>
              <a:ext uri="{FF2B5EF4-FFF2-40B4-BE49-F238E27FC236}">
                <a16:creationId xmlns:a16="http://schemas.microsoft.com/office/drawing/2014/main" id="{5B949FA2-E310-3C30-C38C-94F76E7D099B}"/>
              </a:ext>
            </a:extLst>
          </p:cNvPr>
          <p:cNvSpPr>
            <a:spLocks noGrp="1"/>
          </p:cNvSpPr>
          <p:nvPr>
            <p:ph type="title"/>
          </p:nvPr>
        </p:nvSpPr>
        <p:spPr>
          <a:xfrm>
            <a:off x="384000" y="441899"/>
            <a:ext cx="11673833" cy="645447"/>
          </a:xfrm>
        </p:spPr>
        <p:txBody>
          <a:bodyPr>
            <a:noAutofit/>
          </a:bodyPr>
          <a:lstStyle/>
          <a:p>
            <a:pPr algn="ctr"/>
            <a:r>
              <a:rPr lang="en-US" sz="3600" dirty="0">
                <a:effectLst/>
                <a:latin typeface="Calibri" panose="020F0502020204030204" pitchFamily="34" charset="0"/>
                <a:ea typeface="Calibri" panose="020F0502020204030204" pitchFamily="34" charset="0"/>
                <a:cs typeface="Calibri" panose="020F0502020204030204" pitchFamily="34" charset="0"/>
              </a:rPr>
              <a:t>What causes rejection of scientifically valid information?</a:t>
            </a:r>
          </a:p>
        </p:txBody>
      </p:sp>
      <p:sp>
        <p:nvSpPr>
          <p:cNvPr id="10" name="Title 1">
            <a:extLst>
              <a:ext uri="{FF2B5EF4-FFF2-40B4-BE49-F238E27FC236}">
                <a16:creationId xmlns:a16="http://schemas.microsoft.com/office/drawing/2014/main" id="{E7DC8ADC-BD3F-59B5-419D-06E008E5291A}"/>
              </a:ext>
            </a:extLst>
          </p:cNvPr>
          <p:cNvSpPr txBox="1">
            <a:spLocks/>
          </p:cNvSpPr>
          <p:nvPr/>
        </p:nvSpPr>
        <p:spPr>
          <a:xfrm>
            <a:off x="2517141" y="1198855"/>
            <a:ext cx="7157714" cy="8652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b="1" dirty="0">
                <a:latin typeface="Calibri" panose="020F0502020204030204" pitchFamily="34" charset="0"/>
                <a:ea typeface="Calibri" panose="020F0502020204030204" pitchFamily="34" charset="0"/>
                <a:cs typeface="Calibri" panose="020F0502020204030204" pitchFamily="34" charset="0"/>
              </a:rPr>
              <a:t>Think on your own and w</a:t>
            </a:r>
            <a:r>
              <a:rPr kumimoji="0" lang="en-US" sz="28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rite down ideas in your notes</a:t>
            </a:r>
          </a:p>
        </p:txBody>
      </p:sp>
      <p:sp>
        <p:nvSpPr>
          <p:cNvPr id="11" name="Star: 5 Points 10">
            <a:extLst>
              <a:ext uri="{FF2B5EF4-FFF2-40B4-BE49-F238E27FC236}">
                <a16:creationId xmlns:a16="http://schemas.microsoft.com/office/drawing/2014/main" id="{AF2206AE-9E22-D2A3-7260-7C0EC0E8C549}"/>
              </a:ext>
            </a:extLst>
          </p:cNvPr>
          <p:cNvSpPr/>
          <p:nvPr/>
        </p:nvSpPr>
        <p:spPr>
          <a:xfrm>
            <a:off x="1267403" y="1399715"/>
            <a:ext cx="1031939" cy="865230"/>
          </a:xfrm>
          <a:prstGeom prst="star5">
            <a:avLst/>
          </a:prstGeom>
          <a:solidFill>
            <a:srgbClr val="C00000"/>
          </a:solidFill>
          <a:ln w="38100" cap="flat" cmpd="sng" algn="ctr">
            <a:solidFill>
              <a:sysClr val="windowText" lastClr="000000">
                <a:lumMod val="95000"/>
                <a:lumOff val="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w="76200">
                <a:solidFill>
                  <a:prstClr val="white"/>
                </a:solidFill>
              </a:ln>
              <a:solidFill>
                <a:prstClr val="white"/>
              </a:solidFill>
              <a:effectLst/>
              <a:uLnTx/>
              <a:uFillTx/>
              <a:latin typeface="Palatino Linotype"/>
              <a:ea typeface="+mn-ea"/>
              <a:cs typeface="+mn-cs"/>
            </a:endParaRPr>
          </a:p>
        </p:txBody>
      </p:sp>
      <p:sp>
        <p:nvSpPr>
          <p:cNvPr id="12" name="TextBox 11">
            <a:extLst>
              <a:ext uri="{FF2B5EF4-FFF2-40B4-BE49-F238E27FC236}">
                <a16:creationId xmlns:a16="http://schemas.microsoft.com/office/drawing/2014/main" id="{9CD3DB37-B1F9-3096-4C5D-F7400D23788B}"/>
              </a:ext>
            </a:extLst>
          </p:cNvPr>
          <p:cNvSpPr txBox="1"/>
          <p:nvPr/>
        </p:nvSpPr>
        <p:spPr>
          <a:xfrm>
            <a:off x="2949387" y="2380131"/>
            <a:ext cx="6293222" cy="480131"/>
          </a:xfrm>
          <a:prstGeom prst="rect">
            <a:avLst/>
          </a:prstGeom>
          <a:noFill/>
        </p:spPr>
        <p:txBody>
          <a:bodyPr wrap="square">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Discuss in groups of 2 -3</a:t>
            </a:r>
          </a:p>
        </p:txBody>
      </p:sp>
    </p:spTree>
    <p:extLst>
      <p:ext uri="{BB962C8B-B14F-4D97-AF65-F5344CB8AC3E}">
        <p14:creationId xmlns:p14="http://schemas.microsoft.com/office/powerpoint/2010/main" val="1977411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34BED-A79B-3241-0DA7-E9ACC019199E}"/>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8DA25F8D-A770-97AA-FB7C-F2A46CFC0BB4}"/>
              </a:ext>
            </a:extLst>
          </p:cNvPr>
          <p:cNvSpPr>
            <a:spLocks noGrp="1"/>
          </p:cNvSpPr>
          <p:nvPr>
            <p:ph type="title"/>
          </p:nvPr>
        </p:nvSpPr>
        <p:spPr>
          <a:xfrm>
            <a:off x="384000" y="441899"/>
            <a:ext cx="11673833" cy="645447"/>
          </a:xfrm>
        </p:spPr>
        <p:txBody>
          <a:bodyPr>
            <a:noAutofit/>
          </a:bodyPr>
          <a:lstStyle/>
          <a:p>
            <a:pPr algn="ctr"/>
            <a:r>
              <a:rPr lang="en-US" sz="3200" b="1">
                <a:latin typeface="+mn-lt"/>
              </a:rPr>
              <a:t>What causes rejection of scientifically valid information?</a:t>
            </a:r>
          </a:p>
        </p:txBody>
      </p:sp>
      <p:sp>
        <p:nvSpPr>
          <p:cNvPr id="12" name="Title 1">
            <a:extLst>
              <a:ext uri="{FF2B5EF4-FFF2-40B4-BE49-F238E27FC236}">
                <a16:creationId xmlns:a16="http://schemas.microsoft.com/office/drawing/2014/main" id="{9B81F593-F1CA-523D-E8FD-AECA8321D5C1}"/>
              </a:ext>
            </a:extLst>
          </p:cNvPr>
          <p:cNvSpPr txBox="1">
            <a:spLocks/>
          </p:cNvSpPr>
          <p:nvPr/>
        </p:nvSpPr>
        <p:spPr>
          <a:xfrm>
            <a:off x="5983835" y="3771347"/>
            <a:ext cx="5712000" cy="64544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i="0" u="none" strike="noStrike" kern="1200" cap="none" spc="0" normalizeH="0" baseline="0" noProof="0">
                <a:ln>
                  <a:noFill/>
                </a:ln>
                <a:effectLst/>
                <a:uLnTx/>
                <a:uFillTx/>
                <a:latin typeface="Calibri" panose="020F0502020204030204"/>
                <a:ea typeface="+mj-ea"/>
                <a:cs typeface="+mj-cs"/>
              </a:rPr>
              <a:t>Perceived Identity Conflict</a:t>
            </a:r>
          </a:p>
        </p:txBody>
      </p:sp>
      <p:sp>
        <p:nvSpPr>
          <p:cNvPr id="13" name="Title 1">
            <a:extLst>
              <a:ext uri="{FF2B5EF4-FFF2-40B4-BE49-F238E27FC236}">
                <a16:creationId xmlns:a16="http://schemas.microsoft.com/office/drawing/2014/main" id="{61A491D8-D7F8-CABC-7FA4-5D8722DFFFC6}"/>
              </a:ext>
            </a:extLst>
          </p:cNvPr>
          <p:cNvSpPr txBox="1">
            <a:spLocks/>
          </p:cNvSpPr>
          <p:nvPr/>
        </p:nvSpPr>
        <p:spPr>
          <a:xfrm>
            <a:off x="384000" y="4686292"/>
            <a:ext cx="5712000" cy="64544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i="0" u="none" strike="noStrike" kern="1200" cap="none" spc="0" normalizeH="0" baseline="0" noProof="0">
                <a:ln>
                  <a:noFill/>
                </a:ln>
                <a:effectLst/>
                <a:uLnTx/>
                <a:uFillTx/>
                <a:latin typeface="Calibri" panose="020F0502020204030204"/>
                <a:ea typeface="+mj-ea"/>
                <a:cs typeface="+mj-cs"/>
              </a:rPr>
              <a:t>Unaware of Evidence</a:t>
            </a:r>
          </a:p>
        </p:txBody>
      </p:sp>
      <p:sp>
        <p:nvSpPr>
          <p:cNvPr id="14" name="Title 1">
            <a:extLst>
              <a:ext uri="{FF2B5EF4-FFF2-40B4-BE49-F238E27FC236}">
                <a16:creationId xmlns:a16="http://schemas.microsoft.com/office/drawing/2014/main" id="{946FA613-7A25-783E-F7FB-AE51B8CFAD9B}"/>
              </a:ext>
            </a:extLst>
          </p:cNvPr>
          <p:cNvSpPr txBox="1">
            <a:spLocks/>
          </p:cNvSpPr>
          <p:nvPr/>
        </p:nvSpPr>
        <p:spPr>
          <a:xfrm>
            <a:off x="384000" y="5870735"/>
            <a:ext cx="5712000" cy="64544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i="0" u="none" strike="noStrike" kern="1200" cap="none" spc="0" normalizeH="0" baseline="0" noProof="0">
                <a:ln>
                  <a:noFill/>
                </a:ln>
                <a:effectLst/>
                <a:uLnTx/>
                <a:uFillTx/>
                <a:latin typeface="Calibri" panose="020F0502020204030204"/>
                <a:ea typeface="+mj-ea"/>
                <a:cs typeface="+mj-cs"/>
              </a:rPr>
              <a:t>Unaware of Consensus</a:t>
            </a:r>
          </a:p>
        </p:txBody>
      </p:sp>
      <p:sp>
        <p:nvSpPr>
          <p:cNvPr id="15" name="Title 1">
            <a:extLst>
              <a:ext uri="{FF2B5EF4-FFF2-40B4-BE49-F238E27FC236}">
                <a16:creationId xmlns:a16="http://schemas.microsoft.com/office/drawing/2014/main" id="{E70858FF-377C-80FD-7655-542269EFCA53}"/>
              </a:ext>
            </a:extLst>
          </p:cNvPr>
          <p:cNvSpPr txBox="1">
            <a:spLocks/>
          </p:cNvSpPr>
          <p:nvPr/>
        </p:nvSpPr>
        <p:spPr>
          <a:xfrm>
            <a:off x="496165" y="1873983"/>
            <a:ext cx="5712000" cy="22843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i="0" u="none" strike="noStrike" kern="1200" cap="none" spc="0" normalizeH="0" baseline="0" noProof="0" dirty="0">
                <a:ln>
                  <a:noFill/>
                </a:ln>
                <a:effectLst/>
                <a:uLnTx/>
                <a:uFillTx/>
                <a:latin typeface="Calibri" panose="020F0502020204030204"/>
                <a:ea typeface="+mj-ea"/>
                <a:cs typeface="+mj-cs"/>
              </a:rPr>
              <a:t>Sociopolitical messaging from:</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200" i="0" u="none" strike="noStrike" kern="1200" cap="none" spc="0" normalizeH="0" baseline="0" noProof="0" dirty="0">
              <a:ln>
                <a:noFill/>
              </a:ln>
              <a:effectLst/>
              <a:uLnTx/>
              <a:uFillTx/>
              <a:latin typeface="Calibri" panose="020F0502020204030204"/>
              <a:ea typeface="+mj-ea"/>
              <a:cs typeface="+mj-cs"/>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i="0" u="none" strike="noStrike" kern="1200" cap="none" spc="0" normalizeH="0" baseline="0" noProof="0" dirty="0">
                <a:ln>
                  <a:noFill/>
                </a:ln>
                <a:effectLst/>
                <a:uLnTx/>
                <a:uFillTx/>
                <a:latin typeface="Calibri" panose="020F0502020204030204"/>
                <a:ea typeface="+mj-ea"/>
                <a:cs typeface="+mj-cs"/>
              </a:rPr>
              <a:t>Organizations</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200" i="0" u="none" strike="noStrike" kern="1200" cap="none" spc="0" normalizeH="0" baseline="0" noProof="0" dirty="0">
              <a:ln>
                <a:noFill/>
              </a:ln>
              <a:effectLst/>
              <a:uLnTx/>
              <a:uFillTx/>
              <a:latin typeface="Calibri" panose="020F0502020204030204"/>
              <a:ea typeface="+mj-ea"/>
              <a:cs typeface="+mj-cs"/>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i="0" u="none" strike="noStrike" kern="1200" cap="none" spc="0" normalizeH="0" baseline="0" noProof="0" dirty="0">
                <a:ln>
                  <a:noFill/>
                </a:ln>
                <a:effectLst/>
                <a:uLnTx/>
                <a:uFillTx/>
                <a:latin typeface="Calibri" panose="020F0502020204030204"/>
                <a:ea typeface="+mj-ea"/>
                <a:cs typeface="+mj-cs"/>
              </a:rPr>
              <a:t>Politicians</a:t>
            </a:r>
          </a:p>
        </p:txBody>
      </p:sp>
      <p:sp>
        <p:nvSpPr>
          <p:cNvPr id="16" name="Title 1">
            <a:extLst>
              <a:ext uri="{FF2B5EF4-FFF2-40B4-BE49-F238E27FC236}">
                <a16:creationId xmlns:a16="http://schemas.microsoft.com/office/drawing/2014/main" id="{9AC90595-CE46-BE6F-02AA-D4AF0863B7DA}"/>
              </a:ext>
            </a:extLst>
          </p:cNvPr>
          <p:cNvSpPr txBox="1">
            <a:spLocks/>
          </p:cNvSpPr>
          <p:nvPr/>
        </p:nvSpPr>
        <p:spPr>
          <a:xfrm>
            <a:off x="5983835" y="2699691"/>
            <a:ext cx="5712000" cy="64544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i="0" u="none" strike="noStrike" kern="1200" cap="none" spc="0" normalizeH="0" baseline="0" noProof="0">
                <a:ln>
                  <a:noFill/>
                </a:ln>
                <a:effectLst/>
                <a:uLnTx/>
                <a:uFillTx/>
                <a:latin typeface="Calibri" panose="020F0502020204030204"/>
                <a:ea typeface="+mj-ea"/>
                <a:cs typeface="+mj-cs"/>
              </a:rPr>
              <a:t>Experiences of discrimination</a:t>
            </a:r>
          </a:p>
        </p:txBody>
      </p:sp>
      <p:sp>
        <p:nvSpPr>
          <p:cNvPr id="17" name="Title 1">
            <a:extLst>
              <a:ext uri="{FF2B5EF4-FFF2-40B4-BE49-F238E27FC236}">
                <a16:creationId xmlns:a16="http://schemas.microsoft.com/office/drawing/2014/main" id="{7BFC7558-1E34-8A9A-92B8-1F607EBC8B96}"/>
              </a:ext>
            </a:extLst>
          </p:cNvPr>
          <p:cNvSpPr txBox="1">
            <a:spLocks/>
          </p:cNvSpPr>
          <p:nvPr/>
        </p:nvSpPr>
        <p:spPr>
          <a:xfrm>
            <a:off x="6096000" y="5009015"/>
            <a:ext cx="5712000" cy="98603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b="1" i="0" u="sng" strike="noStrike" kern="1200" cap="none" spc="0" normalizeH="0" baseline="0" noProof="0" dirty="0">
                <a:ln>
                  <a:noFill/>
                </a:ln>
                <a:effectLst/>
                <a:uLnTx/>
                <a:uFillTx/>
                <a:latin typeface="Calibri" panose="020F0502020204030204"/>
                <a:ea typeface="+mj-ea"/>
                <a:cs typeface="+mj-cs"/>
              </a:rPr>
              <a:t>Poor public communication from scientists</a:t>
            </a:r>
          </a:p>
        </p:txBody>
      </p:sp>
    </p:spTree>
    <p:extLst>
      <p:ext uri="{BB962C8B-B14F-4D97-AF65-F5344CB8AC3E}">
        <p14:creationId xmlns:p14="http://schemas.microsoft.com/office/powerpoint/2010/main" val="211126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A6472-ED63-A88A-C628-CABB7094B170}"/>
              </a:ext>
            </a:extLst>
          </p:cNvPr>
          <p:cNvSpPr>
            <a:spLocks noGrp="1"/>
          </p:cNvSpPr>
          <p:nvPr>
            <p:ph type="title"/>
          </p:nvPr>
        </p:nvSpPr>
        <p:spPr>
          <a:xfrm>
            <a:off x="2094985" y="150943"/>
            <a:ext cx="7886700" cy="1325563"/>
          </a:xfrm>
        </p:spPr>
        <p:txBody>
          <a:bodyPr>
            <a:normAutofit fontScale="90000"/>
          </a:bodyPr>
          <a:lstStyle/>
          <a:p>
            <a:r>
              <a:rPr lang="en-US" dirty="0"/>
              <a:t>Example of </a:t>
            </a:r>
            <a:r>
              <a:rPr lang="en-US" u="sng" dirty="0">
                <a:solidFill>
                  <a:srgbClr val="FF0000"/>
                </a:solidFill>
              </a:rPr>
              <a:t>bad</a:t>
            </a:r>
            <a:r>
              <a:rPr lang="en-US" dirty="0">
                <a:solidFill>
                  <a:srgbClr val="FF0000"/>
                </a:solidFill>
              </a:rPr>
              <a:t> science communication </a:t>
            </a:r>
            <a:r>
              <a:rPr lang="en-US" dirty="0"/>
              <a:t>about a culturally controversial science topic</a:t>
            </a:r>
          </a:p>
        </p:txBody>
      </p:sp>
      <p:sp>
        <p:nvSpPr>
          <p:cNvPr id="3" name="Content Placeholder 2">
            <a:extLst>
              <a:ext uri="{FF2B5EF4-FFF2-40B4-BE49-F238E27FC236}">
                <a16:creationId xmlns:a16="http://schemas.microsoft.com/office/drawing/2014/main" id="{83FB4331-690A-89A0-9D0B-C5B6E4C03148}"/>
              </a:ext>
            </a:extLst>
          </p:cNvPr>
          <p:cNvSpPr>
            <a:spLocks noGrp="1"/>
          </p:cNvSpPr>
          <p:nvPr>
            <p:ph idx="1"/>
          </p:nvPr>
        </p:nvSpPr>
        <p:spPr>
          <a:xfrm>
            <a:off x="1830972" y="1787147"/>
            <a:ext cx="4133223" cy="3894565"/>
          </a:xfrm>
        </p:spPr>
        <p:txBody>
          <a:bodyPr>
            <a:normAutofit/>
          </a:bodyPr>
          <a:lstStyle/>
          <a:p>
            <a:pPr marL="0" indent="0">
              <a:lnSpc>
                <a:spcPct val="100000"/>
              </a:lnSpc>
              <a:spcBef>
                <a:spcPts val="0"/>
              </a:spcBef>
              <a:buNone/>
              <a:defRPr/>
            </a:pPr>
            <a:r>
              <a:rPr lang="en-US" sz="2000" dirty="0">
                <a:solidFill>
                  <a:schemeClr val="bg1"/>
                </a:solidFill>
                <a:latin typeface="Calibri" panose="020F0502020204030204"/>
              </a:rPr>
              <a:t>Richard Dawkins – evolutionary biologist and former oxford chair for the public understanding of science</a:t>
            </a:r>
          </a:p>
          <a:p>
            <a:pPr marL="0" indent="0">
              <a:lnSpc>
                <a:spcPct val="100000"/>
              </a:lnSpc>
              <a:spcBef>
                <a:spcPts val="0"/>
              </a:spcBef>
              <a:buNone/>
              <a:defRPr/>
            </a:pPr>
            <a:endParaRPr lang="en-US" sz="2000" dirty="0">
              <a:solidFill>
                <a:schemeClr val="bg1"/>
              </a:solidFill>
              <a:latin typeface="Calibri" panose="020F0502020204030204"/>
            </a:endParaRPr>
          </a:p>
          <a:p>
            <a:pPr marL="0" indent="0">
              <a:lnSpc>
                <a:spcPct val="100000"/>
              </a:lnSpc>
              <a:spcBef>
                <a:spcPts val="0"/>
              </a:spcBef>
              <a:buNone/>
              <a:defRPr/>
            </a:pPr>
            <a:r>
              <a:rPr lang="en-US" sz="2000" dirty="0">
                <a:solidFill>
                  <a:schemeClr val="bg1"/>
                </a:solidFill>
                <a:latin typeface="Calibri" panose="020F0502020204030204"/>
              </a:rPr>
              <a:t>Not a good communicator about controversial science topics</a:t>
            </a:r>
          </a:p>
          <a:p>
            <a:pPr marL="0" indent="0">
              <a:lnSpc>
                <a:spcPct val="100000"/>
              </a:lnSpc>
              <a:spcBef>
                <a:spcPts val="0"/>
              </a:spcBef>
              <a:buNone/>
              <a:defRPr/>
            </a:pPr>
            <a:endParaRPr lang="en-US" sz="2000" dirty="0">
              <a:solidFill>
                <a:schemeClr val="bg1"/>
              </a:solidFill>
              <a:latin typeface="Calibri" panose="020F0502020204030204"/>
            </a:endParaRPr>
          </a:p>
          <a:p>
            <a:pPr marL="0" indent="0">
              <a:lnSpc>
                <a:spcPct val="100000"/>
              </a:lnSpc>
              <a:spcBef>
                <a:spcPts val="0"/>
              </a:spcBef>
              <a:buNone/>
              <a:defRPr/>
            </a:pPr>
            <a:r>
              <a:rPr lang="en-US" sz="2000" dirty="0">
                <a:solidFill>
                  <a:schemeClr val="bg1"/>
                </a:solidFill>
                <a:latin typeface="Calibri" panose="020F0502020204030204"/>
              </a:rPr>
              <a:t>Studies show religious folks who know about him are less likely to accept evolution than those that don’t know him and his views</a:t>
            </a:r>
          </a:p>
        </p:txBody>
      </p:sp>
      <p:pic>
        <p:nvPicPr>
          <p:cNvPr id="4" name="Picture 3">
            <a:extLst>
              <a:ext uri="{FF2B5EF4-FFF2-40B4-BE49-F238E27FC236}">
                <a16:creationId xmlns:a16="http://schemas.microsoft.com/office/drawing/2014/main" id="{F372232C-4840-7586-A90D-BEB7EF7BA3C1}"/>
              </a:ext>
            </a:extLst>
          </p:cNvPr>
          <p:cNvPicPr>
            <a:picLocks noChangeAspect="1"/>
          </p:cNvPicPr>
          <p:nvPr/>
        </p:nvPicPr>
        <p:blipFill>
          <a:blip r:embed="rId3"/>
          <a:stretch>
            <a:fillRect/>
          </a:stretch>
        </p:blipFill>
        <p:spPr>
          <a:xfrm>
            <a:off x="6227808" y="2063347"/>
            <a:ext cx="3793606" cy="2973859"/>
          </a:xfrm>
          <a:prstGeom prst="rect">
            <a:avLst/>
          </a:prstGeom>
        </p:spPr>
      </p:pic>
      <p:sp>
        <p:nvSpPr>
          <p:cNvPr id="5" name="Title 1">
            <a:extLst>
              <a:ext uri="{FF2B5EF4-FFF2-40B4-BE49-F238E27FC236}">
                <a16:creationId xmlns:a16="http://schemas.microsoft.com/office/drawing/2014/main" id="{6B047F23-D638-9B5C-6C65-7F6D49A4E300}"/>
              </a:ext>
            </a:extLst>
          </p:cNvPr>
          <p:cNvSpPr txBox="1">
            <a:spLocks/>
          </p:cNvSpPr>
          <p:nvPr/>
        </p:nvSpPr>
        <p:spPr>
          <a:xfrm>
            <a:off x="2020844" y="5681712"/>
            <a:ext cx="7886700" cy="842657"/>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400" dirty="0">
                <a:solidFill>
                  <a:prstClr val="white"/>
                </a:solidFill>
                <a:latin typeface="Arial"/>
              </a:rPr>
              <a:t>As an atheist, he needs to establish </a:t>
            </a:r>
            <a:r>
              <a:rPr lang="en-US" sz="2400" b="1" u="sng" dirty="0">
                <a:solidFill>
                  <a:prstClr val="white"/>
                </a:solidFill>
                <a:latin typeface="Arial"/>
              </a:rPr>
              <a:t>cultural competence </a:t>
            </a:r>
            <a:r>
              <a:rPr lang="en-US" sz="2400" dirty="0">
                <a:solidFill>
                  <a:prstClr val="white"/>
                </a:solidFill>
                <a:latin typeface="Arial"/>
              </a:rPr>
              <a:t>with religious groups</a:t>
            </a:r>
          </a:p>
        </p:txBody>
      </p:sp>
    </p:spTree>
    <p:extLst>
      <p:ext uri="{BB962C8B-B14F-4D97-AF65-F5344CB8AC3E}">
        <p14:creationId xmlns:p14="http://schemas.microsoft.com/office/powerpoint/2010/main" val="3430589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BECD3-3C32-E848-8FF8-D3D0E0783213}"/>
              </a:ext>
            </a:extLst>
          </p:cNvPr>
          <p:cNvSpPr>
            <a:spLocks noGrp="1"/>
          </p:cNvSpPr>
          <p:nvPr>
            <p:ph type="title"/>
          </p:nvPr>
        </p:nvSpPr>
        <p:spPr>
          <a:xfrm>
            <a:off x="935915" y="403475"/>
            <a:ext cx="10417885" cy="800100"/>
          </a:xfrm>
        </p:spPr>
        <p:txBody>
          <a:bodyPr vert="horz" lIns="68580" tIns="34290" rIns="68580" bIns="34290" rtlCol="0" anchor="ctr">
            <a:normAutofit/>
          </a:bodyPr>
          <a:lstStyle/>
          <a:p>
            <a:pPr algn="ctr"/>
            <a:r>
              <a:rPr lang="en-US" sz="2400" b="1" dirty="0"/>
              <a:t>Potential roles of scientists, science educators, healthcare providers in communication about controversial science topics</a:t>
            </a:r>
          </a:p>
        </p:txBody>
      </p:sp>
      <p:sp>
        <p:nvSpPr>
          <p:cNvPr id="4" name="Slide Number Placeholder 3">
            <a:extLst>
              <a:ext uri="{FF2B5EF4-FFF2-40B4-BE49-F238E27FC236}">
                <a16:creationId xmlns:a16="http://schemas.microsoft.com/office/drawing/2014/main" id="{132AF57D-9A10-C857-A9E6-6297C8A83231}"/>
              </a:ext>
            </a:extLst>
          </p:cNvPr>
          <p:cNvSpPr>
            <a:spLocks noGrp="1"/>
          </p:cNvSpPr>
          <p:nvPr>
            <p:ph type="sldNum" sz="quarter" idx="12"/>
          </p:nvPr>
        </p:nvSpPr>
        <p:spPr/>
        <p:txBody>
          <a:bodyPr/>
          <a:lstStyle/>
          <a:p>
            <a:pPr defTabSz="685800">
              <a:defRPr/>
            </a:pPr>
            <a:fld id="{0F492775-901C-A746-B0D4-8A37744C9ECC}" type="slidenum">
              <a:rPr lang="en-US" sz="900">
                <a:solidFill>
                  <a:prstClr val="black">
                    <a:tint val="75000"/>
                  </a:prstClr>
                </a:solidFill>
                <a:latin typeface="Calibri" panose="020F0502020204030204"/>
              </a:rPr>
              <a:pPr defTabSz="685800">
                <a:defRPr/>
              </a:pPr>
              <a:t>12</a:t>
            </a:fld>
            <a:endParaRPr lang="en-US" sz="900">
              <a:solidFill>
                <a:prstClr val="black">
                  <a:tint val="75000"/>
                </a:prstClr>
              </a:solidFill>
              <a:latin typeface="Calibri" panose="020F0502020204030204"/>
            </a:endParaRPr>
          </a:p>
        </p:txBody>
      </p:sp>
      <p:sp>
        <p:nvSpPr>
          <p:cNvPr id="6" name="TextBox 5">
            <a:extLst>
              <a:ext uri="{FF2B5EF4-FFF2-40B4-BE49-F238E27FC236}">
                <a16:creationId xmlns:a16="http://schemas.microsoft.com/office/drawing/2014/main" id="{8219BD58-2D99-774F-8D68-B98131C8ADAC}"/>
              </a:ext>
            </a:extLst>
          </p:cNvPr>
          <p:cNvSpPr txBox="1"/>
          <p:nvPr/>
        </p:nvSpPr>
        <p:spPr>
          <a:xfrm>
            <a:off x="1846561" y="1642668"/>
            <a:ext cx="3663035" cy="1153649"/>
          </a:xfrm>
          <a:prstGeom prst="rect">
            <a:avLst/>
          </a:prstGeom>
          <a:noFill/>
        </p:spPr>
        <p:txBody>
          <a:bodyPr wrap="square">
            <a:spAutoFit/>
          </a:bodyPr>
          <a:lstStyle/>
          <a:p>
            <a:pPr algn="ctr" defTabSz="685800">
              <a:lnSpc>
                <a:spcPct val="90000"/>
              </a:lnSpc>
              <a:spcAft>
                <a:spcPts val="450"/>
              </a:spcAft>
              <a:defRPr/>
            </a:pPr>
            <a:r>
              <a:rPr lang="en-US" b="1" dirty="0">
                <a:solidFill>
                  <a:srgbClr val="FFFF00"/>
                </a:solidFill>
                <a:latin typeface="Calibri" panose="020F0502020204030204"/>
              </a:rPr>
              <a:t>Cultural competence </a:t>
            </a:r>
          </a:p>
          <a:p>
            <a:pPr algn="ctr" defTabSz="685800">
              <a:lnSpc>
                <a:spcPct val="90000"/>
              </a:lnSpc>
              <a:spcAft>
                <a:spcPts val="450"/>
              </a:spcAft>
              <a:defRPr/>
            </a:pPr>
            <a:r>
              <a:rPr lang="en-US" dirty="0">
                <a:solidFill>
                  <a:srgbClr val="FFFFFF"/>
                </a:solidFill>
                <a:latin typeface="Calibri" panose="020F0502020204030204"/>
              </a:rPr>
              <a:t>The ability of people from one culture to communicate with people from another culture </a:t>
            </a:r>
          </a:p>
        </p:txBody>
      </p:sp>
      <p:sp>
        <p:nvSpPr>
          <p:cNvPr id="8" name="TextBox 7">
            <a:extLst>
              <a:ext uri="{FF2B5EF4-FFF2-40B4-BE49-F238E27FC236}">
                <a16:creationId xmlns:a16="http://schemas.microsoft.com/office/drawing/2014/main" id="{C4B7F7E7-9AB0-C343-8DA2-C33AE35C7AF1}"/>
              </a:ext>
            </a:extLst>
          </p:cNvPr>
          <p:cNvSpPr txBox="1"/>
          <p:nvPr/>
        </p:nvSpPr>
        <p:spPr>
          <a:xfrm>
            <a:off x="6376316" y="1632728"/>
            <a:ext cx="3663035" cy="1153649"/>
          </a:xfrm>
          <a:prstGeom prst="rect">
            <a:avLst/>
          </a:prstGeom>
          <a:noFill/>
        </p:spPr>
        <p:txBody>
          <a:bodyPr wrap="square">
            <a:spAutoFit/>
          </a:bodyPr>
          <a:lstStyle/>
          <a:p>
            <a:pPr algn="ctr" defTabSz="685800">
              <a:lnSpc>
                <a:spcPct val="90000"/>
              </a:lnSpc>
              <a:spcAft>
                <a:spcPts val="450"/>
              </a:spcAft>
              <a:defRPr/>
            </a:pPr>
            <a:r>
              <a:rPr lang="en-US" b="1" dirty="0">
                <a:solidFill>
                  <a:srgbClr val="FFFF00"/>
                </a:solidFill>
                <a:latin typeface="Calibri" panose="020F0502020204030204"/>
              </a:rPr>
              <a:t>Boundary spanning </a:t>
            </a:r>
          </a:p>
          <a:p>
            <a:pPr algn="ctr" defTabSz="685800">
              <a:lnSpc>
                <a:spcPct val="90000"/>
              </a:lnSpc>
              <a:spcAft>
                <a:spcPts val="450"/>
              </a:spcAft>
              <a:defRPr/>
            </a:pPr>
            <a:r>
              <a:rPr lang="en-US" dirty="0">
                <a:solidFill>
                  <a:srgbClr val="FFFFFF"/>
                </a:solidFill>
                <a:latin typeface="Calibri" panose="020F0502020204030204"/>
              </a:rPr>
              <a:t>The ability to effectively communicate information between groups due to a shared culture</a:t>
            </a:r>
          </a:p>
        </p:txBody>
      </p:sp>
      <p:pic>
        <p:nvPicPr>
          <p:cNvPr id="5" name="Picture 4">
            <a:extLst>
              <a:ext uri="{FF2B5EF4-FFF2-40B4-BE49-F238E27FC236}">
                <a16:creationId xmlns:a16="http://schemas.microsoft.com/office/drawing/2014/main" id="{E860EE8F-5389-DCD4-0FDC-C47151F628D9}"/>
              </a:ext>
            </a:extLst>
          </p:cNvPr>
          <p:cNvPicPr>
            <a:picLocks noChangeAspect="1"/>
          </p:cNvPicPr>
          <p:nvPr/>
        </p:nvPicPr>
        <p:blipFill rotWithShape="1">
          <a:blip r:embed="rId3"/>
          <a:srcRect l="-1" r="64101"/>
          <a:stretch/>
        </p:blipFill>
        <p:spPr>
          <a:xfrm>
            <a:off x="2452593" y="3034422"/>
            <a:ext cx="2450968" cy="2273259"/>
          </a:xfrm>
          <a:prstGeom prst="rect">
            <a:avLst/>
          </a:prstGeom>
        </p:spPr>
      </p:pic>
      <p:pic>
        <p:nvPicPr>
          <p:cNvPr id="7" name="Picture 6">
            <a:extLst>
              <a:ext uri="{FF2B5EF4-FFF2-40B4-BE49-F238E27FC236}">
                <a16:creationId xmlns:a16="http://schemas.microsoft.com/office/drawing/2014/main" id="{D5EA162D-5FF5-62A8-B4F4-4C852B4B9739}"/>
              </a:ext>
            </a:extLst>
          </p:cNvPr>
          <p:cNvPicPr>
            <a:picLocks noChangeAspect="1"/>
          </p:cNvPicPr>
          <p:nvPr/>
        </p:nvPicPr>
        <p:blipFill>
          <a:blip r:embed="rId4"/>
          <a:stretch>
            <a:fillRect/>
          </a:stretch>
        </p:blipFill>
        <p:spPr>
          <a:xfrm>
            <a:off x="7053626" y="3033676"/>
            <a:ext cx="2450804" cy="2274005"/>
          </a:xfrm>
          <a:prstGeom prst="rect">
            <a:avLst/>
          </a:prstGeom>
        </p:spPr>
      </p:pic>
      <p:sp>
        <p:nvSpPr>
          <p:cNvPr id="10" name="TextBox 9">
            <a:extLst>
              <a:ext uri="{FF2B5EF4-FFF2-40B4-BE49-F238E27FC236}">
                <a16:creationId xmlns:a16="http://schemas.microsoft.com/office/drawing/2014/main" id="{A98CD474-B8D9-44D0-EB2E-6872A0A29627}"/>
              </a:ext>
            </a:extLst>
          </p:cNvPr>
          <p:cNvSpPr txBox="1"/>
          <p:nvPr/>
        </p:nvSpPr>
        <p:spPr>
          <a:xfrm>
            <a:off x="1996535" y="5382649"/>
            <a:ext cx="3379561" cy="1089529"/>
          </a:xfrm>
          <a:prstGeom prst="rect">
            <a:avLst/>
          </a:prstGeom>
          <a:noFill/>
        </p:spPr>
        <p:txBody>
          <a:bodyPr wrap="square">
            <a:spAutoFit/>
          </a:bodyPr>
          <a:lstStyle/>
          <a:p>
            <a:pPr algn="ctr" defTabSz="685800">
              <a:lnSpc>
                <a:spcPct val="90000"/>
              </a:lnSpc>
              <a:spcAft>
                <a:spcPts val="450"/>
              </a:spcAft>
              <a:defRPr/>
            </a:pPr>
            <a:r>
              <a:rPr lang="en-US" dirty="0">
                <a:solidFill>
                  <a:srgbClr val="FFFFFF"/>
                </a:solidFill>
                <a:latin typeface="Calibri" panose="020F0502020204030204"/>
              </a:rPr>
              <a:t>Scientists who are from different cultures or worldviews than their audience should aim to be culturally competent</a:t>
            </a:r>
          </a:p>
        </p:txBody>
      </p:sp>
      <p:sp>
        <p:nvSpPr>
          <p:cNvPr id="12" name="TextBox 11">
            <a:extLst>
              <a:ext uri="{FF2B5EF4-FFF2-40B4-BE49-F238E27FC236}">
                <a16:creationId xmlns:a16="http://schemas.microsoft.com/office/drawing/2014/main" id="{B6A1F5E0-B452-6587-7062-7060718C47F8}"/>
              </a:ext>
            </a:extLst>
          </p:cNvPr>
          <p:cNvSpPr txBox="1"/>
          <p:nvPr/>
        </p:nvSpPr>
        <p:spPr>
          <a:xfrm>
            <a:off x="6479028" y="5382648"/>
            <a:ext cx="3732914" cy="1338828"/>
          </a:xfrm>
          <a:prstGeom prst="rect">
            <a:avLst/>
          </a:prstGeom>
          <a:noFill/>
        </p:spPr>
        <p:txBody>
          <a:bodyPr wrap="square">
            <a:spAutoFit/>
          </a:bodyPr>
          <a:lstStyle/>
          <a:p>
            <a:pPr algn="ctr" defTabSz="685800">
              <a:lnSpc>
                <a:spcPct val="90000"/>
              </a:lnSpc>
              <a:spcAft>
                <a:spcPts val="450"/>
              </a:spcAft>
              <a:defRPr/>
            </a:pPr>
            <a:r>
              <a:rPr lang="en-US" dirty="0">
                <a:solidFill>
                  <a:srgbClr val="FFFFFF"/>
                </a:solidFill>
                <a:latin typeface="Calibri" panose="020F0502020204030204"/>
              </a:rPr>
              <a:t>Scientists who belong to communities who have tension with science can serve as boundary spanners between the scientific community and their home community.</a:t>
            </a:r>
          </a:p>
        </p:txBody>
      </p:sp>
    </p:spTree>
    <p:extLst>
      <p:ext uri="{BB962C8B-B14F-4D97-AF65-F5344CB8AC3E}">
        <p14:creationId xmlns:p14="http://schemas.microsoft.com/office/powerpoint/2010/main" val="147692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10"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BD31E00-143A-EC09-0870-589F8DBECF43}"/>
              </a:ext>
            </a:extLst>
          </p:cNvPr>
          <p:cNvSpPr>
            <a:spLocks noGrp="1"/>
          </p:cNvSpPr>
          <p:nvPr>
            <p:ph type="title"/>
          </p:nvPr>
        </p:nvSpPr>
        <p:spPr>
          <a:xfrm>
            <a:off x="1129552" y="145152"/>
            <a:ext cx="10155219" cy="1325563"/>
          </a:xfrm>
        </p:spPr>
        <p:txBody>
          <a:bodyPr>
            <a:normAutofit/>
          </a:bodyPr>
          <a:lstStyle/>
          <a:p>
            <a:r>
              <a:rPr lang="en-US" dirty="0"/>
              <a:t>Example of </a:t>
            </a:r>
            <a:r>
              <a:rPr lang="en-US" u="sng" dirty="0">
                <a:solidFill>
                  <a:schemeClr val="accent6"/>
                </a:solidFill>
              </a:rPr>
              <a:t>good</a:t>
            </a:r>
            <a:r>
              <a:rPr lang="en-US" dirty="0">
                <a:solidFill>
                  <a:schemeClr val="accent6"/>
                </a:solidFill>
              </a:rPr>
              <a:t> science communication </a:t>
            </a:r>
            <a:r>
              <a:rPr lang="en-US" dirty="0"/>
              <a:t>about culturally controversial science topics</a:t>
            </a:r>
          </a:p>
        </p:txBody>
      </p:sp>
      <p:pic>
        <p:nvPicPr>
          <p:cNvPr id="7" name="Picture 6">
            <a:extLst>
              <a:ext uri="{FF2B5EF4-FFF2-40B4-BE49-F238E27FC236}">
                <a16:creationId xmlns:a16="http://schemas.microsoft.com/office/drawing/2014/main" id="{19811317-4C08-21EC-8C78-C34CF6B69558}"/>
              </a:ext>
            </a:extLst>
          </p:cNvPr>
          <p:cNvPicPr>
            <a:picLocks noChangeAspect="1"/>
          </p:cNvPicPr>
          <p:nvPr/>
        </p:nvPicPr>
        <p:blipFill>
          <a:blip r:embed="rId3"/>
          <a:stretch>
            <a:fillRect/>
          </a:stretch>
        </p:blipFill>
        <p:spPr>
          <a:xfrm>
            <a:off x="5936254" y="2402813"/>
            <a:ext cx="4507155" cy="2227434"/>
          </a:xfrm>
          <a:prstGeom prst="rect">
            <a:avLst/>
          </a:prstGeom>
        </p:spPr>
      </p:pic>
      <p:sp>
        <p:nvSpPr>
          <p:cNvPr id="8" name="Content Placeholder 2">
            <a:extLst>
              <a:ext uri="{FF2B5EF4-FFF2-40B4-BE49-F238E27FC236}">
                <a16:creationId xmlns:a16="http://schemas.microsoft.com/office/drawing/2014/main" id="{83321F5B-529A-BD29-62F9-3231300F729E}"/>
              </a:ext>
            </a:extLst>
          </p:cNvPr>
          <p:cNvSpPr>
            <a:spLocks noGrp="1"/>
          </p:cNvSpPr>
          <p:nvPr>
            <p:ph idx="1"/>
          </p:nvPr>
        </p:nvSpPr>
        <p:spPr>
          <a:xfrm>
            <a:off x="1962778" y="1723171"/>
            <a:ext cx="4133223" cy="3894565"/>
          </a:xfrm>
        </p:spPr>
        <p:txBody>
          <a:bodyPr>
            <a:normAutofit/>
          </a:bodyPr>
          <a:lstStyle/>
          <a:p>
            <a:pPr marL="0" indent="0">
              <a:lnSpc>
                <a:spcPct val="100000"/>
              </a:lnSpc>
              <a:spcBef>
                <a:spcPts val="0"/>
              </a:spcBef>
              <a:buNone/>
              <a:defRPr/>
            </a:pPr>
            <a:r>
              <a:rPr lang="en-US" sz="2000" dirty="0">
                <a:solidFill>
                  <a:schemeClr val="bg1"/>
                </a:solidFill>
                <a:latin typeface="Calibri" panose="020F0502020204030204"/>
              </a:rPr>
              <a:t>Francis Collins – geneticist and former director of the National Institutes of Health (NIH)</a:t>
            </a:r>
          </a:p>
          <a:p>
            <a:pPr marL="0" indent="0">
              <a:lnSpc>
                <a:spcPct val="100000"/>
              </a:lnSpc>
              <a:spcBef>
                <a:spcPts val="0"/>
              </a:spcBef>
              <a:buNone/>
              <a:defRPr/>
            </a:pPr>
            <a:endParaRPr lang="en-US" sz="2000" dirty="0">
              <a:solidFill>
                <a:schemeClr val="bg1"/>
              </a:solidFill>
              <a:latin typeface="Calibri" panose="020F0502020204030204"/>
            </a:endParaRPr>
          </a:p>
          <a:p>
            <a:pPr marL="0" indent="0">
              <a:lnSpc>
                <a:spcPct val="100000"/>
              </a:lnSpc>
              <a:spcBef>
                <a:spcPts val="0"/>
              </a:spcBef>
              <a:buNone/>
              <a:defRPr/>
            </a:pPr>
            <a:r>
              <a:rPr lang="en-US" sz="2000" dirty="0">
                <a:solidFill>
                  <a:schemeClr val="bg1"/>
                </a:solidFill>
                <a:latin typeface="Calibri" panose="020F0502020204030204"/>
              </a:rPr>
              <a:t>A great communicator about controversial science topics</a:t>
            </a:r>
          </a:p>
          <a:p>
            <a:pPr marL="0" indent="0">
              <a:lnSpc>
                <a:spcPct val="100000"/>
              </a:lnSpc>
              <a:spcBef>
                <a:spcPts val="0"/>
              </a:spcBef>
              <a:buNone/>
              <a:defRPr/>
            </a:pPr>
            <a:endParaRPr lang="en-US" sz="2000" dirty="0">
              <a:solidFill>
                <a:schemeClr val="bg1"/>
              </a:solidFill>
              <a:latin typeface="Calibri" panose="020F0502020204030204"/>
            </a:endParaRPr>
          </a:p>
          <a:p>
            <a:pPr marL="0" indent="0">
              <a:lnSpc>
                <a:spcPct val="100000"/>
              </a:lnSpc>
              <a:spcBef>
                <a:spcPts val="0"/>
              </a:spcBef>
              <a:buNone/>
              <a:defRPr/>
            </a:pPr>
            <a:r>
              <a:rPr lang="en-US" sz="2000" dirty="0">
                <a:solidFill>
                  <a:schemeClr val="bg1"/>
                </a:solidFill>
                <a:latin typeface="Calibri" panose="020F0502020204030204"/>
              </a:rPr>
              <a:t>Studies show religious folks who know about him are more likely to accept science – including evolution and vaccine science</a:t>
            </a:r>
          </a:p>
        </p:txBody>
      </p:sp>
      <p:sp>
        <p:nvSpPr>
          <p:cNvPr id="9" name="Title 1">
            <a:extLst>
              <a:ext uri="{FF2B5EF4-FFF2-40B4-BE49-F238E27FC236}">
                <a16:creationId xmlns:a16="http://schemas.microsoft.com/office/drawing/2014/main" id="{CD262283-075D-9ECA-FA3B-6B9015D0A363}"/>
              </a:ext>
            </a:extLst>
          </p:cNvPr>
          <p:cNvSpPr txBox="1">
            <a:spLocks/>
          </p:cNvSpPr>
          <p:nvPr/>
        </p:nvSpPr>
        <p:spPr>
          <a:xfrm>
            <a:off x="2152650" y="5870193"/>
            <a:ext cx="7886700" cy="842657"/>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400" dirty="0">
                <a:solidFill>
                  <a:prstClr val="white"/>
                </a:solidFill>
                <a:latin typeface="Arial"/>
              </a:rPr>
              <a:t>As an evangelical Christian, he is a </a:t>
            </a:r>
            <a:r>
              <a:rPr lang="en-US" sz="2400" b="1" u="sng" dirty="0">
                <a:solidFill>
                  <a:prstClr val="white"/>
                </a:solidFill>
                <a:latin typeface="Arial"/>
              </a:rPr>
              <a:t>boundary spanner </a:t>
            </a:r>
            <a:r>
              <a:rPr lang="en-US" sz="2400" dirty="0">
                <a:solidFill>
                  <a:prstClr val="white"/>
                </a:solidFill>
                <a:latin typeface="Arial"/>
              </a:rPr>
              <a:t>between science and religion</a:t>
            </a:r>
          </a:p>
        </p:txBody>
      </p:sp>
    </p:spTree>
    <p:extLst>
      <p:ext uri="{BB962C8B-B14F-4D97-AF65-F5344CB8AC3E}">
        <p14:creationId xmlns:p14="http://schemas.microsoft.com/office/powerpoint/2010/main" val="3814190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05FB2-A78B-F546-3BB7-1522C35A3ADD}"/>
              </a:ext>
            </a:extLst>
          </p:cNvPr>
          <p:cNvSpPr>
            <a:spLocks noGrp="1"/>
          </p:cNvSpPr>
          <p:nvPr>
            <p:ph type="title"/>
          </p:nvPr>
        </p:nvSpPr>
        <p:spPr>
          <a:xfrm>
            <a:off x="1140311" y="159181"/>
            <a:ext cx="10112188" cy="1325563"/>
          </a:xfrm>
        </p:spPr>
        <p:txBody>
          <a:bodyPr>
            <a:normAutofit/>
          </a:bodyPr>
          <a:lstStyle/>
          <a:p>
            <a:r>
              <a:rPr lang="en-US" sz="3000" dirty="0"/>
              <a:t>Consequences of bad science communication…</a:t>
            </a:r>
          </a:p>
        </p:txBody>
      </p:sp>
      <p:sp>
        <p:nvSpPr>
          <p:cNvPr id="3" name="Content Placeholder 2">
            <a:extLst>
              <a:ext uri="{FF2B5EF4-FFF2-40B4-BE49-F238E27FC236}">
                <a16:creationId xmlns:a16="http://schemas.microsoft.com/office/drawing/2014/main" id="{88456B3F-A529-2F4D-D72A-ED694CDC1F15}"/>
              </a:ext>
            </a:extLst>
          </p:cNvPr>
          <p:cNvSpPr>
            <a:spLocks noGrp="1"/>
          </p:cNvSpPr>
          <p:nvPr>
            <p:ph idx="1"/>
          </p:nvPr>
        </p:nvSpPr>
        <p:spPr>
          <a:xfrm>
            <a:off x="2152650" y="1669106"/>
            <a:ext cx="7886700" cy="4351338"/>
          </a:xfrm>
        </p:spPr>
        <p:txBody>
          <a:bodyPr/>
          <a:lstStyle/>
          <a:p>
            <a:pPr marL="0" indent="0">
              <a:buNone/>
            </a:pPr>
            <a:r>
              <a:rPr lang="en-US" dirty="0"/>
              <a:t>Lack of meaningful conversation about what to do about climate change because people don’t believe it’s real</a:t>
            </a:r>
          </a:p>
          <a:p>
            <a:pPr marL="0" indent="0">
              <a:buNone/>
            </a:pPr>
            <a:endParaRPr lang="en-US" dirty="0"/>
          </a:p>
          <a:p>
            <a:pPr marL="0" indent="0">
              <a:buNone/>
            </a:pPr>
            <a:r>
              <a:rPr lang="en-US" dirty="0"/>
              <a:t>Public health crises:</a:t>
            </a:r>
          </a:p>
          <a:p>
            <a:r>
              <a:rPr lang="en-US" dirty="0"/>
              <a:t>Increases in infectious disease outbreaks due to vaccine hesitancy</a:t>
            </a:r>
          </a:p>
          <a:p>
            <a:r>
              <a:rPr lang="en-US" dirty="0"/>
              <a:t>Higher mortality rates from pandemics </a:t>
            </a:r>
          </a:p>
          <a:p>
            <a:pPr marL="0" indent="0">
              <a:buNone/>
            </a:pPr>
            <a:endParaRPr lang="en-US" dirty="0"/>
          </a:p>
          <a:p>
            <a:pPr marL="0" indent="0">
              <a:buNone/>
            </a:pPr>
            <a:r>
              <a:rPr lang="en-US" dirty="0"/>
              <a:t>Lower trust in science – reduces scientists’ ability to use their science to help society.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7139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78903-3878-0BA9-48C4-6BF43E244E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8C983-E518-565A-55B2-760D8226992E}"/>
              </a:ext>
            </a:extLst>
          </p:cNvPr>
          <p:cNvSpPr>
            <a:spLocks noGrp="1"/>
          </p:cNvSpPr>
          <p:nvPr>
            <p:ph type="title"/>
          </p:nvPr>
        </p:nvSpPr>
        <p:spPr>
          <a:xfrm>
            <a:off x="845487" y="297813"/>
            <a:ext cx="11061655" cy="1131602"/>
          </a:xfrm>
        </p:spPr>
        <p:txBody>
          <a:bodyPr vert="horz" lIns="68580" tIns="34290" rIns="68580" bIns="34290" rtlCol="0" anchor="ctr">
            <a:noAutofit/>
          </a:bodyPr>
          <a:lstStyle/>
          <a:p>
            <a:pPr algn="ctr"/>
            <a:r>
              <a:rPr lang="en-US" sz="2000" b="1" dirty="0"/>
              <a:t>For which groups in society could you be a boundary spanner about science?</a:t>
            </a:r>
            <a:br>
              <a:rPr lang="en-US" sz="2000" b="1" dirty="0"/>
            </a:br>
            <a:r>
              <a:rPr lang="en-US" sz="2000" b="1" dirty="0"/>
              <a:t> </a:t>
            </a:r>
            <a:br>
              <a:rPr lang="en-US" sz="2000" b="1" dirty="0"/>
            </a:br>
            <a:r>
              <a:rPr lang="en-US" sz="2000" b="1" dirty="0"/>
              <a:t>For which groups might you need to develop cultural competence?</a:t>
            </a:r>
          </a:p>
        </p:txBody>
      </p:sp>
      <p:sp>
        <p:nvSpPr>
          <p:cNvPr id="4" name="Slide Number Placeholder 3">
            <a:extLst>
              <a:ext uri="{FF2B5EF4-FFF2-40B4-BE49-F238E27FC236}">
                <a16:creationId xmlns:a16="http://schemas.microsoft.com/office/drawing/2014/main" id="{97E76411-6F9D-C7E3-D3B7-5385E886B773}"/>
              </a:ext>
            </a:extLst>
          </p:cNvPr>
          <p:cNvSpPr>
            <a:spLocks noGrp="1"/>
          </p:cNvSpPr>
          <p:nvPr>
            <p:ph type="sldNum" sz="quarter" idx="12"/>
          </p:nvPr>
        </p:nvSpPr>
        <p:spPr/>
        <p:txBody>
          <a:bodyPr/>
          <a:lstStyle/>
          <a:p>
            <a:pPr defTabSz="685800">
              <a:defRPr/>
            </a:pPr>
            <a:fld id="{0F492775-901C-A746-B0D4-8A37744C9ECC}" type="slidenum">
              <a:rPr lang="en-US" sz="900">
                <a:solidFill>
                  <a:prstClr val="black">
                    <a:tint val="75000"/>
                  </a:prstClr>
                </a:solidFill>
                <a:latin typeface="Calibri" panose="020F0502020204030204"/>
              </a:rPr>
              <a:pPr defTabSz="685800">
                <a:defRPr/>
              </a:pPr>
              <a:t>15</a:t>
            </a:fld>
            <a:endParaRPr lang="en-US" sz="900">
              <a:solidFill>
                <a:prstClr val="black">
                  <a:tint val="75000"/>
                </a:prstClr>
              </a:solidFill>
              <a:latin typeface="Calibri" panose="020F0502020204030204"/>
            </a:endParaRPr>
          </a:p>
        </p:txBody>
      </p:sp>
      <p:sp>
        <p:nvSpPr>
          <p:cNvPr id="6" name="TextBox 5">
            <a:extLst>
              <a:ext uri="{FF2B5EF4-FFF2-40B4-BE49-F238E27FC236}">
                <a16:creationId xmlns:a16="http://schemas.microsoft.com/office/drawing/2014/main" id="{A4817E8A-15D6-E8D1-08BF-096BF9942EC2}"/>
              </a:ext>
            </a:extLst>
          </p:cNvPr>
          <p:cNvSpPr txBox="1"/>
          <p:nvPr/>
        </p:nvSpPr>
        <p:spPr>
          <a:xfrm>
            <a:off x="451821" y="2209922"/>
            <a:ext cx="5090048" cy="904350"/>
          </a:xfrm>
          <a:prstGeom prst="rect">
            <a:avLst/>
          </a:prstGeom>
          <a:noFill/>
        </p:spPr>
        <p:txBody>
          <a:bodyPr wrap="square">
            <a:spAutoFit/>
          </a:bodyPr>
          <a:lstStyle/>
          <a:p>
            <a:pPr algn="ctr" defTabSz="685800">
              <a:lnSpc>
                <a:spcPct val="90000"/>
              </a:lnSpc>
              <a:spcAft>
                <a:spcPts val="450"/>
              </a:spcAft>
              <a:defRPr/>
            </a:pPr>
            <a:r>
              <a:rPr lang="en-US" b="1" dirty="0">
                <a:solidFill>
                  <a:srgbClr val="FFFFFF"/>
                </a:solidFill>
                <a:latin typeface="Calibri" panose="020F0502020204030204"/>
              </a:rPr>
              <a:t>Cultural competence </a:t>
            </a:r>
          </a:p>
          <a:p>
            <a:pPr algn="ctr" defTabSz="685800">
              <a:lnSpc>
                <a:spcPct val="90000"/>
              </a:lnSpc>
              <a:spcAft>
                <a:spcPts val="450"/>
              </a:spcAft>
              <a:defRPr/>
            </a:pPr>
            <a:r>
              <a:rPr lang="en-US" dirty="0">
                <a:solidFill>
                  <a:srgbClr val="FFFFFF"/>
                </a:solidFill>
                <a:latin typeface="Calibri" panose="020F0502020204030204"/>
              </a:rPr>
              <a:t>The ability of people from one culture to communicate with people from another culture </a:t>
            </a:r>
          </a:p>
        </p:txBody>
      </p:sp>
      <p:sp>
        <p:nvSpPr>
          <p:cNvPr id="8" name="TextBox 7">
            <a:extLst>
              <a:ext uri="{FF2B5EF4-FFF2-40B4-BE49-F238E27FC236}">
                <a16:creationId xmlns:a16="http://schemas.microsoft.com/office/drawing/2014/main" id="{CED1D9AB-09F7-3D71-0EB0-35CE2F7CD3FD}"/>
              </a:ext>
            </a:extLst>
          </p:cNvPr>
          <p:cNvSpPr txBox="1"/>
          <p:nvPr/>
        </p:nvSpPr>
        <p:spPr>
          <a:xfrm>
            <a:off x="6376315" y="2209922"/>
            <a:ext cx="5489369" cy="904350"/>
          </a:xfrm>
          <a:prstGeom prst="rect">
            <a:avLst/>
          </a:prstGeom>
          <a:noFill/>
        </p:spPr>
        <p:txBody>
          <a:bodyPr wrap="square">
            <a:spAutoFit/>
          </a:bodyPr>
          <a:lstStyle/>
          <a:p>
            <a:pPr algn="ctr" defTabSz="685800">
              <a:lnSpc>
                <a:spcPct val="90000"/>
              </a:lnSpc>
              <a:spcAft>
                <a:spcPts val="450"/>
              </a:spcAft>
              <a:defRPr/>
            </a:pPr>
            <a:r>
              <a:rPr lang="en-US" b="1" dirty="0">
                <a:solidFill>
                  <a:srgbClr val="FFFFFF"/>
                </a:solidFill>
                <a:latin typeface="Calibri" panose="020F0502020204030204"/>
              </a:rPr>
              <a:t>Boundary spanning </a:t>
            </a:r>
          </a:p>
          <a:p>
            <a:pPr algn="ctr" defTabSz="685800">
              <a:lnSpc>
                <a:spcPct val="90000"/>
              </a:lnSpc>
              <a:spcAft>
                <a:spcPts val="450"/>
              </a:spcAft>
              <a:defRPr/>
            </a:pPr>
            <a:r>
              <a:rPr lang="en-US" dirty="0">
                <a:solidFill>
                  <a:srgbClr val="FFFFFF"/>
                </a:solidFill>
                <a:latin typeface="Calibri" panose="020F0502020204030204"/>
              </a:rPr>
              <a:t>The ability to effectively communicate information between groups due to a shared culture</a:t>
            </a:r>
          </a:p>
        </p:txBody>
      </p:sp>
      <p:pic>
        <p:nvPicPr>
          <p:cNvPr id="5" name="Picture 4">
            <a:extLst>
              <a:ext uri="{FF2B5EF4-FFF2-40B4-BE49-F238E27FC236}">
                <a16:creationId xmlns:a16="http://schemas.microsoft.com/office/drawing/2014/main" id="{E256B5E5-D608-0508-DC2A-03F87F498EAE}"/>
              </a:ext>
            </a:extLst>
          </p:cNvPr>
          <p:cNvPicPr>
            <a:picLocks noChangeAspect="1"/>
          </p:cNvPicPr>
          <p:nvPr/>
        </p:nvPicPr>
        <p:blipFill rotWithShape="1">
          <a:blip r:embed="rId3"/>
          <a:srcRect l="-1" r="64101"/>
          <a:stretch/>
        </p:blipFill>
        <p:spPr>
          <a:xfrm>
            <a:off x="1650824" y="3290596"/>
            <a:ext cx="2450968" cy="2273259"/>
          </a:xfrm>
          <a:prstGeom prst="rect">
            <a:avLst/>
          </a:prstGeom>
        </p:spPr>
      </p:pic>
      <p:pic>
        <p:nvPicPr>
          <p:cNvPr id="7" name="Picture 6">
            <a:extLst>
              <a:ext uri="{FF2B5EF4-FFF2-40B4-BE49-F238E27FC236}">
                <a16:creationId xmlns:a16="http://schemas.microsoft.com/office/drawing/2014/main" id="{6C170B7B-7A88-439A-13A8-E63F1C4C2CEE}"/>
              </a:ext>
            </a:extLst>
          </p:cNvPr>
          <p:cNvPicPr>
            <a:picLocks noChangeAspect="1"/>
          </p:cNvPicPr>
          <p:nvPr/>
        </p:nvPicPr>
        <p:blipFill>
          <a:blip r:embed="rId4"/>
          <a:stretch>
            <a:fillRect/>
          </a:stretch>
        </p:blipFill>
        <p:spPr>
          <a:xfrm>
            <a:off x="7895598" y="3429000"/>
            <a:ext cx="2450804" cy="2274005"/>
          </a:xfrm>
          <a:prstGeom prst="rect">
            <a:avLst/>
          </a:prstGeom>
        </p:spPr>
      </p:pic>
      <p:sp>
        <p:nvSpPr>
          <p:cNvPr id="10" name="TextBox 9">
            <a:extLst>
              <a:ext uri="{FF2B5EF4-FFF2-40B4-BE49-F238E27FC236}">
                <a16:creationId xmlns:a16="http://schemas.microsoft.com/office/drawing/2014/main" id="{20637141-190B-907F-F463-F738883C20C6}"/>
              </a:ext>
            </a:extLst>
          </p:cNvPr>
          <p:cNvSpPr txBox="1"/>
          <p:nvPr/>
        </p:nvSpPr>
        <p:spPr>
          <a:xfrm>
            <a:off x="376519" y="5726896"/>
            <a:ext cx="4999578" cy="840230"/>
          </a:xfrm>
          <a:prstGeom prst="rect">
            <a:avLst/>
          </a:prstGeom>
          <a:noFill/>
        </p:spPr>
        <p:txBody>
          <a:bodyPr wrap="square">
            <a:spAutoFit/>
          </a:bodyPr>
          <a:lstStyle/>
          <a:p>
            <a:pPr algn="ctr" defTabSz="685800">
              <a:lnSpc>
                <a:spcPct val="90000"/>
              </a:lnSpc>
              <a:spcAft>
                <a:spcPts val="450"/>
              </a:spcAft>
              <a:defRPr/>
            </a:pPr>
            <a:r>
              <a:rPr lang="en-US" dirty="0">
                <a:solidFill>
                  <a:srgbClr val="FFFFFF"/>
                </a:solidFill>
                <a:latin typeface="Calibri" panose="020F0502020204030204"/>
              </a:rPr>
              <a:t>Scientists who are from different cultures or worldviews than their audience should aim to be culturally competent</a:t>
            </a:r>
          </a:p>
        </p:txBody>
      </p:sp>
      <p:sp>
        <p:nvSpPr>
          <p:cNvPr id="12" name="TextBox 11">
            <a:extLst>
              <a:ext uri="{FF2B5EF4-FFF2-40B4-BE49-F238E27FC236}">
                <a16:creationId xmlns:a16="http://schemas.microsoft.com/office/drawing/2014/main" id="{D537A8A2-0D7D-A0C3-3D8B-2F0BE48442E7}"/>
              </a:ext>
            </a:extLst>
          </p:cNvPr>
          <p:cNvSpPr txBox="1"/>
          <p:nvPr/>
        </p:nvSpPr>
        <p:spPr>
          <a:xfrm>
            <a:off x="6479028" y="5726895"/>
            <a:ext cx="5580294" cy="840230"/>
          </a:xfrm>
          <a:prstGeom prst="rect">
            <a:avLst/>
          </a:prstGeom>
          <a:noFill/>
        </p:spPr>
        <p:txBody>
          <a:bodyPr wrap="square">
            <a:spAutoFit/>
          </a:bodyPr>
          <a:lstStyle/>
          <a:p>
            <a:pPr algn="ctr" defTabSz="685800">
              <a:lnSpc>
                <a:spcPct val="90000"/>
              </a:lnSpc>
              <a:spcAft>
                <a:spcPts val="450"/>
              </a:spcAft>
              <a:defRPr/>
            </a:pPr>
            <a:r>
              <a:rPr lang="en-US" dirty="0">
                <a:solidFill>
                  <a:srgbClr val="FFFFFF"/>
                </a:solidFill>
                <a:latin typeface="Calibri" panose="020F0502020204030204"/>
              </a:rPr>
              <a:t>Scientists who belong to communities who have tension with science can serve as boundary spanners between the scientific community and their home community.</a:t>
            </a:r>
          </a:p>
        </p:txBody>
      </p:sp>
      <p:sp>
        <p:nvSpPr>
          <p:cNvPr id="3" name="Star: 5 Points 2">
            <a:extLst>
              <a:ext uri="{FF2B5EF4-FFF2-40B4-BE49-F238E27FC236}">
                <a16:creationId xmlns:a16="http://schemas.microsoft.com/office/drawing/2014/main" id="{2DB33201-2A58-6600-73EB-6E7D1B1195A4}"/>
              </a:ext>
            </a:extLst>
          </p:cNvPr>
          <p:cNvSpPr/>
          <p:nvPr/>
        </p:nvSpPr>
        <p:spPr>
          <a:xfrm>
            <a:off x="213154" y="249457"/>
            <a:ext cx="1031939" cy="865230"/>
          </a:xfrm>
          <a:prstGeom prst="star5">
            <a:avLst/>
          </a:prstGeom>
          <a:solidFill>
            <a:srgbClr val="C00000"/>
          </a:solidFill>
          <a:ln w="38100" cap="flat" cmpd="sng" algn="ctr">
            <a:solidFill>
              <a:sysClr val="windowText" lastClr="000000">
                <a:lumMod val="95000"/>
                <a:lumOff val="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w="76200">
                <a:solidFill>
                  <a:prstClr val="white"/>
                </a:solidFill>
              </a:ln>
              <a:solidFill>
                <a:prstClr val="white"/>
              </a:solidFill>
              <a:effectLst/>
              <a:uLnTx/>
              <a:uFillTx/>
              <a:latin typeface="Palatino Linotype"/>
              <a:ea typeface="+mn-ea"/>
              <a:cs typeface="+mn-cs"/>
            </a:endParaRPr>
          </a:p>
        </p:txBody>
      </p:sp>
      <p:sp>
        <p:nvSpPr>
          <p:cNvPr id="9" name="Title 1">
            <a:extLst>
              <a:ext uri="{FF2B5EF4-FFF2-40B4-BE49-F238E27FC236}">
                <a16:creationId xmlns:a16="http://schemas.microsoft.com/office/drawing/2014/main" id="{7344E8FF-619B-E300-B13A-668B4AA9CE36}"/>
              </a:ext>
            </a:extLst>
          </p:cNvPr>
          <p:cNvSpPr txBox="1">
            <a:spLocks/>
          </p:cNvSpPr>
          <p:nvPr/>
        </p:nvSpPr>
        <p:spPr>
          <a:xfrm>
            <a:off x="729123" y="1488499"/>
            <a:ext cx="11061655" cy="542454"/>
          </a:xfrm>
          <a:prstGeom prst="rect">
            <a:avLst/>
          </a:prstGeom>
        </p:spPr>
        <p:txBody>
          <a:bodyPr vert="horz" lIns="68580" tIns="34290" rIns="68580" bIns="34290" rtlCol="0" anchor="ctr">
            <a:noAutofit/>
          </a:bodyPr>
          <a:lstStyle>
            <a:lvl1pPr algn="ctr"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b="1" dirty="0"/>
              <a:t>Think on your own and write ideas in your notes. You will not share this.</a:t>
            </a:r>
          </a:p>
        </p:txBody>
      </p:sp>
    </p:spTree>
    <p:extLst>
      <p:ext uri="{BB962C8B-B14F-4D97-AF65-F5344CB8AC3E}">
        <p14:creationId xmlns:p14="http://schemas.microsoft.com/office/powerpoint/2010/main" val="3325034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2D53E-610A-A408-B3CD-9D42013AF390}"/>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1762708E-0FB8-978D-76E5-896F7F7ADBDC}"/>
              </a:ext>
            </a:extLst>
          </p:cNvPr>
          <p:cNvSpPr txBox="1">
            <a:spLocks/>
          </p:cNvSpPr>
          <p:nvPr/>
        </p:nvSpPr>
        <p:spPr>
          <a:xfrm>
            <a:off x="279205" y="37869"/>
            <a:ext cx="11673833" cy="145307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800" b="1" dirty="0">
                <a:latin typeface="+mn-lt"/>
              </a:rPr>
              <a:t>Advancing undergraduate student ability to communicate about culturally controversial science topics </a:t>
            </a:r>
          </a:p>
        </p:txBody>
      </p:sp>
      <p:sp>
        <p:nvSpPr>
          <p:cNvPr id="13" name="Content Placeholder 2">
            <a:extLst>
              <a:ext uri="{FF2B5EF4-FFF2-40B4-BE49-F238E27FC236}">
                <a16:creationId xmlns:a16="http://schemas.microsoft.com/office/drawing/2014/main" id="{FCDB163C-EAE4-DF83-D293-7D091217DFE8}"/>
              </a:ext>
            </a:extLst>
          </p:cNvPr>
          <p:cNvSpPr txBox="1">
            <a:spLocks/>
          </p:cNvSpPr>
          <p:nvPr/>
        </p:nvSpPr>
        <p:spPr>
          <a:xfrm>
            <a:off x="661172" y="1867781"/>
            <a:ext cx="6929450" cy="43569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a:ln>
                <a:noFill/>
              </a:ln>
              <a:effectLst/>
              <a:uLnTx/>
              <a:uFillTx/>
              <a:latin typeface="Calibri" panose="020F0502020204030204"/>
              <a:ea typeface="+mn-ea"/>
              <a:cs typeface="+mn-cs"/>
            </a:endParaRPr>
          </a:p>
          <a:p>
            <a:pPr marL="457200" marR="0" lvl="1" indent="0" algn="ctr"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2800" b="0" i="0" u="none" strike="noStrike" kern="1200" cap="none" spc="0" normalizeH="0" baseline="0" noProof="0">
              <a:ln>
                <a:noFill/>
              </a:ln>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6A24673C-26DB-1C8B-36BC-BAB02139FCA5}"/>
              </a:ext>
            </a:extLst>
          </p:cNvPr>
          <p:cNvSpPr txBox="1"/>
          <p:nvPr/>
        </p:nvSpPr>
        <p:spPr>
          <a:xfrm>
            <a:off x="434373" y="1551390"/>
            <a:ext cx="7156250" cy="4989716"/>
          </a:xfrm>
          <a:prstGeom prst="rect">
            <a:avLst/>
          </a:prstGeom>
        </p:spPr>
        <p:txBody>
          <a:bodyPr vert="horz" lIns="91440" tIns="45720" rIns="91440" bIns="45720" rtlCol="0" anchor="t">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r>
              <a:rPr kumimoji="0" lang="en-US" sz="2000" b="0" i="0" u="none" strike="noStrike" kern="0" cap="none" spc="0" normalizeH="0" baseline="0" noProof="0" dirty="0">
                <a:ln>
                  <a:noFill/>
                </a:ln>
                <a:effectLst/>
                <a:uLnTx/>
                <a:uFillTx/>
                <a:latin typeface="Calibri" panose="020F0502020204030204"/>
                <a:ea typeface="+mn-ea"/>
                <a:cs typeface="+mn-cs"/>
              </a:rPr>
              <a:t>Science communication skills are important for undergraduates</a:t>
            </a:r>
          </a:p>
          <a:p>
            <a:pPr marL="342900" marR="0" lvl="0" indent="-342900" algn="l" defTabSz="4572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effectLst/>
                <a:uLnTx/>
                <a:uFillTx/>
                <a:latin typeface="Calibri" panose="020F0502020204030204"/>
                <a:ea typeface="+mn-ea"/>
                <a:cs typeface="+mn-cs"/>
              </a:rPr>
              <a:t>Helps students learn science </a:t>
            </a:r>
          </a:p>
          <a:p>
            <a:pPr marL="342900" marR="0" lvl="0" indent="-342900" algn="l" defTabSz="4572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effectLst/>
                <a:uLnTx/>
                <a:uFillTx/>
                <a:latin typeface="Calibri" panose="020F0502020204030204"/>
                <a:ea typeface="+mn-ea"/>
                <a:cs typeface="+mn-cs"/>
              </a:rPr>
              <a:t>Promotes interest in science </a:t>
            </a:r>
          </a:p>
          <a:p>
            <a:pPr marL="342900" marR="0" lvl="0" indent="-342900" algn="l" defTabSz="4572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effectLst/>
                <a:uLnTx/>
                <a:uFillTx/>
                <a:latin typeface="Calibri" panose="020F0502020204030204"/>
                <a:ea typeface="+mn-ea"/>
                <a:cs typeface="+mn-cs"/>
              </a:rPr>
              <a:t>Bridges gap between the scientific community and the broader public</a:t>
            </a:r>
          </a:p>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2000" b="0" i="0" u="none" strike="noStrike" kern="0" cap="none" spc="0" normalizeH="0" baseline="0" noProof="0" dirty="0">
              <a:ln>
                <a:noFill/>
              </a:ln>
              <a:effectLst/>
              <a:uLnTx/>
              <a:uFillTx/>
              <a:latin typeface="Calibri" panose="020F0502020204030204"/>
              <a:ea typeface="+mn-ea"/>
              <a:cs typeface="+mn-cs"/>
            </a:endParaRPr>
          </a:p>
          <a:p>
            <a:pPr marL="0" marR="0" lvl="0" indent="0" algn="l" defTabSz="457200" rtl="0" eaLnBrk="1" fontAlgn="auto" latinLnBrk="0" hangingPunct="1">
              <a:lnSpc>
                <a:spcPct val="90000"/>
              </a:lnSpc>
              <a:spcBef>
                <a:spcPts val="0"/>
              </a:spcBef>
              <a:spcAft>
                <a:spcPts val="600"/>
              </a:spcAft>
              <a:buClrTx/>
              <a:buSzTx/>
              <a:buFontTx/>
              <a:buNone/>
              <a:tabLst/>
              <a:defRPr/>
            </a:pPr>
            <a:r>
              <a:rPr kumimoji="0" lang="en-US" sz="2000" b="0" i="0" u="none" strike="noStrike" kern="0" cap="none" spc="0" normalizeH="0" baseline="0" noProof="0" dirty="0">
                <a:ln>
                  <a:noFill/>
                </a:ln>
                <a:effectLst/>
                <a:uLnTx/>
                <a:uFillTx/>
                <a:latin typeface="Calibri" panose="020F0502020204030204"/>
                <a:ea typeface="+mn-ea"/>
                <a:cs typeface="+mn-cs"/>
              </a:rPr>
              <a:t>Especially important when communicating about culturally controversial science topics.</a:t>
            </a:r>
          </a:p>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600" b="0" i="0" u="none" strike="noStrike" kern="0" cap="none" spc="0" normalizeH="0" baseline="0" noProof="0" dirty="0">
              <a:ln>
                <a:noFill/>
              </a:ln>
              <a:effectLst/>
              <a:uLnTx/>
              <a:uFillTx/>
              <a:latin typeface="Calibri" panose="020F0502020204030204"/>
              <a:ea typeface="+mn-ea"/>
              <a:cs typeface="+mn-cs"/>
            </a:endParaRPr>
          </a:p>
          <a:p>
            <a:pPr marL="0" marR="0" lvl="0" indent="0" algn="l" defTabSz="457200" rtl="0" eaLnBrk="1" fontAlgn="auto" latinLnBrk="0" hangingPunct="1">
              <a:lnSpc>
                <a:spcPct val="90000"/>
              </a:lnSpc>
              <a:spcBef>
                <a:spcPts val="0"/>
              </a:spcBef>
              <a:spcAft>
                <a:spcPts val="600"/>
              </a:spcAft>
              <a:buClrTx/>
              <a:buSzTx/>
              <a:buFontTx/>
              <a:buNone/>
              <a:tabLst/>
              <a:defRPr/>
            </a:pPr>
            <a:r>
              <a:rPr kumimoji="0" lang="en-US" sz="2000" b="0" i="0" u="none" strike="noStrike" kern="0" cap="none" spc="0" normalizeH="0" baseline="0" noProof="0" dirty="0">
                <a:ln>
                  <a:noFill/>
                </a:ln>
                <a:effectLst/>
                <a:uLnTx/>
                <a:uFillTx/>
                <a:latin typeface="Calibri" panose="020F0502020204030204"/>
                <a:ea typeface="+mn-ea"/>
                <a:cs typeface="+mn-cs"/>
              </a:rPr>
              <a:t>MTSU Core Learning Outcomes Include: intercultural communication, intercultural awareness, examination of one’s and others’ cultural values</a:t>
            </a:r>
          </a:p>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600" b="0" i="0" u="none" strike="noStrike" kern="0" cap="none" spc="0" normalizeH="0" baseline="0" noProof="0" dirty="0">
              <a:ln>
                <a:noFill/>
              </a:ln>
              <a:effectLst/>
              <a:uLnTx/>
              <a:uFillTx/>
              <a:latin typeface="Calibri" panose="020F0502020204030204"/>
              <a:ea typeface="+mn-ea"/>
              <a:cs typeface="+mn-cs"/>
            </a:endParaRPr>
          </a:p>
          <a:p>
            <a:pPr marL="0" marR="0" lvl="0" indent="0" algn="l" defTabSz="457200" rtl="0" eaLnBrk="1" fontAlgn="auto" latinLnBrk="0" hangingPunct="1">
              <a:lnSpc>
                <a:spcPct val="90000"/>
              </a:lnSpc>
              <a:spcBef>
                <a:spcPts val="0"/>
              </a:spcBef>
              <a:spcAft>
                <a:spcPts val="600"/>
              </a:spcAft>
              <a:buClrTx/>
              <a:buSzTx/>
              <a:buFontTx/>
              <a:buNone/>
              <a:tabLst/>
              <a:defRPr/>
            </a:pPr>
            <a:r>
              <a:rPr kumimoji="0" lang="en-US" sz="2000" b="0" i="0" u="none" strike="noStrike" kern="0" cap="none" spc="0" normalizeH="0" baseline="0" noProof="0" dirty="0">
                <a:ln>
                  <a:noFill/>
                </a:ln>
                <a:effectLst/>
                <a:uLnTx/>
                <a:uFillTx/>
                <a:latin typeface="Calibri" panose="020F0502020204030204"/>
                <a:ea typeface="+mn-ea"/>
                <a:cs typeface="+mn-cs"/>
              </a:rPr>
              <a:t>Teaching undergraduate biology students effective science communication strategies can help them establish these skills early in their careers</a:t>
            </a:r>
            <a:endParaRPr kumimoji="0" lang="en-US" sz="1600" b="0" i="0" u="none" strike="noStrike" kern="0" cap="none" spc="0" normalizeH="0" baseline="0" noProof="0" dirty="0">
              <a:ln>
                <a:noFill/>
              </a:ln>
              <a:effectLst/>
              <a:uLnTx/>
              <a:uFillTx/>
              <a:latin typeface="Calibri" panose="020F0502020204030204"/>
              <a:ea typeface="+mn-ea"/>
              <a:cs typeface="+mn-cs"/>
            </a:endParaRPr>
          </a:p>
          <a:p>
            <a:pPr marL="342900" marR="0" lvl="0" indent="-342900" algn="l" defTabSz="4572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1600" b="0" i="0" u="none" strike="noStrike" kern="0" cap="none" spc="0" normalizeH="0" baseline="0" noProof="0" dirty="0">
              <a:ln>
                <a:noFill/>
              </a:ln>
              <a:effectLst/>
              <a:uLnTx/>
              <a:uFillTx/>
              <a:latin typeface="Calibri" panose="020F0502020204030204"/>
              <a:ea typeface="+mn-ea"/>
              <a:cs typeface="+mn-cs"/>
            </a:endParaRPr>
          </a:p>
        </p:txBody>
      </p:sp>
      <p:pic>
        <p:nvPicPr>
          <p:cNvPr id="15" name="Picture 4" descr="Communication Clipart Professional Communication - Scientific ">
            <a:extLst>
              <a:ext uri="{FF2B5EF4-FFF2-40B4-BE49-F238E27FC236}">
                <a16:creationId xmlns:a16="http://schemas.microsoft.com/office/drawing/2014/main" id="{009BB30F-9754-3DAE-5182-CEAC9B0FE7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546" r="14995" b="-3"/>
          <a:stretch/>
        </p:blipFill>
        <p:spPr bwMode="auto">
          <a:xfrm>
            <a:off x="7675657" y="1744394"/>
            <a:ext cx="4277381" cy="444609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631B7F44-05CB-0BD2-817F-5B23C9BD08F2}"/>
              </a:ext>
            </a:extLst>
          </p:cNvPr>
          <p:cNvPicPr>
            <a:picLocks noChangeAspect="1"/>
          </p:cNvPicPr>
          <p:nvPr/>
        </p:nvPicPr>
        <p:blipFill>
          <a:blip r:embed="rId4"/>
          <a:stretch>
            <a:fillRect/>
          </a:stretch>
        </p:blipFill>
        <p:spPr>
          <a:xfrm>
            <a:off x="8037644" y="1412953"/>
            <a:ext cx="3189684" cy="1570167"/>
          </a:xfrm>
          <a:prstGeom prst="rect">
            <a:avLst/>
          </a:prstGeom>
        </p:spPr>
      </p:pic>
      <p:pic>
        <p:nvPicPr>
          <p:cNvPr id="17" name="Picture 2" descr="Creationism vs. Evolution: The Worst of Both Worlds – Red Letter Christians">
            <a:extLst>
              <a:ext uri="{FF2B5EF4-FFF2-40B4-BE49-F238E27FC236}">
                <a16:creationId xmlns:a16="http://schemas.microsoft.com/office/drawing/2014/main" id="{70DD9B40-F058-3773-3DFA-8693B29698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7537" y="5032766"/>
            <a:ext cx="3195318" cy="168555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BE8691CA-55AF-A155-58C6-DA5E9637B492}"/>
              </a:ext>
            </a:extLst>
          </p:cNvPr>
          <p:cNvPicPr>
            <a:picLocks noChangeAspect="1"/>
          </p:cNvPicPr>
          <p:nvPr/>
        </p:nvPicPr>
        <p:blipFill>
          <a:blip r:embed="rId6"/>
          <a:stretch>
            <a:fillRect/>
          </a:stretch>
        </p:blipFill>
        <p:spPr>
          <a:xfrm>
            <a:off x="7714536" y="3104011"/>
            <a:ext cx="3875481" cy="1686974"/>
          </a:xfrm>
          <a:prstGeom prst="rect">
            <a:avLst/>
          </a:prstGeom>
        </p:spPr>
      </p:pic>
    </p:spTree>
    <p:extLst>
      <p:ext uri="{BB962C8B-B14F-4D97-AF65-F5344CB8AC3E}">
        <p14:creationId xmlns:p14="http://schemas.microsoft.com/office/powerpoint/2010/main" val="1704199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2" presetClass="exit" presetSubtype="4" fill="hold" nodeType="withEffect">
                                  <p:stCondLst>
                                    <p:cond delay="0"/>
                                  </p:stCondLst>
                                  <p:childTnLst>
                                    <p:anim calcmode="lin" valueType="num">
                                      <p:cBhvr additive="base">
                                        <p:cTn id="20" dur="500"/>
                                        <p:tgtEl>
                                          <p:spTgt spid="15"/>
                                        </p:tgtEl>
                                        <p:attrNameLst>
                                          <p:attrName>ppt_x</p:attrName>
                                        </p:attrNameLst>
                                      </p:cBhvr>
                                      <p:tavLst>
                                        <p:tav tm="0">
                                          <p:val>
                                            <p:strVal val="ppt_x"/>
                                          </p:val>
                                        </p:tav>
                                        <p:tav tm="100000">
                                          <p:val>
                                            <p:strVal val="ppt_x"/>
                                          </p:val>
                                        </p:tav>
                                      </p:tavLst>
                                    </p:anim>
                                    <p:anim calcmode="lin" valueType="num">
                                      <p:cBhvr additive="base">
                                        <p:cTn id="21" dur="500"/>
                                        <p:tgtEl>
                                          <p:spTgt spid="15"/>
                                        </p:tgtEl>
                                        <p:attrNameLst>
                                          <p:attrName>ppt_y</p:attrName>
                                        </p:attrNameLst>
                                      </p:cBhvr>
                                      <p:tavLst>
                                        <p:tav tm="0">
                                          <p:val>
                                            <p:strVal val="ppt_y"/>
                                          </p:val>
                                        </p:tav>
                                        <p:tav tm="100000">
                                          <p:val>
                                            <p:strVal val="1+ppt_h/2"/>
                                          </p:val>
                                        </p:tav>
                                      </p:tavLst>
                                    </p:anim>
                                    <p:set>
                                      <p:cBhvr>
                                        <p:cTn id="22" dur="1" fill="hold">
                                          <p:stCondLst>
                                            <p:cond delay="499"/>
                                          </p:stCondLst>
                                        </p:cTn>
                                        <p:tgtEl>
                                          <p:spTgt spid="15"/>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BF0E8E03-B93D-019B-4C46-136B80367749}"/>
              </a:ext>
            </a:extLst>
          </p:cNvPr>
          <p:cNvGraphicFramePr>
            <a:graphicFrameLocks noGrp="1"/>
          </p:cNvGraphicFramePr>
          <p:nvPr>
            <p:extLst>
              <p:ext uri="{D42A27DB-BD31-4B8C-83A1-F6EECF244321}">
                <p14:modId xmlns:p14="http://schemas.microsoft.com/office/powerpoint/2010/main" val="2180983295"/>
              </p:ext>
            </p:extLst>
          </p:nvPr>
        </p:nvGraphicFramePr>
        <p:xfrm>
          <a:off x="7182854" y="3619435"/>
          <a:ext cx="4058887" cy="1053864"/>
        </p:xfrm>
        <a:graphic>
          <a:graphicData uri="http://schemas.openxmlformats.org/drawingml/2006/table">
            <a:tbl>
              <a:tblPr firstRow="1" bandRow="1">
                <a:tableStyleId>{5C22544A-7EE6-4342-B048-85BDC9FD1C3A}</a:tableStyleId>
              </a:tblPr>
              <a:tblGrid>
                <a:gridCol w="4058887">
                  <a:extLst>
                    <a:ext uri="{9D8B030D-6E8A-4147-A177-3AD203B41FA5}">
                      <a16:colId xmlns:a16="http://schemas.microsoft.com/office/drawing/2014/main" val="2380629857"/>
                    </a:ext>
                  </a:extLst>
                </a:gridCol>
              </a:tblGrid>
              <a:tr h="3097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Dialogic &amp; Inclusive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741444">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Engage in two-way conversations about science.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Open-minded to diverse perspectives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Show curiosity and intellectual humility about science.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4" name="Table 8">
            <a:extLst>
              <a:ext uri="{FF2B5EF4-FFF2-40B4-BE49-F238E27FC236}">
                <a16:creationId xmlns:a16="http://schemas.microsoft.com/office/drawing/2014/main" id="{05B86258-159F-56E9-E1DF-35662F46A419}"/>
              </a:ext>
            </a:extLst>
          </p:cNvPr>
          <p:cNvGraphicFramePr>
            <a:graphicFrameLocks noGrp="1"/>
          </p:cNvGraphicFramePr>
          <p:nvPr>
            <p:extLst>
              <p:ext uri="{D42A27DB-BD31-4B8C-83A1-F6EECF244321}">
                <p14:modId xmlns:p14="http://schemas.microsoft.com/office/powerpoint/2010/main" val="2664690252"/>
              </p:ext>
            </p:extLst>
          </p:nvPr>
        </p:nvGraphicFramePr>
        <p:xfrm>
          <a:off x="6695522" y="4798483"/>
          <a:ext cx="2394690" cy="1573793"/>
        </p:xfrm>
        <a:graphic>
          <a:graphicData uri="http://schemas.openxmlformats.org/drawingml/2006/table">
            <a:tbl>
              <a:tblPr firstRow="1" bandRow="1">
                <a:tableStyleId>{5C22544A-7EE6-4342-B048-85BDC9FD1C3A}</a:tableStyleId>
              </a:tblPr>
              <a:tblGrid>
                <a:gridCol w="2394690">
                  <a:extLst>
                    <a:ext uri="{9D8B030D-6E8A-4147-A177-3AD203B41FA5}">
                      <a16:colId xmlns:a16="http://schemas.microsoft.com/office/drawing/2014/main" val="2380629857"/>
                    </a:ext>
                  </a:extLst>
                </a:gridCol>
              </a:tblGrid>
              <a:tr h="3795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Know the audience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194231">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Recognize how cultural background can shape perceptions and attitudes.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Inquire about why people believe what they do.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5" name="Table 8">
            <a:extLst>
              <a:ext uri="{FF2B5EF4-FFF2-40B4-BE49-F238E27FC236}">
                <a16:creationId xmlns:a16="http://schemas.microsoft.com/office/drawing/2014/main" id="{C4742747-9CBA-9D9B-C495-7F9C5445E5E8}"/>
              </a:ext>
            </a:extLst>
          </p:cNvPr>
          <p:cNvGraphicFramePr>
            <a:graphicFrameLocks noGrp="1"/>
          </p:cNvGraphicFramePr>
          <p:nvPr>
            <p:extLst>
              <p:ext uri="{D42A27DB-BD31-4B8C-83A1-F6EECF244321}">
                <p14:modId xmlns:p14="http://schemas.microsoft.com/office/powerpoint/2010/main" val="761799510"/>
              </p:ext>
            </p:extLst>
          </p:nvPr>
        </p:nvGraphicFramePr>
        <p:xfrm>
          <a:off x="9223569" y="4798484"/>
          <a:ext cx="2495095" cy="1573793"/>
        </p:xfrm>
        <a:graphic>
          <a:graphicData uri="http://schemas.openxmlformats.org/drawingml/2006/table">
            <a:tbl>
              <a:tblPr firstRow="1" bandRow="1">
                <a:tableStyleId>{5C22544A-7EE6-4342-B048-85BDC9FD1C3A}</a:tableStyleId>
              </a:tblPr>
              <a:tblGrid>
                <a:gridCol w="2495095">
                  <a:extLst>
                    <a:ext uri="{9D8B030D-6E8A-4147-A177-3AD203B41FA5}">
                      <a16:colId xmlns:a16="http://schemas.microsoft.com/office/drawing/2014/main" val="2380629857"/>
                    </a:ext>
                  </a:extLst>
                </a:gridCol>
              </a:tblGrid>
              <a:tr h="47120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Convey respect &amp; shared values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01753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Build trust and establish relationships.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Find and focus on agreement (example: we all want our communities to be safe).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8" name="Table 8">
            <a:extLst>
              <a:ext uri="{FF2B5EF4-FFF2-40B4-BE49-F238E27FC236}">
                <a16:creationId xmlns:a16="http://schemas.microsoft.com/office/drawing/2014/main" id="{541D8AB5-0BE2-DB63-A28B-1FF12DE506E5}"/>
              </a:ext>
            </a:extLst>
          </p:cNvPr>
          <p:cNvGraphicFramePr>
            <a:graphicFrameLocks noGrp="1"/>
          </p:cNvGraphicFramePr>
          <p:nvPr>
            <p:extLst>
              <p:ext uri="{D42A27DB-BD31-4B8C-83A1-F6EECF244321}">
                <p14:modId xmlns:p14="http://schemas.microsoft.com/office/powerpoint/2010/main" val="1781513622"/>
              </p:ext>
            </p:extLst>
          </p:nvPr>
        </p:nvGraphicFramePr>
        <p:xfrm>
          <a:off x="1006862" y="3655387"/>
          <a:ext cx="3408130" cy="1017912"/>
        </p:xfrm>
        <a:graphic>
          <a:graphicData uri="http://schemas.openxmlformats.org/drawingml/2006/table">
            <a:tbl>
              <a:tblPr firstRow="1" bandRow="1">
                <a:tableStyleId>{5C22544A-7EE6-4342-B048-85BDC9FD1C3A}</a:tableStyleId>
              </a:tblPr>
              <a:tblGrid>
                <a:gridCol w="3408130">
                  <a:extLst>
                    <a:ext uri="{9D8B030D-6E8A-4147-A177-3AD203B41FA5}">
                      <a16:colId xmlns:a16="http://schemas.microsoft.com/office/drawing/2014/main" val="2380629857"/>
                    </a:ext>
                  </a:extLst>
                </a:gridCol>
              </a:tblGrid>
              <a:tr h="2412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Scientism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70549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Overemphasizes the authority of science.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Presents science as ultimate truth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Does not attend to the relationship building.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9" name="Table 8">
            <a:extLst>
              <a:ext uri="{FF2B5EF4-FFF2-40B4-BE49-F238E27FC236}">
                <a16:creationId xmlns:a16="http://schemas.microsoft.com/office/drawing/2014/main" id="{47FED436-2032-E50E-4A0C-0063DE9A6C5C}"/>
              </a:ext>
            </a:extLst>
          </p:cNvPr>
          <p:cNvGraphicFramePr>
            <a:graphicFrameLocks noGrp="1"/>
          </p:cNvGraphicFramePr>
          <p:nvPr>
            <p:extLst>
              <p:ext uri="{D42A27DB-BD31-4B8C-83A1-F6EECF244321}">
                <p14:modId xmlns:p14="http://schemas.microsoft.com/office/powerpoint/2010/main" val="1885903167"/>
              </p:ext>
            </p:extLst>
          </p:nvPr>
        </p:nvGraphicFramePr>
        <p:xfrm>
          <a:off x="204395" y="4798483"/>
          <a:ext cx="2506532" cy="1647373"/>
        </p:xfrm>
        <a:graphic>
          <a:graphicData uri="http://schemas.openxmlformats.org/drawingml/2006/table">
            <a:tbl>
              <a:tblPr firstRow="1" bandRow="1">
                <a:tableStyleId>{5C22544A-7EE6-4342-B048-85BDC9FD1C3A}</a:tableStyleId>
              </a:tblPr>
              <a:tblGrid>
                <a:gridCol w="2506532">
                  <a:extLst>
                    <a:ext uri="{9D8B030D-6E8A-4147-A177-3AD203B41FA5}">
                      <a16:colId xmlns:a16="http://schemas.microsoft.com/office/drawing/2014/main" val="2380629857"/>
                    </a:ext>
                  </a:extLst>
                </a:gridCol>
              </a:tblGrid>
              <a:tr h="3862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Negative Communication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09111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Anger, frustration, accusations, or condescension in communication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Accusing the person of being morally unethical.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10" name="Table 8">
            <a:extLst>
              <a:ext uri="{FF2B5EF4-FFF2-40B4-BE49-F238E27FC236}">
                <a16:creationId xmlns:a16="http://schemas.microsoft.com/office/drawing/2014/main" id="{DBB9D6EF-C886-069D-25BD-9584C2046EF3}"/>
              </a:ext>
            </a:extLst>
          </p:cNvPr>
          <p:cNvGraphicFramePr>
            <a:graphicFrameLocks noGrp="1"/>
          </p:cNvGraphicFramePr>
          <p:nvPr>
            <p:extLst>
              <p:ext uri="{D42A27DB-BD31-4B8C-83A1-F6EECF244321}">
                <p14:modId xmlns:p14="http://schemas.microsoft.com/office/powerpoint/2010/main" val="3710257644"/>
              </p:ext>
            </p:extLst>
          </p:nvPr>
        </p:nvGraphicFramePr>
        <p:xfrm>
          <a:off x="3057305" y="4798482"/>
          <a:ext cx="2181669" cy="1647373"/>
        </p:xfrm>
        <a:graphic>
          <a:graphicData uri="http://schemas.openxmlformats.org/drawingml/2006/table">
            <a:tbl>
              <a:tblPr firstRow="1" bandRow="1">
                <a:tableStyleId>{5C22544A-7EE6-4342-B048-85BDC9FD1C3A}</a:tableStyleId>
              </a:tblPr>
              <a:tblGrid>
                <a:gridCol w="2181669">
                  <a:extLst>
                    <a:ext uri="{9D8B030D-6E8A-4147-A177-3AD203B41FA5}">
                      <a16:colId xmlns:a16="http://schemas.microsoft.com/office/drawing/2014/main" val="2380629857"/>
                    </a:ext>
                  </a:extLst>
                </a:gridCol>
              </a:tblGrid>
              <a:tr h="4626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Avoidance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184755">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Disengages from the conversation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Avoids conversations with those they disagree with.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sp>
        <p:nvSpPr>
          <p:cNvPr id="2" name="Title 1">
            <a:extLst>
              <a:ext uri="{FF2B5EF4-FFF2-40B4-BE49-F238E27FC236}">
                <a16:creationId xmlns:a16="http://schemas.microsoft.com/office/drawing/2014/main" id="{1CC87C3F-4BAF-D8E3-30E7-A44B27C3BD30}"/>
              </a:ext>
            </a:extLst>
          </p:cNvPr>
          <p:cNvSpPr>
            <a:spLocks noGrp="1"/>
          </p:cNvSpPr>
          <p:nvPr>
            <p:ph type="title"/>
          </p:nvPr>
        </p:nvSpPr>
        <p:spPr>
          <a:xfrm>
            <a:off x="1524516" y="335068"/>
            <a:ext cx="9109751" cy="616031"/>
          </a:xfrm>
        </p:spPr>
        <p:txBody>
          <a:bodyPr vert="horz" lIns="68580" tIns="34290" rIns="68580" bIns="34290" rtlCol="0" anchor="b">
            <a:normAutofit fontScale="90000"/>
          </a:bodyPr>
          <a:lstStyle/>
          <a:p>
            <a:pPr algn="ctr"/>
            <a:r>
              <a:rPr lang="en-US" dirty="0"/>
              <a:t>Effective science communication is a two-way street</a:t>
            </a:r>
          </a:p>
        </p:txBody>
      </p:sp>
      <p:pic>
        <p:nvPicPr>
          <p:cNvPr id="11" name="Picture 10">
            <a:extLst>
              <a:ext uri="{FF2B5EF4-FFF2-40B4-BE49-F238E27FC236}">
                <a16:creationId xmlns:a16="http://schemas.microsoft.com/office/drawing/2014/main" id="{47C7988D-4A8E-3424-586E-F759AFAECF9C}"/>
              </a:ext>
            </a:extLst>
          </p:cNvPr>
          <p:cNvPicPr>
            <a:picLocks noChangeAspect="1"/>
          </p:cNvPicPr>
          <p:nvPr/>
        </p:nvPicPr>
        <p:blipFill rotWithShape="1">
          <a:blip r:embed="rId3"/>
          <a:srcRect r="64008"/>
          <a:stretch/>
        </p:blipFill>
        <p:spPr>
          <a:xfrm>
            <a:off x="7386148" y="1425099"/>
            <a:ext cx="3408127" cy="2077832"/>
          </a:xfrm>
          <a:prstGeom prst="rect">
            <a:avLst/>
          </a:prstGeom>
          <a:ln w="38100">
            <a:solidFill>
              <a:schemeClr val="accent1">
                <a:lumMod val="50000"/>
              </a:schemeClr>
            </a:solidFill>
          </a:ln>
        </p:spPr>
      </p:pic>
      <p:pic>
        <p:nvPicPr>
          <p:cNvPr id="12" name="Picture 11">
            <a:extLst>
              <a:ext uri="{FF2B5EF4-FFF2-40B4-BE49-F238E27FC236}">
                <a16:creationId xmlns:a16="http://schemas.microsoft.com/office/drawing/2014/main" id="{96617F62-5173-429E-60F4-AB809484C866}"/>
              </a:ext>
            </a:extLst>
          </p:cNvPr>
          <p:cNvPicPr>
            <a:picLocks noChangeAspect="1"/>
          </p:cNvPicPr>
          <p:nvPr/>
        </p:nvPicPr>
        <p:blipFill rotWithShape="1">
          <a:blip r:embed="rId3"/>
          <a:srcRect l="64008"/>
          <a:stretch/>
        </p:blipFill>
        <p:spPr>
          <a:xfrm>
            <a:off x="1006863" y="1452370"/>
            <a:ext cx="3408129" cy="2077833"/>
          </a:xfrm>
          <a:prstGeom prst="rect">
            <a:avLst/>
          </a:prstGeom>
          <a:ln w="38100">
            <a:solidFill>
              <a:schemeClr val="accent1">
                <a:lumMod val="50000"/>
              </a:schemeClr>
            </a:solidFill>
          </a:ln>
        </p:spPr>
      </p:pic>
    </p:spTree>
    <p:extLst>
      <p:ext uri="{BB962C8B-B14F-4D97-AF65-F5344CB8AC3E}">
        <p14:creationId xmlns:p14="http://schemas.microsoft.com/office/powerpoint/2010/main" val="274322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21F6D-06F1-6C48-9BCB-97890C9971F3}"/>
              </a:ext>
            </a:extLst>
          </p:cNvPr>
          <p:cNvSpPr>
            <a:spLocks noGrp="1"/>
          </p:cNvSpPr>
          <p:nvPr>
            <p:ph type="title"/>
          </p:nvPr>
        </p:nvSpPr>
        <p:spPr>
          <a:xfrm>
            <a:off x="1964055" y="255374"/>
            <a:ext cx="8263890" cy="3173627"/>
          </a:xfrm>
        </p:spPr>
        <p:txBody>
          <a:bodyPr vert="horz" lIns="68580" tIns="34290" rIns="68580" bIns="34290" rtlCol="0" anchor="b">
            <a:normAutofit/>
          </a:bodyPr>
          <a:lstStyle/>
          <a:p>
            <a:pPr algn="ctr"/>
            <a:r>
              <a:rPr lang="en-US" sz="2400" dirty="0"/>
              <a:t>What about undergraduate students?</a:t>
            </a:r>
            <a:br>
              <a:rPr lang="en-US" sz="2400" dirty="0"/>
            </a:br>
            <a:br>
              <a:rPr lang="en-US" sz="2400" dirty="0"/>
            </a:br>
            <a:r>
              <a:rPr lang="en-US" sz="2400" dirty="0"/>
              <a:t>How do they communicate about culturally controversial science topics?</a:t>
            </a:r>
            <a:br>
              <a:rPr lang="en-US" sz="2400" dirty="0"/>
            </a:br>
            <a:br>
              <a:rPr lang="en-US" sz="2400" dirty="0"/>
            </a:br>
            <a:r>
              <a:rPr lang="en-US" sz="2400" dirty="0"/>
              <a:t>Do they take a deficit approach, or do they use effective science communication principles? </a:t>
            </a:r>
            <a:br>
              <a:rPr lang="en-US" sz="2400" dirty="0"/>
            </a:br>
            <a:endParaRPr lang="en-US" sz="2400" dirty="0"/>
          </a:p>
        </p:txBody>
      </p:sp>
      <p:graphicFrame>
        <p:nvGraphicFramePr>
          <p:cNvPr id="3" name="Table 8">
            <a:extLst>
              <a:ext uri="{FF2B5EF4-FFF2-40B4-BE49-F238E27FC236}">
                <a16:creationId xmlns:a16="http://schemas.microsoft.com/office/drawing/2014/main" id="{5FDEDB60-6589-2A1E-0010-8811A419A8EB}"/>
              </a:ext>
            </a:extLst>
          </p:cNvPr>
          <p:cNvGraphicFramePr>
            <a:graphicFrameLocks noGrp="1"/>
          </p:cNvGraphicFramePr>
          <p:nvPr>
            <p:extLst>
              <p:ext uri="{D42A27DB-BD31-4B8C-83A1-F6EECF244321}">
                <p14:modId xmlns:p14="http://schemas.microsoft.com/office/powerpoint/2010/main" val="1923100895"/>
              </p:ext>
            </p:extLst>
          </p:nvPr>
        </p:nvGraphicFramePr>
        <p:xfrm>
          <a:off x="2827216" y="3781603"/>
          <a:ext cx="2801318" cy="1993314"/>
        </p:xfrm>
        <a:graphic>
          <a:graphicData uri="http://schemas.openxmlformats.org/drawingml/2006/table">
            <a:tbl>
              <a:tblPr firstRow="1" bandRow="1">
                <a:tableStyleId>{5C22544A-7EE6-4342-B048-85BDC9FD1C3A}</a:tableStyleId>
              </a:tblPr>
              <a:tblGrid>
                <a:gridCol w="2801318">
                  <a:extLst>
                    <a:ext uri="{9D8B030D-6E8A-4147-A177-3AD203B41FA5}">
                      <a16:colId xmlns:a16="http://schemas.microsoft.com/office/drawing/2014/main" val="2380629857"/>
                    </a:ext>
                  </a:extLst>
                </a:gridCol>
              </a:tblGrid>
              <a:tr h="5722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white"/>
                          </a:solidFill>
                          <a:effectLst/>
                          <a:uLnTx/>
                          <a:uFillTx/>
                          <a:latin typeface="+mn-lt"/>
                          <a:ea typeface="+mn-ea"/>
                          <a:cs typeface="+mn-cs"/>
                        </a:rPr>
                        <a:t>Dialogic &amp; Inclusive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42102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prstClr val="black"/>
                          </a:solidFill>
                          <a:effectLst/>
                          <a:uLnTx/>
                          <a:uFillTx/>
                          <a:latin typeface="+mn-lt"/>
                          <a:ea typeface="+mn-ea"/>
                          <a:cs typeface="+mn-cs"/>
                        </a:rPr>
                        <a:t>Curiosity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prstClr val="black"/>
                          </a:solidFill>
                          <a:effectLst/>
                          <a:uLnTx/>
                          <a:uFillTx/>
                          <a:latin typeface="+mn-lt"/>
                          <a:ea typeface="+mn-ea"/>
                          <a:cs typeface="+mn-cs"/>
                        </a:rPr>
                        <a:t>Get to know the other person’s perspective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prstClr val="black"/>
                          </a:solidFill>
                          <a:effectLst/>
                          <a:uLnTx/>
                          <a:uFillTx/>
                          <a:latin typeface="+mn-lt"/>
                          <a:ea typeface="+mn-ea"/>
                          <a:cs typeface="+mn-cs"/>
                        </a:rPr>
                        <a:t>Be respectful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prstClr val="black"/>
                          </a:solidFill>
                          <a:effectLst/>
                          <a:uLnTx/>
                          <a:uFillTx/>
                          <a:latin typeface="+mn-lt"/>
                          <a:ea typeface="+mn-ea"/>
                          <a:cs typeface="+mn-cs"/>
                        </a:rPr>
                        <a:t>Find common ground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4" name="Table 8">
            <a:extLst>
              <a:ext uri="{FF2B5EF4-FFF2-40B4-BE49-F238E27FC236}">
                <a16:creationId xmlns:a16="http://schemas.microsoft.com/office/drawing/2014/main" id="{4E310FB3-C3EC-FEAD-E573-ECC2F0D4FDC6}"/>
              </a:ext>
            </a:extLst>
          </p:cNvPr>
          <p:cNvGraphicFramePr>
            <a:graphicFrameLocks noGrp="1"/>
          </p:cNvGraphicFramePr>
          <p:nvPr>
            <p:extLst>
              <p:ext uri="{D42A27DB-BD31-4B8C-83A1-F6EECF244321}">
                <p14:modId xmlns:p14="http://schemas.microsoft.com/office/powerpoint/2010/main" val="3000607129"/>
              </p:ext>
            </p:extLst>
          </p:nvPr>
        </p:nvGraphicFramePr>
        <p:xfrm>
          <a:off x="6183535" y="3786719"/>
          <a:ext cx="2801318" cy="1997854"/>
        </p:xfrm>
        <a:graphic>
          <a:graphicData uri="http://schemas.openxmlformats.org/drawingml/2006/table">
            <a:tbl>
              <a:tblPr firstRow="1" bandRow="1">
                <a:tableStyleId>{5C22544A-7EE6-4342-B048-85BDC9FD1C3A}</a:tableStyleId>
              </a:tblPr>
              <a:tblGrid>
                <a:gridCol w="2801318">
                  <a:extLst>
                    <a:ext uri="{9D8B030D-6E8A-4147-A177-3AD203B41FA5}">
                      <a16:colId xmlns:a16="http://schemas.microsoft.com/office/drawing/2014/main" val="2380629857"/>
                    </a:ext>
                  </a:extLst>
                </a:gridCol>
              </a:tblGrid>
              <a:tr h="6214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white"/>
                          </a:solidFill>
                          <a:effectLst/>
                          <a:uLnTx/>
                          <a:uFillTx/>
                          <a:latin typeface="+mn-lt"/>
                          <a:ea typeface="+mn-ea"/>
                          <a:cs typeface="+mn-cs"/>
                        </a:rPr>
                        <a:t>Deficit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376387">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prstClr val="black"/>
                          </a:solidFill>
                          <a:effectLst/>
                          <a:uLnTx/>
                          <a:uFillTx/>
                          <a:latin typeface="+mn-lt"/>
                          <a:ea typeface="+mn-ea"/>
                          <a:cs typeface="+mn-cs"/>
                        </a:rPr>
                        <a:t>Scientific facts only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prstClr val="black"/>
                          </a:solidFill>
                          <a:effectLst/>
                          <a:uLnTx/>
                          <a:uFillTx/>
                          <a:latin typeface="+mn-lt"/>
                          <a:ea typeface="+mn-ea"/>
                          <a:cs typeface="+mn-cs"/>
                        </a:rPr>
                        <a:t>Negative communication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prstClr val="black"/>
                          </a:solidFill>
                          <a:effectLst/>
                          <a:uLnTx/>
                          <a:uFillTx/>
                          <a:latin typeface="+mn-lt"/>
                          <a:ea typeface="+mn-ea"/>
                          <a:cs typeface="+mn-cs"/>
                        </a:rPr>
                        <a:t>Accusations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prstClr val="black"/>
                          </a:solidFill>
                          <a:effectLst/>
                          <a:uLnTx/>
                          <a:uFillTx/>
                          <a:latin typeface="+mn-lt"/>
                          <a:ea typeface="+mn-ea"/>
                          <a:cs typeface="+mn-cs"/>
                        </a:rPr>
                        <a:t>Avoidance</a:t>
                      </a:r>
                    </a:p>
                    <a:p>
                      <a:endParaRPr 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spTree>
    <p:extLst>
      <p:ext uri="{BB962C8B-B14F-4D97-AF65-F5344CB8AC3E}">
        <p14:creationId xmlns:p14="http://schemas.microsoft.com/office/powerpoint/2010/main" val="785610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CD90E2EE-5A65-49FB-AA5D-42F3E29A2093}"/>
              </a:ext>
            </a:extLst>
          </p:cNvPr>
          <p:cNvSpPr>
            <a:spLocks noGrp="1"/>
          </p:cNvSpPr>
          <p:nvPr>
            <p:ph type="title"/>
          </p:nvPr>
        </p:nvSpPr>
        <p:spPr>
          <a:xfrm>
            <a:off x="1718313" y="423360"/>
            <a:ext cx="8755375" cy="740376"/>
          </a:xfrm>
        </p:spPr>
        <p:txBody>
          <a:bodyPr>
            <a:noAutofit/>
          </a:bodyPr>
          <a:lstStyle/>
          <a:p>
            <a:pPr algn="ctr"/>
            <a:r>
              <a:rPr lang="en-US" sz="2400" b="1" dirty="0">
                <a:solidFill>
                  <a:schemeClr val="bg1"/>
                </a:solidFill>
                <a:latin typeface="+mn-lt"/>
              </a:rPr>
              <a:t>Studies exploring undergraduate biology students’ </a:t>
            </a:r>
            <a:br>
              <a:rPr lang="en-US" sz="2400" b="1" dirty="0">
                <a:solidFill>
                  <a:schemeClr val="bg1"/>
                </a:solidFill>
                <a:latin typeface="+mn-lt"/>
              </a:rPr>
            </a:br>
            <a:r>
              <a:rPr lang="en-US" sz="2400" b="1" dirty="0">
                <a:solidFill>
                  <a:schemeClr val="bg1"/>
                </a:solidFill>
                <a:latin typeface="+mn-lt"/>
              </a:rPr>
              <a:t>current CCST communication experiences</a:t>
            </a:r>
          </a:p>
        </p:txBody>
      </p:sp>
      <p:pic>
        <p:nvPicPr>
          <p:cNvPr id="4" name="Graphic 3" descr="Users with solid fill">
            <a:extLst>
              <a:ext uri="{FF2B5EF4-FFF2-40B4-BE49-F238E27FC236}">
                <a16:creationId xmlns:a16="http://schemas.microsoft.com/office/drawing/2014/main" id="{6127275D-76A8-A811-F9CA-76868F8331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66182" y="2642332"/>
            <a:ext cx="969416" cy="969416"/>
          </a:xfrm>
          <a:prstGeom prst="rect">
            <a:avLst/>
          </a:prstGeom>
        </p:spPr>
      </p:pic>
      <p:pic>
        <p:nvPicPr>
          <p:cNvPr id="5" name="Graphic 4" descr="Users with solid fill">
            <a:extLst>
              <a:ext uri="{FF2B5EF4-FFF2-40B4-BE49-F238E27FC236}">
                <a16:creationId xmlns:a16="http://schemas.microsoft.com/office/drawing/2014/main" id="{B9D552EE-0F69-7D5D-499F-7EE280BAAE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57125" y="2652579"/>
            <a:ext cx="969416" cy="969416"/>
          </a:xfrm>
          <a:prstGeom prst="rect">
            <a:avLst/>
          </a:prstGeom>
        </p:spPr>
      </p:pic>
      <p:sp>
        <p:nvSpPr>
          <p:cNvPr id="8" name="TextBox 7">
            <a:extLst>
              <a:ext uri="{FF2B5EF4-FFF2-40B4-BE49-F238E27FC236}">
                <a16:creationId xmlns:a16="http://schemas.microsoft.com/office/drawing/2014/main" id="{3F9C1E9F-4F05-95EB-AAF0-EF740D5DBCA8}"/>
              </a:ext>
            </a:extLst>
          </p:cNvPr>
          <p:cNvSpPr txBox="1"/>
          <p:nvPr/>
        </p:nvSpPr>
        <p:spPr>
          <a:xfrm>
            <a:off x="2291671" y="1992024"/>
            <a:ext cx="1783501" cy="646331"/>
          </a:xfrm>
          <a:prstGeom prst="rect">
            <a:avLst/>
          </a:prstGeom>
          <a:noFill/>
        </p:spPr>
        <p:txBody>
          <a:bodyPr wrap="square" rtlCol="0">
            <a:spAutoFit/>
          </a:bodyPr>
          <a:lstStyle/>
          <a:p>
            <a:pPr algn="ctr" defTabSz="685800">
              <a:defRPr/>
            </a:pPr>
            <a:r>
              <a:rPr lang="en-US" dirty="0">
                <a:solidFill>
                  <a:srgbClr val="FFFFFF"/>
                </a:solidFill>
                <a:latin typeface="Calibri" panose="020F0502020204030204"/>
              </a:rPr>
              <a:t>Vaccine Communication</a:t>
            </a:r>
          </a:p>
        </p:txBody>
      </p:sp>
      <p:sp>
        <p:nvSpPr>
          <p:cNvPr id="9" name="TextBox 8">
            <a:extLst>
              <a:ext uri="{FF2B5EF4-FFF2-40B4-BE49-F238E27FC236}">
                <a16:creationId xmlns:a16="http://schemas.microsoft.com/office/drawing/2014/main" id="{A233D166-C529-AB88-AA2B-2B150ED4574A}"/>
              </a:ext>
            </a:extLst>
          </p:cNvPr>
          <p:cNvSpPr txBox="1"/>
          <p:nvPr/>
        </p:nvSpPr>
        <p:spPr>
          <a:xfrm>
            <a:off x="4049201" y="2019728"/>
            <a:ext cx="2376394" cy="646331"/>
          </a:xfrm>
          <a:prstGeom prst="rect">
            <a:avLst/>
          </a:prstGeom>
          <a:noFill/>
        </p:spPr>
        <p:txBody>
          <a:bodyPr wrap="square" rtlCol="0">
            <a:spAutoFit/>
          </a:bodyPr>
          <a:lstStyle/>
          <a:p>
            <a:pPr algn="ctr" defTabSz="685800">
              <a:defRPr/>
            </a:pPr>
            <a:r>
              <a:rPr lang="en-US" dirty="0">
                <a:solidFill>
                  <a:srgbClr val="FFFFFF"/>
                </a:solidFill>
                <a:latin typeface="Calibri" panose="020F0502020204030204"/>
              </a:rPr>
              <a:t>Climate Change Communication</a:t>
            </a:r>
          </a:p>
        </p:txBody>
      </p:sp>
      <p:sp>
        <p:nvSpPr>
          <p:cNvPr id="10" name="TextBox 9">
            <a:extLst>
              <a:ext uri="{FF2B5EF4-FFF2-40B4-BE49-F238E27FC236}">
                <a16:creationId xmlns:a16="http://schemas.microsoft.com/office/drawing/2014/main" id="{758A1C77-EE32-16A7-17A4-DA1A6961D483}"/>
              </a:ext>
            </a:extLst>
          </p:cNvPr>
          <p:cNvSpPr txBox="1"/>
          <p:nvPr/>
        </p:nvSpPr>
        <p:spPr>
          <a:xfrm>
            <a:off x="6516286" y="2779204"/>
            <a:ext cx="2953571" cy="369332"/>
          </a:xfrm>
          <a:prstGeom prst="rect">
            <a:avLst/>
          </a:prstGeom>
          <a:noFill/>
        </p:spPr>
        <p:txBody>
          <a:bodyPr wrap="square" rtlCol="0">
            <a:spAutoFit/>
          </a:bodyPr>
          <a:lstStyle/>
          <a:p>
            <a:pPr defTabSz="685800">
              <a:defRPr/>
            </a:pPr>
            <a:r>
              <a:rPr lang="en-US" dirty="0">
                <a:solidFill>
                  <a:srgbClr val="FFFFFF"/>
                </a:solidFill>
                <a:latin typeface="Calibri" panose="020F0502020204030204"/>
              </a:rPr>
              <a:t>Communication frequency</a:t>
            </a:r>
          </a:p>
        </p:txBody>
      </p:sp>
      <p:sp>
        <p:nvSpPr>
          <p:cNvPr id="11" name="TextBox 10">
            <a:extLst>
              <a:ext uri="{FF2B5EF4-FFF2-40B4-BE49-F238E27FC236}">
                <a16:creationId xmlns:a16="http://schemas.microsoft.com/office/drawing/2014/main" id="{78C25DAB-418F-E3C8-4ADB-EE78436926F0}"/>
              </a:ext>
            </a:extLst>
          </p:cNvPr>
          <p:cNvSpPr txBox="1"/>
          <p:nvPr/>
        </p:nvSpPr>
        <p:spPr>
          <a:xfrm>
            <a:off x="6533231" y="3270370"/>
            <a:ext cx="2776643" cy="369332"/>
          </a:xfrm>
          <a:prstGeom prst="rect">
            <a:avLst/>
          </a:prstGeom>
          <a:noFill/>
        </p:spPr>
        <p:txBody>
          <a:bodyPr wrap="square" rtlCol="0">
            <a:spAutoFit/>
          </a:bodyPr>
          <a:lstStyle/>
          <a:p>
            <a:pPr defTabSz="685800">
              <a:defRPr/>
            </a:pPr>
            <a:r>
              <a:rPr lang="en-US" dirty="0">
                <a:solidFill>
                  <a:srgbClr val="FFFFFF"/>
                </a:solidFill>
                <a:latin typeface="Calibri" panose="020F0502020204030204"/>
              </a:rPr>
              <a:t>Communication strategies</a:t>
            </a:r>
          </a:p>
        </p:txBody>
      </p:sp>
      <p:sp>
        <p:nvSpPr>
          <p:cNvPr id="12" name="TextBox 11">
            <a:extLst>
              <a:ext uri="{FF2B5EF4-FFF2-40B4-BE49-F238E27FC236}">
                <a16:creationId xmlns:a16="http://schemas.microsoft.com/office/drawing/2014/main" id="{861DC431-88E2-2F30-B0E3-232DEE08763A}"/>
              </a:ext>
            </a:extLst>
          </p:cNvPr>
          <p:cNvSpPr txBox="1"/>
          <p:nvPr/>
        </p:nvSpPr>
        <p:spPr>
          <a:xfrm>
            <a:off x="6516286" y="3761536"/>
            <a:ext cx="3913157" cy="369332"/>
          </a:xfrm>
          <a:prstGeom prst="rect">
            <a:avLst/>
          </a:prstGeom>
          <a:noFill/>
        </p:spPr>
        <p:txBody>
          <a:bodyPr wrap="square" rtlCol="0">
            <a:spAutoFit/>
          </a:bodyPr>
          <a:lstStyle/>
          <a:p>
            <a:pPr defTabSz="685800">
              <a:defRPr/>
            </a:pPr>
            <a:r>
              <a:rPr lang="en-US" dirty="0">
                <a:solidFill>
                  <a:srgbClr val="FFFFFF"/>
                </a:solidFill>
                <a:latin typeface="Calibri" panose="020F0502020204030204"/>
              </a:rPr>
              <a:t>Communication education experiences</a:t>
            </a:r>
          </a:p>
        </p:txBody>
      </p:sp>
      <p:sp>
        <p:nvSpPr>
          <p:cNvPr id="20" name="TextBox 19">
            <a:extLst>
              <a:ext uri="{FF2B5EF4-FFF2-40B4-BE49-F238E27FC236}">
                <a16:creationId xmlns:a16="http://schemas.microsoft.com/office/drawing/2014/main" id="{07D5216C-1329-21F4-B13C-86E4E1774FE0}"/>
              </a:ext>
            </a:extLst>
          </p:cNvPr>
          <p:cNvSpPr txBox="1"/>
          <p:nvPr/>
        </p:nvSpPr>
        <p:spPr>
          <a:xfrm>
            <a:off x="6758294" y="2166204"/>
            <a:ext cx="2376394" cy="369332"/>
          </a:xfrm>
          <a:prstGeom prst="rect">
            <a:avLst/>
          </a:prstGeom>
          <a:noFill/>
        </p:spPr>
        <p:txBody>
          <a:bodyPr wrap="square" rtlCol="0">
            <a:spAutoFit/>
          </a:bodyPr>
          <a:lstStyle/>
          <a:p>
            <a:pPr defTabSz="685800">
              <a:defRPr/>
            </a:pPr>
            <a:r>
              <a:rPr lang="en-US" b="1" dirty="0">
                <a:solidFill>
                  <a:srgbClr val="FFFFFF"/>
                </a:solidFill>
                <a:latin typeface="Calibri" panose="020F0502020204030204"/>
              </a:rPr>
              <a:t>Variables explored:</a:t>
            </a:r>
          </a:p>
        </p:txBody>
      </p:sp>
      <p:pic>
        <p:nvPicPr>
          <p:cNvPr id="26" name="Graphic 25" descr="Document with solid fill">
            <a:extLst>
              <a:ext uri="{FF2B5EF4-FFF2-40B4-BE49-F238E27FC236}">
                <a16:creationId xmlns:a16="http://schemas.microsoft.com/office/drawing/2014/main" id="{53195C70-40D9-8139-670B-EBC3FE9FCE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29334" y="4956638"/>
            <a:ext cx="1029733" cy="1025508"/>
          </a:xfrm>
          <a:prstGeom prst="rect">
            <a:avLst/>
          </a:prstGeom>
        </p:spPr>
      </p:pic>
      <p:sp>
        <p:nvSpPr>
          <p:cNvPr id="31" name="TextBox 30">
            <a:extLst>
              <a:ext uri="{FF2B5EF4-FFF2-40B4-BE49-F238E27FC236}">
                <a16:creationId xmlns:a16="http://schemas.microsoft.com/office/drawing/2014/main" id="{F9114487-D8B3-1374-02B3-6390F7AECAC8}"/>
              </a:ext>
            </a:extLst>
          </p:cNvPr>
          <p:cNvSpPr txBox="1"/>
          <p:nvPr/>
        </p:nvSpPr>
        <p:spPr>
          <a:xfrm>
            <a:off x="4944496" y="4539554"/>
            <a:ext cx="2528112" cy="461665"/>
          </a:xfrm>
          <a:prstGeom prst="rect">
            <a:avLst/>
          </a:prstGeom>
          <a:noFill/>
        </p:spPr>
        <p:txBody>
          <a:bodyPr wrap="square" rtlCol="0">
            <a:spAutoFit/>
          </a:bodyPr>
          <a:lstStyle/>
          <a:p>
            <a:pPr defTabSz="685800">
              <a:defRPr/>
            </a:pPr>
            <a:r>
              <a:rPr lang="en-US" sz="2400" b="1" dirty="0">
                <a:solidFill>
                  <a:srgbClr val="FFFFFF"/>
                </a:solidFill>
                <a:latin typeface="Calibri" panose="020F0502020204030204"/>
              </a:rPr>
              <a:t>Methods used:</a:t>
            </a:r>
          </a:p>
        </p:txBody>
      </p:sp>
      <p:sp>
        <p:nvSpPr>
          <p:cNvPr id="39" name="TextBox 38">
            <a:extLst>
              <a:ext uri="{FF2B5EF4-FFF2-40B4-BE49-F238E27FC236}">
                <a16:creationId xmlns:a16="http://schemas.microsoft.com/office/drawing/2014/main" id="{C7A19DEC-D2EA-5E30-031A-6D5853DA35E5}"/>
              </a:ext>
            </a:extLst>
          </p:cNvPr>
          <p:cNvSpPr txBox="1"/>
          <p:nvPr/>
        </p:nvSpPr>
        <p:spPr>
          <a:xfrm>
            <a:off x="4551867" y="6022905"/>
            <a:ext cx="1029734" cy="369332"/>
          </a:xfrm>
          <a:prstGeom prst="rect">
            <a:avLst/>
          </a:prstGeom>
          <a:noFill/>
        </p:spPr>
        <p:txBody>
          <a:bodyPr wrap="square" rtlCol="0">
            <a:spAutoFit/>
          </a:bodyPr>
          <a:lstStyle>
            <a:defPPr>
              <a:defRPr lang="en-US"/>
            </a:defPPr>
            <a:lvl1pPr algn="ctr" defTabSz="685800">
              <a:defRPr sz="1500">
                <a:solidFill>
                  <a:schemeClr val="bg1"/>
                </a:solidFill>
                <a:latin typeface="Calibri" panose="020F0502020204030204"/>
              </a:defRPr>
            </a:lvl1pPr>
          </a:lstStyle>
          <a:p>
            <a:r>
              <a:rPr lang="en-US" sz="1800" dirty="0">
                <a:solidFill>
                  <a:srgbClr val="FFFFFF"/>
                </a:solidFill>
              </a:rPr>
              <a:t>Surveys</a:t>
            </a:r>
          </a:p>
        </p:txBody>
      </p:sp>
      <p:sp>
        <p:nvSpPr>
          <p:cNvPr id="2" name="TextBox 1">
            <a:extLst>
              <a:ext uri="{FF2B5EF4-FFF2-40B4-BE49-F238E27FC236}">
                <a16:creationId xmlns:a16="http://schemas.microsoft.com/office/drawing/2014/main" id="{48DB2D2B-BD47-CB17-08D2-CA0BD12D8ED1}"/>
              </a:ext>
            </a:extLst>
          </p:cNvPr>
          <p:cNvSpPr txBox="1"/>
          <p:nvPr/>
        </p:nvSpPr>
        <p:spPr>
          <a:xfrm>
            <a:off x="5636395" y="5310578"/>
            <a:ext cx="572157" cy="461665"/>
          </a:xfrm>
          <a:prstGeom prst="rect">
            <a:avLst/>
          </a:prstGeom>
          <a:noFill/>
        </p:spPr>
        <p:txBody>
          <a:bodyPr wrap="square" rtlCol="0">
            <a:spAutoFit/>
          </a:bodyPr>
          <a:lstStyle/>
          <a:p>
            <a:pPr algn="ctr" defTabSz="685800">
              <a:defRPr/>
            </a:pPr>
            <a:r>
              <a:rPr lang="en-US" sz="2400" dirty="0">
                <a:solidFill>
                  <a:srgbClr val="FFFFFF"/>
                </a:solidFill>
                <a:latin typeface="Calibri" panose="020F0502020204030204"/>
              </a:rPr>
              <a:t>+</a:t>
            </a:r>
          </a:p>
        </p:txBody>
      </p:sp>
      <p:sp>
        <p:nvSpPr>
          <p:cNvPr id="3" name="TextBox 2">
            <a:extLst>
              <a:ext uri="{FF2B5EF4-FFF2-40B4-BE49-F238E27FC236}">
                <a16:creationId xmlns:a16="http://schemas.microsoft.com/office/drawing/2014/main" id="{0F390120-12FC-BE19-9A84-F112D6217043}"/>
              </a:ext>
            </a:extLst>
          </p:cNvPr>
          <p:cNvSpPr txBox="1"/>
          <p:nvPr/>
        </p:nvSpPr>
        <p:spPr>
          <a:xfrm>
            <a:off x="6208552" y="6034071"/>
            <a:ext cx="1157012" cy="369332"/>
          </a:xfrm>
          <a:prstGeom prst="rect">
            <a:avLst/>
          </a:prstGeom>
          <a:noFill/>
        </p:spPr>
        <p:txBody>
          <a:bodyPr wrap="square" rtlCol="0">
            <a:spAutoFit/>
          </a:bodyPr>
          <a:lstStyle/>
          <a:p>
            <a:pPr algn="ctr" defTabSz="685800">
              <a:defRPr/>
            </a:pPr>
            <a:r>
              <a:rPr lang="en-US" dirty="0">
                <a:solidFill>
                  <a:srgbClr val="FFFFFF"/>
                </a:solidFill>
                <a:latin typeface="Calibri" panose="020F0502020204030204"/>
              </a:rPr>
              <a:t>Interviews</a:t>
            </a:r>
          </a:p>
        </p:txBody>
      </p:sp>
      <p:pic>
        <p:nvPicPr>
          <p:cNvPr id="6" name="Graphic 5" descr="Boardroom with solid fill">
            <a:extLst>
              <a:ext uri="{FF2B5EF4-FFF2-40B4-BE49-F238E27FC236}">
                <a16:creationId xmlns:a16="http://schemas.microsoft.com/office/drawing/2014/main" id="{592D5D14-8E2F-742A-53C6-1DC44382E60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3410" y="4972862"/>
            <a:ext cx="1152022" cy="1152022"/>
          </a:xfrm>
          <a:prstGeom prst="rect">
            <a:avLst/>
          </a:prstGeom>
        </p:spPr>
      </p:pic>
    </p:spTree>
    <p:extLst>
      <p:ext uri="{BB962C8B-B14F-4D97-AF65-F5344CB8AC3E}">
        <p14:creationId xmlns:p14="http://schemas.microsoft.com/office/powerpoint/2010/main" val="869648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B12DD-A4F8-631D-EA95-DC5E3BCC31DF}"/>
            </a:ext>
          </a:extLst>
        </p:cNvPr>
        <p:cNvGrpSpPr/>
        <p:nvPr/>
      </p:nvGrpSpPr>
      <p:grpSpPr>
        <a:xfrm>
          <a:off x="0" y="0"/>
          <a:ext cx="0" cy="0"/>
          <a:chOff x="0" y="0"/>
          <a:chExt cx="0" cy="0"/>
        </a:xfrm>
      </p:grpSpPr>
      <p:sp>
        <p:nvSpPr>
          <p:cNvPr id="35" name="Title 1">
            <a:extLst>
              <a:ext uri="{FF2B5EF4-FFF2-40B4-BE49-F238E27FC236}">
                <a16:creationId xmlns:a16="http://schemas.microsoft.com/office/drawing/2014/main" id="{48180BC5-1B32-1E63-97E8-0D9AE5FF4EB9}"/>
              </a:ext>
            </a:extLst>
          </p:cNvPr>
          <p:cNvSpPr>
            <a:spLocks noGrp="1"/>
          </p:cNvSpPr>
          <p:nvPr>
            <p:ph type="title"/>
          </p:nvPr>
        </p:nvSpPr>
        <p:spPr>
          <a:xfrm>
            <a:off x="225911" y="299737"/>
            <a:ext cx="11693561" cy="679936"/>
          </a:xfrm>
        </p:spPr>
        <p:txBody>
          <a:bodyPr>
            <a:noAutofit/>
          </a:bodyPr>
          <a:lstStyle/>
          <a:p>
            <a:pPr algn="ctr"/>
            <a:r>
              <a:rPr lang="en-US" sz="2400" b="1" dirty="0">
                <a:solidFill>
                  <a:srgbClr val="FFFFFF"/>
                </a:solidFill>
                <a:latin typeface="+mn-lt"/>
              </a:rPr>
              <a:t>Finding 1: Students are already science communicators </a:t>
            </a:r>
            <a:br>
              <a:rPr lang="en-US" sz="2400" b="1" dirty="0">
                <a:solidFill>
                  <a:srgbClr val="FFFFFF"/>
                </a:solidFill>
                <a:latin typeface="+mn-lt"/>
              </a:rPr>
            </a:br>
            <a:r>
              <a:rPr lang="en-US" sz="2400" b="1" dirty="0">
                <a:solidFill>
                  <a:srgbClr val="FFFFFF"/>
                </a:solidFill>
                <a:latin typeface="+mn-lt"/>
              </a:rPr>
              <a:t>about controversial topics </a:t>
            </a:r>
          </a:p>
        </p:txBody>
      </p:sp>
      <p:pic>
        <p:nvPicPr>
          <p:cNvPr id="6" name="image1.png" descr="Graphical user interface, table&#10;&#10;Description automatically generated">
            <a:extLst>
              <a:ext uri="{FF2B5EF4-FFF2-40B4-BE49-F238E27FC236}">
                <a16:creationId xmlns:a16="http://schemas.microsoft.com/office/drawing/2014/main" id="{22568791-C54B-F57A-72BE-C6B73C599385}"/>
              </a:ext>
            </a:extLst>
          </p:cNvPr>
          <p:cNvPicPr/>
          <p:nvPr/>
        </p:nvPicPr>
        <p:blipFill rotWithShape="1">
          <a:blip r:embed="rId3"/>
          <a:srcRect l="51650" t="21112" r="2095" b="57757"/>
          <a:stretch/>
        </p:blipFill>
        <p:spPr>
          <a:xfrm>
            <a:off x="2132430" y="4416129"/>
            <a:ext cx="3735406" cy="1158384"/>
          </a:xfrm>
          <a:prstGeom prst="rect">
            <a:avLst/>
          </a:prstGeom>
          <a:ln w="38100">
            <a:solidFill>
              <a:srgbClr val="FFFFFF"/>
            </a:solidFill>
          </a:ln>
        </p:spPr>
      </p:pic>
      <p:pic>
        <p:nvPicPr>
          <p:cNvPr id="8" name="Graphic 7" descr="Users with solid fill">
            <a:extLst>
              <a:ext uri="{FF2B5EF4-FFF2-40B4-BE49-F238E27FC236}">
                <a16:creationId xmlns:a16="http://schemas.microsoft.com/office/drawing/2014/main" id="{E252287B-EA73-4DCD-E672-A87D34817D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01763" y="2644335"/>
            <a:ext cx="880588" cy="880588"/>
          </a:xfrm>
          <a:prstGeom prst="rect">
            <a:avLst/>
          </a:prstGeom>
        </p:spPr>
      </p:pic>
      <p:pic>
        <p:nvPicPr>
          <p:cNvPr id="9" name="Graphic 8" descr="Users with solid fill">
            <a:extLst>
              <a:ext uri="{FF2B5EF4-FFF2-40B4-BE49-F238E27FC236}">
                <a16:creationId xmlns:a16="http://schemas.microsoft.com/office/drawing/2014/main" id="{9F7D1A15-87E0-72C1-937C-602506A638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47491" y="2644335"/>
            <a:ext cx="880588" cy="880588"/>
          </a:xfrm>
          <a:prstGeom prst="rect">
            <a:avLst/>
          </a:prstGeom>
        </p:spPr>
      </p:pic>
      <p:sp>
        <p:nvSpPr>
          <p:cNvPr id="10" name="TextBox 9">
            <a:extLst>
              <a:ext uri="{FF2B5EF4-FFF2-40B4-BE49-F238E27FC236}">
                <a16:creationId xmlns:a16="http://schemas.microsoft.com/office/drawing/2014/main" id="{2420B866-3E5A-E341-B0A4-F86309E3D1C0}"/>
              </a:ext>
            </a:extLst>
          </p:cNvPr>
          <p:cNvSpPr txBox="1"/>
          <p:nvPr/>
        </p:nvSpPr>
        <p:spPr>
          <a:xfrm>
            <a:off x="2996769" y="1847251"/>
            <a:ext cx="2189516" cy="646331"/>
          </a:xfrm>
          <a:prstGeom prst="rect">
            <a:avLst/>
          </a:prstGeom>
          <a:noFill/>
        </p:spPr>
        <p:txBody>
          <a:bodyPr wrap="square" rtlCol="0">
            <a:spAutoFit/>
          </a:bodyPr>
          <a:lstStyle/>
          <a:p>
            <a:pPr algn="ctr" defTabSz="685800">
              <a:defRPr/>
            </a:pPr>
            <a:r>
              <a:rPr lang="en-US" dirty="0">
                <a:solidFill>
                  <a:srgbClr val="FFFFFF"/>
                </a:solidFill>
                <a:latin typeface="Calibri" panose="020F0502020204030204"/>
              </a:rPr>
              <a:t>COVID-19 Vaccine Communication</a:t>
            </a:r>
          </a:p>
        </p:txBody>
      </p:sp>
      <p:sp>
        <p:nvSpPr>
          <p:cNvPr id="11" name="TextBox 10">
            <a:extLst>
              <a:ext uri="{FF2B5EF4-FFF2-40B4-BE49-F238E27FC236}">
                <a16:creationId xmlns:a16="http://schemas.microsoft.com/office/drawing/2014/main" id="{AF4129BF-C395-652C-A36F-2A69C97AA537}"/>
              </a:ext>
            </a:extLst>
          </p:cNvPr>
          <p:cNvSpPr txBox="1"/>
          <p:nvPr/>
        </p:nvSpPr>
        <p:spPr>
          <a:xfrm>
            <a:off x="7318641" y="1843115"/>
            <a:ext cx="1811657" cy="646331"/>
          </a:xfrm>
          <a:prstGeom prst="rect">
            <a:avLst/>
          </a:prstGeom>
          <a:noFill/>
        </p:spPr>
        <p:txBody>
          <a:bodyPr wrap="square" rtlCol="0">
            <a:spAutoFit/>
          </a:bodyPr>
          <a:lstStyle/>
          <a:p>
            <a:pPr algn="ctr" defTabSz="685800">
              <a:defRPr/>
            </a:pPr>
            <a:r>
              <a:rPr lang="en-US" dirty="0">
                <a:solidFill>
                  <a:srgbClr val="FFFFFF"/>
                </a:solidFill>
                <a:latin typeface="Calibri" panose="020F0502020204030204"/>
              </a:rPr>
              <a:t>Climate Change Communication</a:t>
            </a:r>
          </a:p>
        </p:txBody>
      </p:sp>
      <p:pic>
        <p:nvPicPr>
          <p:cNvPr id="14" name="Graphic 13" descr="Document with solid fill">
            <a:extLst>
              <a:ext uri="{FF2B5EF4-FFF2-40B4-BE49-F238E27FC236}">
                <a16:creationId xmlns:a16="http://schemas.microsoft.com/office/drawing/2014/main" id="{1C9B519E-4551-63AF-B69C-3A83659556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6407" y="1786785"/>
            <a:ext cx="1119184" cy="1119184"/>
          </a:xfrm>
          <a:prstGeom prst="rect">
            <a:avLst/>
          </a:prstGeom>
        </p:spPr>
      </p:pic>
      <p:sp>
        <p:nvSpPr>
          <p:cNvPr id="15" name="TextBox 14">
            <a:extLst>
              <a:ext uri="{FF2B5EF4-FFF2-40B4-BE49-F238E27FC236}">
                <a16:creationId xmlns:a16="http://schemas.microsoft.com/office/drawing/2014/main" id="{324263B7-A435-E510-BB0D-DD3293F15A69}"/>
              </a:ext>
            </a:extLst>
          </p:cNvPr>
          <p:cNvSpPr txBox="1"/>
          <p:nvPr/>
        </p:nvSpPr>
        <p:spPr>
          <a:xfrm>
            <a:off x="5653009" y="2799954"/>
            <a:ext cx="880587" cy="323165"/>
          </a:xfrm>
          <a:prstGeom prst="rect">
            <a:avLst/>
          </a:prstGeom>
          <a:noFill/>
        </p:spPr>
        <p:txBody>
          <a:bodyPr wrap="square" rtlCol="0">
            <a:spAutoFit/>
          </a:bodyPr>
          <a:lstStyle/>
          <a:p>
            <a:pPr algn="ctr" defTabSz="685800">
              <a:defRPr/>
            </a:pPr>
            <a:r>
              <a:rPr lang="en-US" sz="1500">
                <a:solidFill>
                  <a:srgbClr val="FFFFFF"/>
                </a:solidFill>
                <a:latin typeface="Calibri" panose="020F0502020204030204"/>
              </a:rPr>
              <a:t>surveys</a:t>
            </a:r>
          </a:p>
        </p:txBody>
      </p:sp>
      <p:sp>
        <p:nvSpPr>
          <p:cNvPr id="18" name="TextBox 17">
            <a:extLst>
              <a:ext uri="{FF2B5EF4-FFF2-40B4-BE49-F238E27FC236}">
                <a16:creationId xmlns:a16="http://schemas.microsoft.com/office/drawing/2014/main" id="{79954962-B72A-D8EC-58E3-A554CDB7C423}"/>
              </a:ext>
            </a:extLst>
          </p:cNvPr>
          <p:cNvSpPr txBox="1"/>
          <p:nvPr/>
        </p:nvSpPr>
        <p:spPr>
          <a:xfrm>
            <a:off x="7395937" y="3555108"/>
            <a:ext cx="1657062" cy="507831"/>
          </a:xfrm>
          <a:prstGeom prst="rect">
            <a:avLst/>
          </a:prstGeom>
          <a:noFill/>
        </p:spPr>
        <p:txBody>
          <a:bodyPr wrap="square" rtlCol="0">
            <a:spAutoFit/>
          </a:bodyPr>
          <a:lstStyle/>
          <a:p>
            <a:pPr algn="ctr" defTabSz="685800">
              <a:defRPr/>
            </a:pPr>
            <a:r>
              <a:rPr lang="en-US" sz="1350" dirty="0">
                <a:solidFill>
                  <a:srgbClr val="FFFFFF"/>
                </a:solidFill>
                <a:latin typeface="Calibri" panose="020F0502020204030204"/>
              </a:rPr>
              <a:t>255 biology students </a:t>
            </a:r>
          </a:p>
          <a:p>
            <a:pPr algn="ctr" defTabSz="685800">
              <a:defRPr/>
            </a:pPr>
            <a:r>
              <a:rPr lang="en-US" sz="1350" dirty="0">
                <a:solidFill>
                  <a:srgbClr val="FFFFFF"/>
                </a:solidFill>
                <a:latin typeface="Calibri" panose="020F0502020204030204"/>
              </a:rPr>
              <a:t>38 universities</a:t>
            </a:r>
          </a:p>
        </p:txBody>
      </p:sp>
      <p:sp>
        <p:nvSpPr>
          <p:cNvPr id="19" name="TextBox 18">
            <a:extLst>
              <a:ext uri="{FF2B5EF4-FFF2-40B4-BE49-F238E27FC236}">
                <a16:creationId xmlns:a16="http://schemas.microsoft.com/office/drawing/2014/main" id="{C5F25AA9-8C43-D62D-9440-BA1A10460CA4}"/>
              </a:ext>
            </a:extLst>
          </p:cNvPr>
          <p:cNvSpPr txBox="1"/>
          <p:nvPr/>
        </p:nvSpPr>
        <p:spPr>
          <a:xfrm>
            <a:off x="3042371" y="3555107"/>
            <a:ext cx="2090828" cy="507831"/>
          </a:xfrm>
          <a:prstGeom prst="rect">
            <a:avLst/>
          </a:prstGeom>
          <a:noFill/>
        </p:spPr>
        <p:txBody>
          <a:bodyPr wrap="square" rtlCol="0">
            <a:spAutoFit/>
          </a:bodyPr>
          <a:lstStyle/>
          <a:p>
            <a:pPr algn="ctr" defTabSz="685800">
              <a:defRPr/>
            </a:pPr>
            <a:r>
              <a:rPr lang="en-US" sz="1350" dirty="0">
                <a:solidFill>
                  <a:srgbClr val="FFFFFF"/>
                </a:solidFill>
                <a:latin typeface="Calibri" panose="020F0502020204030204"/>
              </a:rPr>
              <a:t>533 MTSU </a:t>
            </a:r>
          </a:p>
          <a:p>
            <a:pPr algn="ctr" defTabSz="685800">
              <a:defRPr/>
            </a:pPr>
            <a:r>
              <a:rPr lang="en-US" sz="1350" dirty="0">
                <a:solidFill>
                  <a:srgbClr val="FFFFFF"/>
                </a:solidFill>
                <a:latin typeface="Calibri" panose="020F0502020204030204"/>
              </a:rPr>
              <a:t>biology students </a:t>
            </a:r>
          </a:p>
        </p:txBody>
      </p:sp>
      <p:sp>
        <p:nvSpPr>
          <p:cNvPr id="23" name="TextBox 22">
            <a:extLst>
              <a:ext uri="{FF2B5EF4-FFF2-40B4-BE49-F238E27FC236}">
                <a16:creationId xmlns:a16="http://schemas.microsoft.com/office/drawing/2014/main" id="{55A6C3DD-8434-E482-52EA-5BCEE519B43F}"/>
              </a:ext>
            </a:extLst>
          </p:cNvPr>
          <p:cNvSpPr txBox="1"/>
          <p:nvPr/>
        </p:nvSpPr>
        <p:spPr>
          <a:xfrm>
            <a:off x="2093587" y="4162213"/>
            <a:ext cx="2090827" cy="253916"/>
          </a:xfrm>
          <a:prstGeom prst="rect">
            <a:avLst/>
          </a:prstGeom>
          <a:noFill/>
        </p:spPr>
        <p:txBody>
          <a:bodyPr wrap="square" rtlCol="0">
            <a:spAutoFit/>
          </a:bodyPr>
          <a:lstStyle/>
          <a:p>
            <a:pPr defTabSz="685800">
              <a:defRPr/>
            </a:pPr>
            <a:r>
              <a:rPr lang="en-US" sz="1050" dirty="0">
                <a:solidFill>
                  <a:srgbClr val="FFFFFF"/>
                </a:solidFill>
                <a:latin typeface="Calibri" panose="020F0502020204030204"/>
              </a:rPr>
              <a:t>*data collected April 2021</a:t>
            </a:r>
          </a:p>
        </p:txBody>
      </p:sp>
      <p:sp>
        <p:nvSpPr>
          <p:cNvPr id="2" name="TextBox 1">
            <a:extLst>
              <a:ext uri="{FF2B5EF4-FFF2-40B4-BE49-F238E27FC236}">
                <a16:creationId xmlns:a16="http://schemas.microsoft.com/office/drawing/2014/main" id="{A7C653B8-536B-7665-54CA-82AA9E499504}"/>
              </a:ext>
            </a:extLst>
          </p:cNvPr>
          <p:cNvSpPr txBox="1"/>
          <p:nvPr/>
        </p:nvSpPr>
        <p:spPr>
          <a:xfrm>
            <a:off x="1999862" y="5623334"/>
            <a:ext cx="3302743" cy="300082"/>
          </a:xfrm>
          <a:prstGeom prst="rect">
            <a:avLst/>
          </a:prstGeom>
          <a:noFill/>
        </p:spPr>
        <p:txBody>
          <a:bodyPr wrap="square" rtlCol="0">
            <a:spAutoFit/>
          </a:bodyPr>
          <a:lstStyle/>
          <a:p>
            <a:pPr defTabSz="457200"/>
            <a:r>
              <a:rPr lang="en-US" sz="1350" i="1">
                <a:solidFill>
                  <a:prstClr val="white"/>
                </a:solidFill>
                <a:latin typeface="Arial"/>
              </a:rPr>
              <a:t>Couch et al., 2022 Frontiers in Education</a:t>
            </a:r>
          </a:p>
        </p:txBody>
      </p:sp>
      <p:sp>
        <p:nvSpPr>
          <p:cNvPr id="3" name="TextBox 2">
            <a:extLst>
              <a:ext uri="{FF2B5EF4-FFF2-40B4-BE49-F238E27FC236}">
                <a16:creationId xmlns:a16="http://schemas.microsoft.com/office/drawing/2014/main" id="{A4ED57C6-FF59-F904-F198-E4CCC64B0F86}"/>
              </a:ext>
            </a:extLst>
          </p:cNvPr>
          <p:cNvSpPr txBox="1"/>
          <p:nvPr/>
        </p:nvSpPr>
        <p:spPr>
          <a:xfrm>
            <a:off x="6192971" y="5623334"/>
            <a:ext cx="4085058" cy="300082"/>
          </a:xfrm>
          <a:prstGeom prst="rect">
            <a:avLst/>
          </a:prstGeom>
          <a:noFill/>
        </p:spPr>
        <p:txBody>
          <a:bodyPr wrap="square" rtlCol="0">
            <a:spAutoFit/>
          </a:bodyPr>
          <a:lstStyle/>
          <a:p>
            <a:pPr defTabSz="457200"/>
            <a:r>
              <a:rPr lang="en-US" sz="1350" i="1" dirty="0">
                <a:solidFill>
                  <a:prstClr val="white"/>
                </a:solidFill>
                <a:latin typeface="Arial"/>
              </a:rPr>
              <a:t>Bowen et al., 2025 CBE Life Sciences Education</a:t>
            </a:r>
          </a:p>
        </p:txBody>
      </p:sp>
      <p:grpSp>
        <p:nvGrpSpPr>
          <p:cNvPr id="4" name="Group 3">
            <a:extLst>
              <a:ext uri="{FF2B5EF4-FFF2-40B4-BE49-F238E27FC236}">
                <a16:creationId xmlns:a16="http://schemas.microsoft.com/office/drawing/2014/main" id="{55AB0B6B-0BA7-45B1-CE61-6311117E42C5}"/>
              </a:ext>
            </a:extLst>
          </p:cNvPr>
          <p:cNvGrpSpPr/>
          <p:nvPr/>
        </p:nvGrpSpPr>
        <p:grpSpPr>
          <a:xfrm>
            <a:off x="6324165" y="4362641"/>
            <a:ext cx="3635784" cy="1272340"/>
            <a:chOff x="2616134" y="4482702"/>
            <a:chExt cx="4466505" cy="1608378"/>
          </a:xfrm>
        </p:grpSpPr>
        <p:sp>
          <p:nvSpPr>
            <p:cNvPr id="5" name="Rectangle 4">
              <a:extLst>
                <a:ext uri="{FF2B5EF4-FFF2-40B4-BE49-F238E27FC236}">
                  <a16:creationId xmlns:a16="http://schemas.microsoft.com/office/drawing/2014/main" id="{B901B939-63AC-E446-5615-D55EC737FAF0}"/>
                </a:ext>
              </a:extLst>
            </p:cNvPr>
            <p:cNvSpPr/>
            <p:nvPr/>
          </p:nvSpPr>
          <p:spPr>
            <a:xfrm>
              <a:off x="2616134" y="4482702"/>
              <a:ext cx="4394266" cy="15421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pic>
          <p:nvPicPr>
            <p:cNvPr id="7" name="image1.png" descr="Graphical user interface, table&#10;&#10;Description automatically generated">
              <a:extLst>
                <a:ext uri="{FF2B5EF4-FFF2-40B4-BE49-F238E27FC236}">
                  <a16:creationId xmlns:a16="http://schemas.microsoft.com/office/drawing/2014/main" id="{9D66F8CB-B498-A49B-5BB8-383986B94868}"/>
                </a:ext>
              </a:extLst>
            </p:cNvPr>
            <p:cNvPicPr/>
            <p:nvPr/>
          </p:nvPicPr>
          <p:blipFill rotWithShape="1">
            <a:blip r:embed="rId3"/>
            <a:srcRect l="1805" t="20585" r="51939" b="57054"/>
            <a:stretch/>
          </p:blipFill>
          <p:spPr>
            <a:xfrm>
              <a:off x="2616134" y="4482702"/>
              <a:ext cx="4466505" cy="1608378"/>
            </a:xfrm>
            <a:prstGeom prst="rect">
              <a:avLst/>
            </a:prstGeom>
            <a:ln>
              <a:noFill/>
            </a:ln>
          </p:spPr>
        </p:pic>
      </p:grpSp>
    </p:spTree>
    <p:extLst>
      <p:ext uri="{BB962C8B-B14F-4D97-AF65-F5344CB8AC3E}">
        <p14:creationId xmlns:p14="http://schemas.microsoft.com/office/powerpoint/2010/main" val="101525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8" grpId="0"/>
      <p:bldP spid="19" grpId="0"/>
      <p:bldP spid="23" grpId="0"/>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CD90E2EE-5A65-49FB-AA5D-42F3E29A2093}"/>
              </a:ext>
            </a:extLst>
          </p:cNvPr>
          <p:cNvSpPr>
            <a:spLocks noGrp="1"/>
          </p:cNvSpPr>
          <p:nvPr>
            <p:ph type="title"/>
          </p:nvPr>
        </p:nvSpPr>
        <p:spPr>
          <a:xfrm>
            <a:off x="1788694" y="173739"/>
            <a:ext cx="8755375" cy="782124"/>
          </a:xfrm>
        </p:spPr>
        <p:txBody>
          <a:bodyPr>
            <a:noAutofit/>
          </a:bodyPr>
          <a:lstStyle/>
          <a:p>
            <a:pPr algn="ctr"/>
            <a:r>
              <a:rPr lang="en-US" sz="2400" b="1" dirty="0">
                <a:solidFill>
                  <a:srgbClr val="FFFFFF"/>
                </a:solidFill>
                <a:latin typeface="+mn-lt"/>
              </a:rPr>
              <a:t>Finding 2: Students report using strategies </a:t>
            </a:r>
            <a:br>
              <a:rPr lang="en-US" sz="2400" b="1" dirty="0">
                <a:solidFill>
                  <a:srgbClr val="FFFFFF"/>
                </a:solidFill>
                <a:latin typeface="+mn-lt"/>
              </a:rPr>
            </a:br>
            <a:r>
              <a:rPr lang="en-US" sz="2400" b="1" dirty="0">
                <a:solidFill>
                  <a:srgbClr val="FFFFFF"/>
                </a:solidFill>
                <a:latin typeface="+mn-lt"/>
              </a:rPr>
              <a:t>that are ineffective for reducing conflict</a:t>
            </a:r>
          </a:p>
        </p:txBody>
      </p:sp>
      <p:sp>
        <p:nvSpPr>
          <p:cNvPr id="16" name="TextBox 15">
            <a:extLst>
              <a:ext uri="{FF2B5EF4-FFF2-40B4-BE49-F238E27FC236}">
                <a16:creationId xmlns:a16="http://schemas.microsoft.com/office/drawing/2014/main" id="{6FE3953A-1036-F373-EF52-B1336E1ED4AD}"/>
              </a:ext>
            </a:extLst>
          </p:cNvPr>
          <p:cNvSpPr txBox="1"/>
          <p:nvPr/>
        </p:nvSpPr>
        <p:spPr>
          <a:xfrm>
            <a:off x="4637611" y="1159934"/>
            <a:ext cx="5426496" cy="646331"/>
          </a:xfrm>
          <a:prstGeom prst="rect">
            <a:avLst/>
          </a:prstGeom>
          <a:noFill/>
        </p:spPr>
        <p:txBody>
          <a:bodyPr wrap="square">
            <a:spAutoFit/>
          </a:bodyPr>
          <a:lstStyle/>
          <a:p>
            <a:pPr algn="ctr" defTabSz="685800">
              <a:defRPr/>
            </a:pPr>
            <a:r>
              <a:rPr lang="en-US" dirty="0">
                <a:solidFill>
                  <a:srgbClr val="FFFFFF"/>
                </a:solidFill>
                <a:latin typeface="MuseoSans"/>
              </a:rPr>
              <a:t>What would you say to a friend or family member who did not want to get the COVID-19 vaccine?</a:t>
            </a:r>
            <a:endParaRPr lang="en-US" dirty="0">
              <a:solidFill>
                <a:srgbClr val="FFFFFF"/>
              </a:solidFill>
              <a:latin typeface="Calibri" panose="020F0502020204030204"/>
            </a:endParaRPr>
          </a:p>
        </p:txBody>
      </p:sp>
      <p:sp>
        <p:nvSpPr>
          <p:cNvPr id="17" name="TextBox 16">
            <a:extLst>
              <a:ext uri="{FF2B5EF4-FFF2-40B4-BE49-F238E27FC236}">
                <a16:creationId xmlns:a16="http://schemas.microsoft.com/office/drawing/2014/main" id="{B343E705-9630-94C5-1586-02ECCF291782}"/>
              </a:ext>
            </a:extLst>
          </p:cNvPr>
          <p:cNvSpPr txBox="1"/>
          <p:nvPr/>
        </p:nvSpPr>
        <p:spPr>
          <a:xfrm>
            <a:off x="1880131" y="3324720"/>
            <a:ext cx="3250406" cy="2631490"/>
          </a:xfrm>
          <a:prstGeom prst="rect">
            <a:avLst/>
          </a:prstGeom>
          <a:noFill/>
        </p:spPr>
        <p:txBody>
          <a:bodyPr wrap="square" rtlCol="0">
            <a:spAutoFit/>
          </a:bodyPr>
          <a:lstStyle/>
          <a:p>
            <a:pPr defTabSz="685800">
              <a:defRPr/>
            </a:pPr>
            <a:r>
              <a:rPr lang="en-US" sz="2100" b="1" dirty="0">
                <a:solidFill>
                  <a:srgbClr val="FFFFFF"/>
                </a:solidFill>
                <a:latin typeface="Calibri" panose="020F0502020204030204"/>
              </a:rPr>
              <a:t>Facts</a:t>
            </a:r>
            <a:r>
              <a:rPr lang="en-US" sz="2100" dirty="0">
                <a:solidFill>
                  <a:srgbClr val="FFFFFF"/>
                </a:solidFill>
                <a:latin typeface="Calibri" panose="020F0502020204030204"/>
              </a:rPr>
              <a:t> </a:t>
            </a:r>
          </a:p>
          <a:p>
            <a:pPr defTabSz="685800">
              <a:defRPr/>
            </a:pPr>
            <a:r>
              <a:rPr lang="en-US" sz="1500" dirty="0">
                <a:solidFill>
                  <a:srgbClr val="FFFFFF"/>
                </a:solidFill>
                <a:latin typeface="Calibri" panose="020F0502020204030204"/>
              </a:rPr>
              <a:t>“I would educate them about the benefits of the vaccine”</a:t>
            </a:r>
          </a:p>
          <a:p>
            <a:pPr defTabSz="685800">
              <a:defRPr/>
            </a:pPr>
            <a:endParaRPr lang="en-US" sz="600" dirty="0">
              <a:solidFill>
                <a:srgbClr val="FFFFFF"/>
              </a:solidFill>
              <a:latin typeface="Calibri" panose="020F0502020204030204"/>
            </a:endParaRPr>
          </a:p>
          <a:p>
            <a:pPr defTabSz="685800">
              <a:defRPr/>
            </a:pPr>
            <a:r>
              <a:rPr lang="en-US" sz="2100" b="1" dirty="0">
                <a:solidFill>
                  <a:srgbClr val="FFFFFF"/>
                </a:solidFill>
                <a:latin typeface="Calibri" panose="020F0502020204030204"/>
              </a:rPr>
              <a:t>Prescribe</a:t>
            </a:r>
            <a:r>
              <a:rPr lang="en-US" sz="2100" dirty="0">
                <a:solidFill>
                  <a:srgbClr val="FFFFFF"/>
                </a:solidFill>
                <a:latin typeface="Calibri" panose="020F0502020204030204"/>
              </a:rPr>
              <a:t> </a:t>
            </a:r>
          </a:p>
          <a:p>
            <a:pPr defTabSz="685800">
              <a:defRPr/>
            </a:pPr>
            <a:r>
              <a:rPr lang="en-US" sz="1500" dirty="0">
                <a:solidFill>
                  <a:srgbClr val="FFFFFF"/>
                </a:solidFill>
                <a:latin typeface="Calibri" panose="020F0502020204030204"/>
              </a:rPr>
              <a:t>“(I would tell them) they need to follow all CDC protocols”</a:t>
            </a:r>
          </a:p>
          <a:p>
            <a:pPr defTabSz="685800">
              <a:defRPr/>
            </a:pPr>
            <a:endParaRPr lang="en-US" sz="600" dirty="0">
              <a:solidFill>
                <a:srgbClr val="FFFFFF"/>
              </a:solidFill>
              <a:latin typeface="Calibri" panose="020F0502020204030204"/>
            </a:endParaRPr>
          </a:p>
          <a:p>
            <a:pPr defTabSz="685800">
              <a:defRPr/>
            </a:pPr>
            <a:r>
              <a:rPr lang="en-US" sz="2100" b="1" dirty="0">
                <a:solidFill>
                  <a:srgbClr val="FFFFFF"/>
                </a:solidFill>
                <a:latin typeface="Calibri" panose="020F0502020204030204"/>
              </a:rPr>
              <a:t>Accusatory</a:t>
            </a:r>
            <a:r>
              <a:rPr lang="en-US" sz="2100" dirty="0">
                <a:solidFill>
                  <a:srgbClr val="FFFFFF"/>
                </a:solidFill>
                <a:latin typeface="Calibri" panose="020F0502020204030204"/>
              </a:rPr>
              <a:t> </a:t>
            </a:r>
          </a:p>
          <a:p>
            <a:pPr defTabSz="685800">
              <a:defRPr/>
            </a:pPr>
            <a:r>
              <a:rPr lang="en-US" sz="1500" dirty="0">
                <a:solidFill>
                  <a:srgbClr val="FFFFFF"/>
                </a:solidFill>
                <a:latin typeface="Calibri" panose="020F0502020204030204"/>
              </a:rPr>
              <a:t>“They’re selfish and completely ignorant”</a:t>
            </a:r>
          </a:p>
        </p:txBody>
      </p:sp>
      <p:sp>
        <p:nvSpPr>
          <p:cNvPr id="20" name="TextBox 19">
            <a:extLst>
              <a:ext uri="{FF2B5EF4-FFF2-40B4-BE49-F238E27FC236}">
                <a16:creationId xmlns:a16="http://schemas.microsoft.com/office/drawing/2014/main" id="{3DC6373D-C234-F198-449F-8286E05BCB7B}"/>
              </a:ext>
            </a:extLst>
          </p:cNvPr>
          <p:cNvSpPr txBox="1"/>
          <p:nvPr/>
        </p:nvSpPr>
        <p:spPr>
          <a:xfrm>
            <a:off x="6166381" y="3304146"/>
            <a:ext cx="3378994" cy="2862322"/>
          </a:xfrm>
          <a:prstGeom prst="rect">
            <a:avLst/>
          </a:prstGeom>
          <a:noFill/>
        </p:spPr>
        <p:txBody>
          <a:bodyPr wrap="square" rtlCol="0">
            <a:spAutoFit/>
          </a:bodyPr>
          <a:lstStyle/>
          <a:p>
            <a:pPr defTabSz="685800">
              <a:defRPr/>
            </a:pPr>
            <a:r>
              <a:rPr lang="en-US" sz="2100" b="1" dirty="0">
                <a:solidFill>
                  <a:srgbClr val="FFFFFF"/>
                </a:solidFill>
                <a:latin typeface="Calibri" panose="020F0502020204030204"/>
              </a:rPr>
              <a:t>Listening/Asking Questions</a:t>
            </a:r>
          </a:p>
          <a:p>
            <a:pPr defTabSz="685800">
              <a:defRPr/>
            </a:pPr>
            <a:r>
              <a:rPr lang="en-US" sz="1500" dirty="0">
                <a:solidFill>
                  <a:srgbClr val="FFFFFF"/>
                </a:solidFill>
                <a:latin typeface="Calibri" panose="020F0502020204030204"/>
              </a:rPr>
              <a:t>“I would ask for their reasoning and try to understand”</a:t>
            </a:r>
          </a:p>
          <a:p>
            <a:pPr defTabSz="685800">
              <a:defRPr/>
            </a:pPr>
            <a:endParaRPr lang="en-US" sz="600" dirty="0">
              <a:solidFill>
                <a:srgbClr val="FFFFFF"/>
              </a:solidFill>
              <a:latin typeface="Calibri" panose="020F0502020204030204"/>
            </a:endParaRPr>
          </a:p>
          <a:p>
            <a:pPr defTabSz="685800">
              <a:defRPr/>
            </a:pPr>
            <a:r>
              <a:rPr lang="en-US" sz="2100" b="1" dirty="0">
                <a:solidFill>
                  <a:srgbClr val="FFFFFF"/>
                </a:solidFill>
                <a:latin typeface="Calibri" panose="020F0502020204030204"/>
              </a:rPr>
              <a:t>Respect</a:t>
            </a:r>
          </a:p>
          <a:p>
            <a:pPr defTabSz="685800">
              <a:defRPr/>
            </a:pPr>
            <a:r>
              <a:rPr lang="en-US" sz="1500" dirty="0">
                <a:solidFill>
                  <a:srgbClr val="FFFFFF"/>
                </a:solidFill>
                <a:latin typeface="Calibri" panose="020F0502020204030204"/>
              </a:rPr>
              <a:t>“I would show respect for their concerns”</a:t>
            </a:r>
          </a:p>
          <a:p>
            <a:pPr defTabSz="685800">
              <a:defRPr/>
            </a:pPr>
            <a:endParaRPr lang="en-US" sz="600" dirty="0">
              <a:solidFill>
                <a:srgbClr val="FFFFFF"/>
              </a:solidFill>
              <a:latin typeface="Calibri" panose="020F0502020204030204"/>
            </a:endParaRPr>
          </a:p>
          <a:p>
            <a:pPr defTabSz="685800">
              <a:defRPr/>
            </a:pPr>
            <a:r>
              <a:rPr lang="en-US" sz="2100" b="1" dirty="0">
                <a:solidFill>
                  <a:srgbClr val="FFFFFF"/>
                </a:solidFill>
                <a:latin typeface="Calibri" panose="020F0502020204030204"/>
              </a:rPr>
              <a:t>Personal Stories</a:t>
            </a:r>
          </a:p>
          <a:p>
            <a:pPr defTabSz="685800">
              <a:defRPr/>
            </a:pPr>
            <a:r>
              <a:rPr lang="en-US" sz="1500" dirty="0">
                <a:solidFill>
                  <a:srgbClr val="FFFFFF"/>
                </a:solidFill>
                <a:latin typeface="Calibri" panose="020F0502020204030204"/>
              </a:rPr>
              <a:t>“[I would tell them] about how I work at a hospital and how I see young healthy people die everyday [from COVID19]”</a:t>
            </a:r>
          </a:p>
        </p:txBody>
      </p:sp>
      <p:sp>
        <p:nvSpPr>
          <p:cNvPr id="29" name="TextBox 28">
            <a:extLst>
              <a:ext uri="{FF2B5EF4-FFF2-40B4-BE49-F238E27FC236}">
                <a16:creationId xmlns:a16="http://schemas.microsoft.com/office/drawing/2014/main" id="{A282C9F7-0C2E-F91B-D11F-FE5B412A6263}"/>
              </a:ext>
            </a:extLst>
          </p:cNvPr>
          <p:cNvSpPr txBox="1"/>
          <p:nvPr/>
        </p:nvSpPr>
        <p:spPr>
          <a:xfrm>
            <a:off x="6723995" y="1866473"/>
            <a:ext cx="1253729" cy="369332"/>
          </a:xfrm>
          <a:prstGeom prst="rect">
            <a:avLst/>
          </a:prstGeom>
          <a:noFill/>
        </p:spPr>
        <p:txBody>
          <a:bodyPr wrap="square" rtlCol="0">
            <a:spAutoFit/>
          </a:bodyPr>
          <a:lstStyle/>
          <a:p>
            <a:pPr defTabSz="685800">
              <a:defRPr/>
            </a:pPr>
            <a:r>
              <a:rPr lang="en-US" dirty="0">
                <a:solidFill>
                  <a:srgbClr val="FFFFFF"/>
                </a:solidFill>
                <a:latin typeface="Calibri" panose="020F0502020204030204"/>
              </a:rPr>
              <a:t>n = 533</a:t>
            </a:r>
          </a:p>
        </p:txBody>
      </p:sp>
      <p:cxnSp>
        <p:nvCxnSpPr>
          <p:cNvPr id="31" name="Straight Connector 30">
            <a:extLst>
              <a:ext uri="{FF2B5EF4-FFF2-40B4-BE49-F238E27FC236}">
                <a16:creationId xmlns:a16="http://schemas.microsoft.com/office/drawing/2014/main" id="{7F7E46F1-FCC3-162F-DBE2-9FF0F43C4E70}"/>
              </a:ext>
            </a:extLst>
          </p:cNvPr>
          <p:cNvCxnSpPr/>
          <p:nvPr/>
        </p:nvCxnSpPr>
        <p:spPr>
          <a:xfrm>
            <a:off x="1524000" y="3302996"/>
            <a:ext cx="9072390" cy="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055234F-BA53-DA8B-10D4-8476D08204BB}"/>
              </a:ext>
            </a:extLst>
          </p:cNvPr>
          <p:cNvSpPr txBox="1"/>
          <p:nvPr/>
        </p:nvSpPr>
        <p:spPr>
          <a:xfrm>
            <a:off x="9194337" y="6545760"/>
            <a:ext cx="3302743" cy="276999"/>
          </a:xfrm>
          <a:prstGeom prst="rect">
            <a:avLst/>
          </a:prstGeom>
          <a:noFill/>
        </p:spPr>
        <p:txBody>
          <a:bodyPr wrap="square" rtlCol="0">
            <a:spAutoFit/>
          </a:bodyPr>
          <a:lstStyle/>
          <a:p>
            <a:pPr defTabSz="457200"/>
            <a:r>
              <a:rPr lang="en-US" sz="1200" i="1" dirty="0">
                <a:solidFill>
                  <a:srgbClr val="FFFFFF"/>
                </a:solidFill>
                <a:latin typeface="Arial"/>
              </a:rPr>
              <a:t>Couch et al., 2022 Frontiers in Education</a:t>
            </a:r>
          </a:p>
        </p:txBody>
      </p:sp>
      <p:pic>
        <p:nvPicPr>
          <p:cNvPr id="5" name="Graphic 4" descr="Document with solid fill">
            <a:extLst>
              <a:ext uri="{FF2B5EF4-FFF2-40B4-BE49-F238E27FC236}">
                <a16:creationId xmlns:a16="http://schemas.microsoft.com/office/drawing/2014/main" id="{6CA31DCC-FB34-A029-442C-DBD78A547A3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89745" y="1676213"/>
            <a:ext cx="1119184" cy="1119184"/>
          </a:xfrm>
          <a:prstGeom prst="rect">
            <a:avLst/>
          </a:prstGeom>
        </p:spPr>
      </p:pic>
      <p:sp>
        <p:nvSpPr>
          <p:cNvPr id="6" name="TextBox 5">
            <a:extLst>
              <a:ext uri="{FF2B5EF4-FFF2-40B4-BE49-F238E27FC236}">
                <a16:creationId xmlns:a16="http://schemas.microsoft.com/office/drawing/2014/main" id="{387F9839-8730-9CE7-136A-20ED916EFF41}"/>
              </a:ext>
            </a:extLst>
          </p:cNvPr>
          <p:cNvSpPr txBox="1"/>
          <p:nvPr/>
        </p:nvSpPr>
        <p:spPr>
          <a:xfrm>
            <a:off x="4206347" y="2689382"/>
            <a:ext cx="880587" cy="323165"/>
          </a:xfrm>
          <a:prstGeom prst="rect">
            <a:avLst/>
          </a:prstGeom>
          <a:noFill/>
        </p:spPr>
        <p:txBody>
          <a:bodyPr wrap="square" rtlCol="0">
            <a:spAutoFit/>
          </a:bodyPr>
          <a:lstStyle/>
          <a:p>
            <a:pPr algn="ctr" defTabSz="685800">
              <a:defRPr/>
            </a:pPr>
            <a:r>
              <a:rPr lang="en-US" sz="1500">
                <a:solidFill>
                  <a:srgbClr val="FFFFFF"/>
                </a:solidFill>
                <a:latin typeface="Calibri" panose="020F0502020204030204"/>
              </a:rPr>
              <a:t>surveys</a:t>
            </a:r>
          </a:p>
        </p:txBody>
      </p:sp>
      <p:pic>
        <p:nvPicPr>
          <p:cNvPr id="7" name="Graphic 6" descr="Users with solid fill">
            <a:extLst>
              <a:ext uri="{FF2B5EF4-FFF2-40B4-BE49-F238E27FC236}">
                <a16:creationId xmlns:a16="http://schemas.microsoft.com/office/drawing/2014/main" id="{7117D476-B513-CE4E-9CB3-AE598511F2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45665" y="1924257"/>
            <a:ext cx="880588" cy="880588"/>
          </a:xfrm>
          <a:prstGeom prst="rect">
            <a:avLst/>
          </a:prstGeom>
        </p:spPr>
      </p:pic>
      <p:sp>
        <p:nvSpPr>
          <p:cNvPr id="8" name="TextBox 7">
            <a:extLst>
              <a:ext uri="{FF2B5EF4-FFF2-40B4-BE49-F238E27FC236}">
                <a16:creationId xmlns:a16="http://schemas.microsoft.com/office/drawing/2014/main" id="{5C3720EF-BF14-B694-6129-35F3E051874E}"/>
              </a:ext>
            </a:extLst>
          </p:cNvPr>
          <p:cNvSpPr txBox="1"/>
          <p:nvPr/>
        </p:nvSpPr>
        <p:spPr>
          <a:xfrm>
            <a:off x="1752365" y="1246314"/>
            <a:ext cx="2090827" cy="646331"/>
          </a:xfrm>
          <a:prstGeom prst="rect">
            <a:avLst/>
          </a:prstGeom>
          <a:noFill/>
        </p:spPr>
        <p:txBody>
          <a:bodyPr wrap="square" rtlCol="0">
            <a:spAutoFit/>
          </a:bodyPr>
          <a:lstStyle/>
          <a:p>
            <a:pPr algn="ctr" defTabSz="685800">
              <a:defRPr/>
            </a:pPr>
            <a:r>
              <a:rPr lang="en-US" dirty="0">
                <a:solidFill>
                  <a:srgbClr val="FFFFFF"/>
                </a:solidFill>
                <a:latin typeface="Calibri" panose="020F0502020204030204"/>
              </a:rPr>
              <a:t>COVID-19 Vaccine Communication</a:t>
            </a:r>
          </a:p>
        </p:txBody>
      </p:sp>
      <p:sp>
        <p:nvSpPr>
          <p:cNvPr id="10" name="TextBox 9">
            <a:extLst>
              <a:ext uri="{FF2B5EF4-FFF2-40B4-BE49-F238E27FC236}">
                <a16:creationId xmlns:a16="http://schemas.microsoft.com/office/drawing/2014/main" id="{61B6A24B-4813-30FA-57ED-AE48EB7A7D36}"/>
              </a:ext>
            </a:extLst>
          </p:cNvPr>
          <p:cNvSpPr txBox="1"/>
          <p:nvPr/>
        </p:nvSpPr>
        <p:spPr>
          <a:xfrm>
            <a:off x="1752364" y="2682849"/>
            <a:ext cx="2090828" cy="300082"/>
          </a:xfrm>
          <a:prstGeom prst="rect">
            <a:avLst/>
          </a:prstGeom>
          <a:noFill/>
        </p:spPr>
        <p:txBody>
          <a:bodyPr wrap="square" rtlCol="0">
            <a:spAutoFit/>
          </a:bodyPr>
          <a:lstStyle/>
          <a:p>
            <a:pPr algn="ctr" defTabSz="685800">
              <a:defRPr/>
            </a:pPr>
            <a:r>
              <a:rPr lang="en-US" sz="1350" dirty="0">
                <a:solidFill>
                  <a:srgbClr val="FFFFFF"/>
                </a:solidFill>
                <a:latin typeface="Calibri" panose="020F0502020204030204"/>
              </a:rPr>
              <a:t>533 MTSU biology students </a:t>
            </a:r>
          </a:p>
        </p:txBody>
      </p:sp>
      <p:sp>
        <p:nvSpPr>
          <p:cNvPr id="11" name="TextBox 10">
            <a:extLst>
              <a:ext uri="{FF2B5EF4-FFF2-40B4-BE49-F238E27FC236}">
                <a16:creationId xmlns:a16="http://schemas.microsoft.com/office/drawing/2014/main" id="{F2CD5E32-BBC9-48D5-2791-4C3CED790537}"/>
              </a:ext>
            </a:extLst>
          </p:cNvPr>
          <p:cNvSpPr txBox="1"/>
          <p:nvPr/>
        </p:nvSpPr>
        <p:spPr>
          <a:xfrm>
            <a:off x="2558509" y="3301298"/>
            <a:ext cx="735806" cy="461665"/>
          </a:xfrm>
          <a:prstGeom prst="rect">
            <a:avLst/>
          </a:prstGeom>
          <a:noFill/>
        </p:spPr>
        <p:txBody>
          <a:bodyPr wrap="square" rtlCol="0">
            <a:spAutoFit/>
          </a:bodyPr>
          <a:lstStyle/>
          <a:p>
            <a:pPr defTabSz="685800">
              <a:defRPr/>
            </a:pPr>
            <a:r>
              <a:rPr lang="en-US" sz="2400" b="1" dirty="0">
                <a:solidFill>
                  <a:srgbClr val="FF0000"/>
                </a:solidFill>
                <a:latin typeface="Calibri" panose="020F0502020204030204"/>
              </a:rPr>
              <a:t>68%</a:t>
            </a:r>
          </a:p>
        </p:txBody>
      </p:sp>
      <p:sp>
        <p:nvSpPr>
          <p:cNvPr id="12" name="TextBox 11">
            <a:extLst>
              <a:ext uri="{FF2B5EF4-FFF2-40B4-BE49-F238E27FC236}">
                <a16:creationId xmlns:a16="http://schemas.microsoft.com/office/drawing/2014/main" id="{9E0E5922-039F-DB96-1E4D-C050F1E92C90}"/>
              </a:ext>
            </a:extLst>
          </p:cNvPr>
          <p:cNvSpPr txBox="1"/>
          <p:nvPr/>
        </p:nvSpPr>
        <p:spPr>
          <a:xfrm>
            <a:off x="3107386" y="4167089"/>
            <a:ext cx="735806" cy="461665"/>
          </a:xfrm>
          <a:prstGeom prst="rect">
            <a:avLst/>
          </a:prstGeom>
          <a:noFill/>
        </p:spPr>
        <p:txBody>
          <a:bodyPr wrap="square" rtlCol="0">
            <a:spAutoFit/>
          </a:bodyPr>
          <a:lstStyle/>
          <a:p>
            <a:pPr defTabSz="685800">
              <a:defRPr/>
            </a:pPr>
            <a:r>
              <a:rPr lang="en-US" sz="2400" b="1" dirty="0">
                <a:solidFill>
                  <a:srgbClr val="FF0000"/>
                </a:solidFill>
                <a:latin typeface="Calibri" panose="020F0502020204030204"/>
              </a:rPr>
              <a:t>64%</a:t>
            </a:r>
          </a:p>
        </p:txBody>
      </p:sp>
      <p:sp>
        <p:nvSpPr>
          <p:cNvPr id="13" name="TextBox 12">
            <a:extLst>
              <a:ext uri="{FF2B5EF4-FFF2-40B4-BE49-F238E27FC236}">
                <a16:creationId xmlns:a16="http://schemas.microsoft.com/office/drawing/2014/main" id="{472670D5-C9DD-8E24-C6FB-779782742E92}"/>
              </a:ext>
            </a:extLst>
          </p:cNvPr>
          <p:cNvSpPr txBox="1"/>
          <p:nvPr/>
        </p:nvSpPr>
        <p:spPr>
          <a:xfrm>
            <a:off x="3294315" y="5027196"/>
            <a:ext cx="735806" cy="461665"/>
          </a:xfrm>
          <a:prstGeom prst="rect">
            <a:avLst/>
          </a:prstGeom>
          <a:noFill/>
        </p:spPr>
        <p:txBody>
          <a:bodyPr wrap="square" rtlCol="0">
            <a:spAutoFit/>
          </a:bodyPr>
          <a:lstStyle/>
          <a:p>
            <a:pPr defTabSz="685800">
              <a:defRPr/>
            </a:pPr>
            <a:r>
              <a:rPr lang="en-US" sz="2400" b="1" dirty="0">
                <a:solidFill>
                  <a:srgbClr val="FF0000"/>
                </a:solidFill>
                <a:latin typeface="Calibri" panose="020F0502020204030204"/>
              </a:rPr>
              <a:t>22%</a:t>
            </a:r>
          </a:p>
        </p:txBody>
      </p:sp>
      <p:sp>
        <p:nvSpPr>
          <p:cNvPr id="14" name="TextBox 13">
            <a:extLst>
              <a:ext uri="{FF2B5EF4-FFF2-40B4-BE49-F238E27FC236}">
                <a16:creationId xmlns:a16="http://schemas.microsoft.com/office/drawing/2014/main" id="{2F5D1CFD-B2EA-9C15-5FEB-6CFC29365A04}"/>
              </a:ext>
            </a:extLst>
          </p:cNvPr>
          <p:cNvSpPr txBox="1"/>
          <p:nvPr/>
        </p:nvSpPr>
        <p:spPr>
          <a:xfrm>
            <a:off x="9335076" y="3333371"/>
            <a:ext cx="735806" cy="461665"/>
          </a:xfrm>
          <a:prstGeom prst="rect">
            <a:avLst/>
          </a:prstGeom>
          <a:noFill/>
        </p:spPr>
        <p:txBody>
          <a:bodyPr wrap="square" rtlCol="0">
            <a:spAutoFit/>
          </a:bodyPr>
          <a:lstStyle/>
          <a:p>
            <a:pPr defTabSz="685800">
              <a:defRPr/>
            </a:pPr>
            <a:r>
              <a:rPr lang="en-US" sz="2400" b="1" dirty="0">
                <a:solidFill>
                  <a:srgbClr val="00B050"/>
                </a:solidFill>
                <a:latin typeface="Calibri" panose="020F0502020204030204"/>
              </a:rPr>
              <a:t>16%</a:t>
            </a:r>
          </a:p>
        </p:txBody>
      </p:sp>
      <p:sp>
        <p:nvSpPr>
          <p:cNvPr id="15" name="TextBox 14">
            <a:extLst>
              <a:ext uri="{FF2B5EF4-FFF2-40B4-BE49-F238E27FC236}">
                <a16:creationId xmlns:a16="http://schemas.microsoft.com/office/drawing/2014/main" id="{61F69A4D-C64D-73D8-CD7B-9CB878054542}"/>
              </a:ext>
            </a:extLst>
          </p:cNvPr>
          <p:cNvSpPr txBox="1"/>
          <p:nvPr/>
        </p:nvSpPr>
        <p:spPr>
          <a:xfrm>
            <a:off x="8510809" y="4984367"/>
            <a:ext cx="735806" cy="461665"/>
          </a:xfrm>
          <a:prstGeom prst="rect">
            <a:avLst/>
          </a:prstGeom>
          <a:noFill/>
        </p:spPr>
        <p:txBody>
          <a:bodyPr wrap="square" rtlCol="0">
            <a:spAutoFit/>
          </a:bodyPr>
          <a:lstStyle/>
          <a:p>
            <a:pPr defTabSz="685800">
              <a:defRPr/>
            </a:pPr>
            <a:r>
              <a:rPr lang="en-US" sz="2400" b="1" dirty="0">
                <a:solidFill>
                  <a:srgbClr val="00B050"/>
                </a:solidFill>
                <a:latin typeface="Calibri" panose="020F0502020204030204"/>
              </a:rPr>
              <a:t>11%</a:t>
            </a:r>
          </a:p>
        </p:txBody>
      </p:sp>
      <p:sp>
        <p:nvSpPr>
          <p:cNvPr id="18" name="TextBox 17">
            <a:extLst>
              <a:ext uri="{FF2B5EF4-FFF2-40B4-BE49-F238E27FC236}">
                <a16:creationId xmlns:a16="http://schemas.microsoft.com/office/drawing/2014/main" id="{62F57C98-DDF6-9349-694D-FD3B616CEDD0}"/>
              </a:ext>
            </a:extLst>
          </p:cNvPr>
          <p:cNvSpPr txBox="1"/>
          <p:nvPr/>
        </p:nvSpPr>
        <p:spPr>
          <a:xfrm>
            <a:off x="7194406" y="4139356"/>
            <a:ext cx="735806" cy="461665"/>
          </a:xfrm>
          <a:prstGeom prst="rect">
            <a:avLst/>
          </a:prstGeom>
          <a:noFill/>
        </p:spPr>
        <p:txBody>
          <a:bodyPr wrap="square" rtlCol="0">
            <a:spAutoFit/>
          </a:bodyPr>
          <a:lstStyle/>
          <a:p>
            <a:pPr defTabSz="685800">
              <a:defRPr/>
            </a:pPr>
            <a:r>
              <a:rPr lang="en-US" sz="2400" b="1" dirty="0">
                <a:solidFill>
                  <a:srgbClr val="00B050"/>
                </a:solidFill>
                <a:latin typeface="Calibri" panose="020F0502020204030204"/>
              </a:rPr>
              <a:t>20%</a:t>
            </a:r>
          </a:p>
        </p:txBody>
      </p:sp>
      <p:sp>
        <p:nvSpPr>
          <p:cNvPr id="2" name="Star: 5 Points 1">
            <a:extLst>
              <a:ext uri="{FF2B5EF4-FFF2-40B4-BE49-F238E27FC236}">
                <a16:creationId xmlns:a16="http://schemas.microsoft.com/office/drawing/2014/main" id="{2CE6BA4B-42AF-788E-81A5-B50BD44ACA37}"/>
              </a:ext>
            </a:extLst>
          </p:cNvPr>
          <p:cNvSpPr/>
          <p:nvPr/>
        </p:nvSpPr>
        <p:spPr>
          <a:xfrm>
            <a:off x="313146" y="5956209"/>
            <a:ext cx="741103" cy="728051"/>
          </a:xfrm>
          <a:prstGeom prst="star5">
            <a:avLst/>
          </a:prstGeom>
          <a:solidFill>
            <a:srgbClr val="C00000"/>
          </a:solidFill>
          <a:ln w="38100" cap="flat" cmpd="sng" algn="ctr">
            <a:solidFill>
              <a:sysClr val="windowText" lastClr="000000">
                <a:lumMod val="95000"/>
                <a:lumOff val="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w="76200">
                <a:solidFill>
                  <a:prstClr val="white"/>
                </a:solidFill>
              </a:ln>
              <a:solidFill>
                <a:prstClr val="white"/>
              </a:solidFill>
              <a:effectLst/>
              <a:uLnTx/>
              <a:uFillTx/>
              <a:latin typeface="Palatino Linotype"/>
              <a:ea typeface="+mn-ea"/>
              <a:cs typeface="+mn-cs"/>
            </a:endParaRPr>
          </a:p>
        </p:txBody>
      </p:sp>
      <p:sp>
        <p:nvSpPr>
          <p:cNvPr id="4" name="Title 1">
            <a:extLst>
              <a:ext uri="{FF2B5EF4-FFF2-40B4-BE49-F238E27FC236}">
                <a16:creationId xmlns:a16="http://schemas.microsoft.com/office/drawing/2014/main" id="{0C9AAC4D-CA89-DB0E-0678-7180296278FA}"/>
              </a:ext>
            </a:extLst>
          </p:cNvPr>
          <p:cNvSpPr txBox="1">
            <a:spLocks/>
          </p:cNvSpPr>
          <p:nvPr/>
        </p:nvSpPr>
        <p:spPr>
          <a:xfrm>
            <a:off x="1097778" y="6118314"/>
            <a:ext cx="10007406" cy="542454"/>
          </a:xfrm>
          <a:prstGeom prst="rect">
            <a:avLst/>
          </a:prstGeom>
        </p:spPr>
        <p:txBody>
          <a:bodyPr vert="horz" lIns="68580" tIns="34290" rIns="68580" bIns="34290" rtlCol="0" anchor="ctr">
            <a:noAutofit/>
          </a:bodyPr>
          <a:lstStyle>
            <a:lvl1pPr algn="ctr"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b="1" dirty="0"/>
              <a:t>Predict: what percent of students were using effective tactics? Ineffective?</a:t>
            </a:r>
          </a:p>
        </p:txBody>
      </p:sp>
    </p:spTree>
    <p:extLst>
      <p:ext uri="{BB962C8B-B14F-4D97-AF65-F5344CB8AC3E}">
        <p14:creationId xmlns:p14="http://schemas.microsoft.com/office/powerpoint/2010/main" val="526552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8" grpId="0"/>
      <p:bldP spid="2" grpId="0" animBg="1"/>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CD90E2EE-5A65-49FB-AA5D-42F3E29A2093}"/>
              </a:ext>
            </a:extLst>
          </p:cNvPr>
          <p:cNvSpPr>
            <a:spLocks noGrp="1"/>
          </p:cNvSpPr>
          <p:nvPr>
            <p:ph type="title"/>
          </p:nvPr>
        </p:nvSpPr>
        <p:spPr>
          <a:xfrm>
            <a:off x="1839137" y="364749"/>
            <a:ext cx="8496557" cy="782124"/>
          </a:xfrm>
        </p:spPr>
        <p:txBody>
          <a:bodyPr>
            <a:noAutofit/>
          </a:bodyPr>
          <a:lstStyle/>
          <a:p>
            <a:pPr algn="ctr"/>
            <a:r>
              <a:rPr lang="en-US" sz="2400" b="1" dirty="0">
                <a:solidFill>
                  <a:schemeClr val="bg1"/>
                </a:solidFill>
                <a:latin typeface="+mn-lt"/>
              </a:rPr>
              <a:t>Finding 3: Undergraduate biology students often do not encounter formal education about CCST communication</a:t>
            </a:r>
          </a:p>
        </p:txBody>
      </p:sp>
      <p:sp>
        <p:nvSpPr>
          <p:cNvPr id="29" name="TextBox 28">
            <a:extLst>
              <a:ext uri="{FF2B5EF4-FFF2-40B4-BE49-F238E27FC236}">
                <a16:creationId xmlns:a16="http://schemas.microsoft.com/office/drawing/2014/main" id="{A282C9F7-0C2E-F91B-D11F-FE5B412A6263}"/>
              </a:ext>
            </a:extLst>
          </p:cNvPr>
          <p:cNvSpPr txBox="1"/>
          <p:nvPr/>
        </p:nvSpPr>
        <p:spPr>
          <a:xfrm>
            <a:off x="1677772" y="3422902"/>
            <a:ext cx="1253729" cy="338554"/>
          </a:xfrm>
          <a:prstGeom prst="rect">
            <a:avLst/>
          </a:prstGeom>
          <a:noFill/>
        </p:spPr>
        <p:txBody>
          <a:bodyPr wrap="square" rtlCol="0">
            <a:spAutoFit/>
          </a:bodyPr>
          <a:lstStyle/>
          <a:p>
            <a:pPr algn="ctr" defTabSz="685800">
              <a:defRPr/>
            </a:pPr>
            <a:r>
              <a:rPr lang="en-US" sz="1600" b="1">
                <a:solidFill>
                  <a:srgbClr val="FFFFFF"/>
                </a:solidFill>
                <a:latin typeface="Calibri" panose="020F0502020204030204"/>
              </a:rPr>
              <a:t>n = 32</a:t>
            </a:r>
          </a:p>
        </p:txBody>
      </p:sp>
      <p:sp>
        <p:nvSpPr>
          <p:cNvPr id="4" name="TextBox 3">
            <a:extLst>
              <a:ext uri="{FF2B5EF4-FFF2-40B4-BE49-F238E27FC236}">
                <a16:creationId xmlns:a16="http://schemas.microsoft.com/office/drawing/2014/main" id="{CB31E3CE-2010-8EB4-FC39-F8D52DCD9AC8}"/>
              </a:ext>
            </a:extLst>
          </p:cNvPr>
          <p:cNvSpPr txBox="1"/>
          <p:nvPr/>
        </p:nvSpPr>
        <p:spPr>
          <a:xfrm>
            <a:off x="1726130" y="3134398"/>
            <a:ext cx="1157012" cy="323165"/>
          </a:xfrm>
          <a:prstGeom prst="rect">
            <a:avLst/>
          </a:prstGeom>
          <a:noFill/>
        </p:spPr>
        <p:txBody>
          <a:bodyPr wrap="square" rtlCol="0">
            <a:spAutoFit/>
          </a:bodyPr>
          <a:lstStyle/>
          <a:p>
            <a:pPr algn="ctr" defTabSz="685800">
              <a:defRPr/>
            </a:pPr>
            <a:r>
              <a:rPr lang="en-US" sz="1500" dirty="0">
                <a:solidFill>
                  <a:srgbClr val="FFFFFF"/>
                </a:solidFill>
                <a:latin typeface="Calibri" panose="020F0502020204030204"/>
              </a:rPr>
              <a:t>Interviews</a:t>
            </a:r>
          </a:p>
        </p:txBody>
      </p:sp>
      <p:pic>
        <p:nvPicPr>
          <p:cNvPr id="5" name="Graphic 4" descr="Boardroom with solid fill">
            <a:extLst>
              <a:ext uri="{FF2B5EF4-FFF2-40B4-BE49-F238E27FC236}">
                <a16:creationId xmlns:a16="http://schemas.microsoft.com/office/drawing/2014/main" id="{5B3357BD-4E8E-3FFA-10AE-3B4432BB43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47435" y="2381579"/>
            <a:ext cx="914400" cy="914400"/>
          </a:xfrm>
          <a:prstGeom prst="rect">
            <a:avLst/>
          </a:prstGeom>
        </p:spPr>
      </p:pic>
      <p:sp>
        <p:nvSpPr>
          <p:cNvPr id="6" name="TextBox 5">
            <a:extLst>
              <a:ext uri="{FF2B5EF4-FFF2-40B4-BE49-F238E27FC236}">
                <a16:creationId xmlns:a16="http://schemas.microsoft.com/office/drawing/2014/main" id="{E1794A0C-441F-DC2B-584B-5EFD810F3F34}"/>
              </a:ext>
            </a:extLst>
          </p:cNvPr>
          <p:cNvSpPr txBox="1"/>
          <p:nvPr/>
        </p:nvSpPr>
        <p:spPr>
          <a:xfrm>
            <a:off x="2883140" y="2381580"/>
            <a:ext cx="7235328" cy="1692771"/>
          </a:xfrm>
          <a:prstGeom prst="rect">
            <a:avLst/>
          </a:prstGeom>
          <a:noFill/>
          <a:ln>
            <a:solidFill>
              <a:schemeClr val="tx1"/>
            </a:solidFill>
          </a:ln>
        </p:spPr>
        <p:txBody>
          <a:bodyPr wrap="square">
            <a:spAutoFit/>
          </a:bodyPr>
          <a:lstStyle/>
          <a:p>
            <a:pPr algn="ctr">
              <a:defRPr/>
            </a:pPr>
            <a:r>
              <a:rPr lang="en-US" sz="2400" dirty="0">
                <a:solidFill>
                  <a:srgbClr val="FFFFFF"/>
                </a:solidFill>
                <a:latin typeface="MuseoSans"/>
              </a:rPr>
              <a:t>Example interview question:</a:t>
            </a:r>
          </a:p>
          <a:p>
            <a:pPr algn="ctr">
              <a:defRPr/>
            </a:pPr>
            <a:endParaRPr lang="en-US" sz="800" dirty="0">
              <a:solidFill>
                <a:srgbClr val="FFFFFF"/>
              </a:solidFill>
              <a:latin typeface="MuseoSans"/>
            </a:endParaRPr>
          </a:p>
          <a:p>
            <a:pPr algn="ctr">
              <a:defRPr/>
            </a:pPr>
            <a:r>
              <a:rPr lang="en-US" sz="2400" dirty="0">
                <a:solidFill>
                  <a:srgbClr val="FFFFFF"/>
                </a:solidFill>
                <a:latin typeface="MuseoSans"/>
              </a:rPr>
              <a:t>In the courses you took that taught climate change did you ever discuss how to communicate about climate change with non-scientists? If so, how?</a:t>
            </a:r>
            <a:endParaRPr lang="en-US" sz="2400" dirty="0">
              <a:solidFill>
                <a:srgbClr val="FFFFFF"/>
              </a:solidFill>
              <a:latin typeface="Calibri" panose="020F0502020204030204"/>
            </a:endParaRPr>
          </a:p>
        </p:txBody>
      </p:sp>
      <p:sp>
        <p:nvSpPr>
          <p:cNvPr id="7" name="TextBox 6">
            <a:extLst>
              <a:ext uri="{FF2B5EF4-FFF2-40B4-BE49-F238E27FC236}">
                <a16:creationId xmlns:a16="http://schemas.microsoft.com/office/drawing/2014/main" id="{702EC2DE-F918-5E27-6418-08CB9E3E6F98}"/>
              </a:ext>
            </a:extLst>
          </p:cNvPr>
          <p:cNvSpPr txBox="1"/>
          <p:nvPr/>
        </p:nvSpPr>
        <p:spPr>
          <a:xfrm>
            <a:off x="1847435" y="5115673"/>
            <a:ext cx="9314683" cy="1200329"/>
          </a:xfrm>
          <a:prstGeom prst="rect">
            <a:avLst/>
          </a:prstGeom>
          <a:noFill/>
        </p:spPr>
        <p:txBody>
          <a:bodyPr wrap="square" rtlCol="0">
            <a:spAutoFit/>
          </a:bodyPr>
          <a:lstStyle/>
          <a:p>
            <a:pPr algn="ctr">
              <a:defRPr/>
            </a:pPr>
            <a:r>
              <a:rPr lang="en-US" sz="3600" b="1" dirty="0">
                <a:solidFill>
                  <a:srgbClr val="FFFFFF"/>
                </a:solidFill>
                <a:latin typeface="Calibri" panose="020F0502020204030204"/>
              </a:rPr>
              <a:t>Science courses included instruction on climate change but not how to communicate</a:t>
            </a:r>
            <a:endParaRPr lang="en-US" sz="3600" dirty="0">
              <a:solidFill>
                <a:srgbClr val="FFFFFF"/>
              </a:solidFill>
              <a:latin typeface="Calibri" panose="020F0502020204030204"/>
            </a:endParaRPr>
          </a:p>
        </p:txBody>
      </p:sp>
    </p:spTree>
    <p:extLst>
      <p:ext uri="{BB962C8B-B14F-4D97-AF65-F5344CB8AC3E}">
        <p14:creationId xmlns:p14="http://schemas.microsoft.com/office/powerpoint/2010/main" val="10402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6CCE761-20A3-A781-000E-5A04358D47E1}"/>
              </a:ext>
            </a:extLst>
          </p:cNvPr>
          <p:cNvSpPr txBox="1"/>
          <p:nvPr/>
        </p:nvSpPr>
        <p:spPr>
          <a:xfrm>
            <a:off x="770920" y="4039938"/>
            <a:ext cx="11811896" cy="2246769"/>
          </a:xfrm>
          <a:prstGeom prst="rect">
            <a:avLst/>
          </a:prstGeom>
          <a:noFill/>
        </p:spPr>
        <p:txBody>
          <a:bodyPr wrap="square" rtlCol="0">
            <a:spAutoFit/>
          </a:bodyPr>
          <a:lstStyle/>
          <a:p>
            <a:pPr defTabSz="685800">
              <a:defRPr/>
            </a:pPr>
            <a:r>
              <a:rPr lang="en-US" sz="2000" dirty="0">
                <a:solidFill>
                  <a:srgbClr val="FFFFFF"/>
                </a:solidFill>
                <a:latin typeface="Calibri" panose="020F0502020204030204"/>
              </a:rPr>
              <a:t>Interviews explored:</a:t>
            </a:r>
          </a:p>
          <a:p>
            <a:pPr defTabSz="685800">
              <a:defRPr/>
            </a:pPr>
            <a:endParaRPr lang="en-US" sz="2000" dirty="0">
              <a:solidFill>
                <a:srgbClr val="FFFFFF"/>
              </a:solidFill>
              <a:latin typeface="Calibri" panose="020F0502020204030204"/>
            </a:endParaRPr>
          </a:p>
          <a:p>
            <a:pPr defTabSz="685800">
              <a:defRPr/>
            </a:pPr>
            <a:r>
              <a:rPr lang="en-US" sz="2000" dirty="0">
                <a:solidFill>
                  <a:srgbClr val="FFFFFF"/>
                </a:solidFill>
                <a:latin typeface="Calibri" panose="020F0502020204030204"/>
              </a:rPr>
              <a:t>1.) Experiences communicating about COVID19 vaccines within their communities</a:t>
            </a:r>
          </a:p>
          <a:p>
            <a:pPr defTabSz="685800">
              <a:defRPr/>
            </a:pPr>
            <a:endParaRPr lang="en-US" sz="2000" dirty="0">
              <a:solidFill>
                <a:srgbClr val="FFFFFF"/>
              </a:solidFill>
              <a:latin typeface="Calibri" panose="020F0502020204030204"/>
            </a:endParaRPr>
          </a:p>
          <a:p>
            <a:pPr defTabSz="685800">
              <a:defRPr/>
            </a:pPr>
            <a:r>
              <a:rPr lang="en-US" sz="2000" dirty="0">
                <a:solidFill>
                  <a:srgbClr val="FFFFFF"/>
                </a:solidFill>
                <a:latin typeface="Calibri" panose="020F0502020204030204"/>
              </a:rPr>
              <a:t>2.) If and how they felt their racial/ethnic and science identities influenced how they communicated</a:t>
            </a:r>
          </a:p>
          <a:p>
            <a:pPr defTabSz="685800">
              <a:defRPr/>
            </a:pPr>
            <a:endParaRPr lang="en-US" sz="2000" dirty="0">
              <a:solidFill>
                <a:srgbClr val="FFFFFF"/>
              </a:solidFill>
              <a:latin typeface="Calibri" panose="020F0502020204030204"/>
            </a:endParaRPr>
          </a:p>
          <a:p>
            <a:pPr defTabSz="685800">
              <a:defRPr/>
            </a:pPr>
            <a:r>
              <a:rPr lang="en-US" sz="2000" dirty="0">
                <a:solidFill>
                  <a:srgbClr val="FFFFFF"/>
                </a:solidFill>
                <a:latin typeface="Calibri" panose="020F0502020204030204"/>
              </a:rPr>
              <a:t>3.) Experiences learning about communication strategies in their undergraduate science classes</a:t>
            </a:r>
          </a:p>
        </p:txBody>
      </p:sp>
      <p:sp>
        <p:nvSpPr>
          <p:cNvPr id="27" name="Title 1">
            <a:extLst>
              <a:ext uri="{FF2B5EF4-FFF2-40B4-BE49-F238E27FC236}">
                <a16:creationId xmlns:a16="http://schemas.microsoft.com/office/drawing/2014/main" id="{5AB45718-91ED-8343-13EA-9446DB0853F1}"/>
              </a:ext>
            </a:extLst>
          </p:cNvPr>
          <p:cNvSpPr>
            <a:spLocks noGrp="1"/>
          </p:cNvSpPr>
          <p:nvPr>
            <p:ph type="title"/>
          </p:nvPr>
        </p:nvSpPr>
        <p:spPr>
          <a:xfrm>
            <a:off x="1718313" y="293347"/>
            <a:ext cx="8755375" cy="593729"/>
          </a:xfrm>
        </p:spPr>
        <p:txBody>
          <a:bodyPr>
            <a:noAutofit/>
          </a:bodyPr>
          <a:lstStyle/>
          <a:p>
            <a:pPr algn="ctr"/>
            <a:r>
              <a:rPr lang="en-US" b="1" dirty="0">
                <a:solidFill>
                  <a:schemeClr val="bg1"/>
                </a:solidFill>
                <a:latin typeface="+mn-lt"/>
              </a:rPr>
              <a:t>Exploring Potential Boundary Spanners</a:t>
            </a:r>
          </a:p>
        </p:txBody>
      </p:sp>
      <p:sp>
        <p:nvSpPr>
          <p:cNvPr id="2" name="TextBox 1">
            <a:extLst>
              <a:ext uri="{FF2B5EF4-FFF2-40B4-BE49-F238E27FC236}">
                <a16:creationId xmlns:a16="http://schemas.microsoft.com/office/drawing/2014/main" id="{E0EB038C-3256-7A9A-DF2C-E01BA871ADED}"/>
              </a:ext>
            </a:extLst>
          </p:cNvPr>
          <p:cNvSpPr txBox="1"/>
          <p:nvPr/>
        </p:nvSpPr>
        <p:spPr>
          <a:xfrm>
            <a:off x="4553841" y="2962508"/>
            <a:ext cx="3084317" cy="584775"/>
          </a:xfrm>
          <a:prstGeom prst="rect">
            <a:avLst/>
          </a:prstGeom>
          <a:noFill/>
        </p:spPr>
        <p:txBody>
          <a:bodyPr wrap="square" rtlCol="0">
            <a:spAutoFit/>
          </a:bodyPr>
          <a:lstStyle/>
          <a:p>
            <a:pPr algn="ctr" defTabSz="685800">
              <a:defRPr/>
            </a:pPr>
            <a:r>
              <a:rPr lang="en-US" sz="1600" dirty="0">
                <a:solidFill>
                  <a:srgbClr val="FFFFFF"/>
                </a:solidFill>
                <a:latin typeface="Calibri" panose="020F0502020204030204"/>
              </a:rPr>
              <a:t>Interviews</a:t>
            </a:r>
          </a:p>
          <a:p>
            <a:pPr algn="ctr" defTabSz="685800">
              <a:defRPr/>
            </a:pPr>
            <a:r>
              <a:rPr lang="en-US" sz="1600" dirty="0">
                <a:solidFill>
                  <a:srgbClr val="FFFFFF"/>
                </a:solidFill>
                <a:latin typeface="Calibri" panose="020F0502020204030204"/>
              </a:rPr>
              <a:t>22 racial minority biology students </a:t>
            </a:r>
          </a:p>
        </p:txBody>
      </p:sp>
      <p:pic>
        <p:nvPicPr>
          <p:cNvPr id="4" name="Graphic 3" descr="Boardroom with solid fill">
            <a:extLst>
              <a:ext uri="{FF2B5EF4-FFF2-40B4-BE49-F238E27FC236}">
                <a16:creationId xmlns:a16="http://schemas.microsoft.com/office/drawing/2014/main" id="{8800936C-F09B-734C-155B-E563351562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72100" y="1829499"/>
            <a:ext cx="1204768" cy="1204768"/>
          </a:xfrm>
          <a:prstGeom prst="rect">
            <a:avLst/>
          </a:prstGeom>
        </p:spPr>
      </p:pic>
      <p:sp>
        <p:nvSpPr>
          <p:cNvPr id="7" name="TextBox 6">
            <a:extLst>
              <a:ext uri="{FF2B5EF4-FFF2-40B4-BE49-F238E27FC236}">
                <a16:creationId xmlns:a16="http://schemas.microsoft.com/office/drawing/2014/main" id="{91DEDF7D-F9E3-2BE0-A0EB-E55A52D2CCF6}"/>
              </a:ext>
            </a:extLst>
          </p:cNvPr>
          <p:cNvSpPr txBox="1"/>
          <p:nvPr/>
        </p:nvSpPr>
        <p:spPr>
          <a:xfrm>
            <a:off x="4532326" y="1103714"/>
            <a:ext cx="3084317" cy="830997"/>
          </a:xfrm>
          <a:prstGeom prst="rect">
            <a:avLst/>
          </a:prstGeom>
          <a:noFill/>
        </p:spPr>
        <p:txBody>
          <a:bodyPr wrap="square" rtlCol="0">
            <a:spAutoFit/>
          </a:bodyPr>
          <a:lstStyle/>
          <a:p>
            <a:pPr algn="ctr" defTabSz="685800">
              <a:defRPr/>
            </a:pPr>
            <a:r>
              <a:rPr lang="en-US" sz="2400" dirty="0">
                <a:solidFill>
                  <a:srgbClr val="FFFFFF"/>
                </a:solidFill>
                <a:latin typeface="Calibri" panose="020F0502020204030204"/>
              </a:rPr>
              <a:t>COVID-19 Vaccine Communication</a:t>
            </a:r>
          </a:p>
        </p:txBody>
      </p:sp>
    </p:spTree>
    <p:extLst>
      <p:ext uri="{BB962C8B-B14F-4D97-AF65-F5344CB8AC3E}">
        <p14:creationId xmlns:p14="http://schemas.microsoft.com/office/powerpoint/2010/main" val="278696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3D166B0-5D31-7569-C3E5-D00116BD4969}"/>
              </a:ext>
            </a:extLst>
          </p:cNvPr>
          <p:cNvSpPr>
            <a:spLocks noGrp="1"/>
          </p:cNvSpPr>
          <p:nvPr>
            <p:ph type="title"/>
          </p:nvPr>
        </p:nvSpPr>
        <p:spPr>
          <a:xfrm>
            <a:off x="376518" y="334147"/>
            <a:ext cx="11327801" cy="1079580"/>
          </a:xfrm>
        </p:spPr>
        <p:txBody>
          <a:bodyPr>
            <a:noAutofit/>
          </a:bodyPr>
          <a:lstStyle/>
          <a:p>
            <a:pPr algn="ctr"/>
            <a:r>
              <a:rPr lang="en-US" sz="2400" b="1" dirty="0">
                <a:solidFill>
                  <a:schemeClr val="bg1"/>
                </a:solidFill>
                <a:latin typeface="+mn-lt"/>
              </a:rPr>
              <a:t>Undergraduate biology students feel a responsibility to be boundary spanners between the science community and their home communities. </a:t>
            </a:r>
          </a:p>
        </p:txBody>
      </p:sp>
      <p:sp>
        <p:nvSpPr>
          <p:cNvPr id="5" name="TextBox 4">
            <a:extLst>
              <a:ext uri="{FF2B5EF4-FFF2-40B4-BE49-F238E27FC236}">
                <a16:creationId xmlns:a16="http://schemas.microsoft.com/office/drawing/2014/main" id="{FF6FE5D1-D93F-822F-96E3-A709B42559AE}"/>
              </a:ext>
            </a:extLst>
          </p:cNvPr>
          <p:cNvSpPr txBox="1"/>
          <p:nvPr/>
        </p:nvSpPr>
        <p:spPr>
          <a:xfrm>
            <a:off x="3919431" y="3712698"/>
            <a:ext cx="7569736" cy="1754326"/>
          </a:xfrm>
          <a:prstGeom prst="rect">
            <a:avLst/>
          </a:prstGeom>
          <a:noFill/>
        </p:spPr>
        <p:txBody>
          <a:bodyPr wrap="square">
            <a:spAutoFit/>
          </a:bodyPr>
          <a:lstStyle/>
          <a:p>
            <a:pPr marL="342900" algn="ctr" defTabSz="685800">
              <a:defRPr/>
            </a:pPr>
            <a:r>
              <a:rPr lang="en-US" dirty="0">
                <a:solidFill>
                  <a:srgbClr val="FFFFFF"/>
                </a:solidFill>
                <a:latin typeface="Calibri" panose="020F0502020204030204"/>
                <a:ea typeface="Times New Roman" panose="02020603050405020304" pitchFamily="18" charset="0"/>
              </a:rPr>
              <a:t> “[My race influences my communication] because I know people [in Black communities] don’t have the best history with the medical field and the government. I try to keep that in mind when I do talk to people […] I convince them that things are changing. There are people in the medical field who are helping us. There are more and more Black scientists who are out there creating this vaccine who can help them.”</a:t>
            </a:r>
          </a:p>
        </p:txBody>
      </p:sp>
      <p:sp>
        <p:nvSpPr>
          <p:cNvPr id="8" name="TextBox 7">
            <a:extLst>
              <a:ext uri="{FF2B5EF4-FFF2-40B4-BE49-F238E27FC236}">
                <a16:creationId xmlns:a16="http://schemas.microsoft.com/office/drawing/2014/main" id="{6626AA55-D374-256E-2EEF-D05E45DAC868}"/>
              </a:ext>
            </a:extLst>
          </p:cNvPr>
          <p:cNvSpPr txBox="1"/>
          <p:nvPr/>
        </p:nvSpPr>
        <p:spPr>
          <a:xfrm>
            <a:off x="4300158" y="1861004"/>
            <a:ext cx="6397865" cy="1200329"/>
          </a:xfrm>
          <a:prstGeom prst="rect">
            <a:avLst/>
          </a:prstGeom>
          <a:noFill/>
        </p:spPr>
        <p:txBody>
          <a:bodyPr wrap="square">
            <a:spAutoFit/>
          </a:bodyPr>
          <a:lstStyle/>
          <a:p>
            <a:pPr algn="ctr" defTabSz="685800">
              <a:defRPr/>
            </a:pPr>
            <a:r>
              <a:rPr lang="en-US" dirty="0">
                <a:solidFill>
                  <a:srgbClr val="FFFFFF"/>
                </a:solidFill>
                <a:latin typeface="Calibri" panose="020F0502020204030204"/>
              </a:rPr>
              <a:t>“I felt like I was doing the role of what is expected of someone that does want to go into medicine of trying to convince people that they have an obligation to take care of themselves first and then take care of people around them.”</a:t>
            </a:r>
          </a:p>
        </p:txBody>
      </p:sp>
      <p:sp>
        <p:nvSpPr>
          <p:cNvPr id="2" name="TextBox 1">
            <a:extLst>
              <a:ext uri="{FF2B5EF4-FFF2-40B4-BE49-F238E27FC236}">
                <a16:creationId xmlns:a16="http://schemas.microsoft.com/office/drawing/2014/main" id="{6913661A-AEC7-F558-8461-4D10DD8DC54A}"/>
              </a:ext>
            </a:extLst>
          </p:cNvPr>
          <p:cNvSpPr txBox="1"/>
          <p:nvPr/>
        </p:nvSpPr>
        <p:spPr>
          <a:xfrm>
            <a:off x="118334" y="5826001"/>
            <a:ext cx="12274476" cy="584775"/>
          </a:xfrm>
          <a:prstGeom prst="rect">
            <a:avLst/>
          </a:prstGeom>
          <a:noFill/>
        </p:spPr>
        <p:txBody>
          <a:bodyPr wrap="square" rtlCol="0">
            <a:spAutoFit/>
          </a:bodyPr>
          <a:lstStyle/>
          <a:p>
            <a:pPr defTabSz="685800">
              <a:defRPr/>
            </a:pPr>
            <a:r>
              <a:rPr lang="en-US" sz="3200" dirty="0">
                <a:solidFill>
                  <a:srgbClr val="FFFFFF"/>
                </a:solidFill>
                <a:latin typeface="Calibri" panose="020F0502020204030204"/>
              </a:rPr>
              <a:t>We all have identities that can help us play a role as boundary spanners</a:t>
            </a:r>
          </a:p>
        </p:txBody>
      </p:sp>
      <p:sp>
        <p:nvSpPr>
          <p:cNvPr id="4" name="TextBox 3">
            <a:extLst>
              <a:ext uri="{FF2B5EF4-FFF2-40B4-BE49-F238E27FC236}">
                <a16:creationId xmlns:a16="http://schemas.microsoft.com/office/drawing/2014/main" id="{8DD54F69-3BE7-3BD8-6AEB-34EC32CA0529}"/>
              </a:ext>
            </a:extLst>
          </p:cNvPr>
          <p:cNvSpPr txBox="1"/>
          <p:nvPr/>
        </p:nvSpPr>
        <p:spPr>
          <a:xfrm>
            <a:off x="1273021" y="4450244"/>
            <a:ext cx="1943940" cy="584775"/>
          </a:xfrm>
          <a:prstGeom prst="rect">
            <a:avLst/>
          </a:prstGeom>
          <a:noFill/>
        </p:spPr>
        <p:txBody>
          <a:bodyPr wrap="square" rtlCol="0">
            <a:spAutoFit/>
          </a:bodyPr>
          <a:lstStyle/>
          <a:p>
            <a:pPr algn="ctr" defTabSz="685800">
              <a:defRPr/>
            </a:pPr>
            <a:r>
              <a:rPr lang="en-US" sz="1600" dirty="0">
                <a:solidFill>
                  <a:srgbClr val="FFFFFF"/>
                </a:solidFill>
                <a:latin typeface="Calibri" panose="020F0502020204030204"/>
              </a:rPr>
              <a:t>22 racial minority</a:t>
            </a:r>
          </a:p>
          <a:p>
            <a:pPr algn="ctr" defTabSz="685800">
              <a:defRPr/>
            </a:pPr>
            <a:r>
              <a:rPr lang="en-US" sz="1600" dirty="0">
                <a:solidFill>
                  <a:srgbClr val="FFFFFF"/>
                </a:solidFill>
                <a:latin typeface="Calibri" panose="020F0502020204030204"/>
              </a:rPr>
              <a:t> biology students </a:t>
            </a:r>
          </a:p>
        </p:txBody>
      </p:sp>
      <p:pic>
        <p:nvPicPr>
          <p:cNvPr id="7" name="Graphic 6" descr="Boardroom with solid fill">
            <a:extLst>
              <a:ext uri="{FF2B5EF4-FFF2-40B4-BE49-F238E27FC236}">
                <a16:creationId xmlns:a16="http://schemas.microsoft.com/office/drawing/2014/main" id="{F5C83975-069C-C1A9-B7E8-E508065835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42607" y="3110314"/>
            <a:ext cx="1204768" cy="1204768"/>
          </a:xfrm>
          <a:prstGeom prst="rect">
            <a:avLst/>
          </a:prstGeom>
        </p:spPr>
      </p:pic>
      <p:sp>
        <p:nvSpPr>
          <p:cNvPr id="9" name="TextBox 8">
            <a:extLst>
              <a:ext uri="{FF2B5EF4-FFF2-40B4-BE49-F238E27FC236}">
                <a16:creationId xmlns:a16="http://schemas.microsoft.com/office/drawing/2014/main" id="{ACCB3FEB-F7FF-BDDF-FC2D-6C3860BEB40A}"/>
              </a:ext>
            </a:extLst>
          </p:cNvPr>
          <p:cNvSpPr txBox="1"/>
          <p:nvPr/>
        </p:nvSpPr>
        <p:spPr>
          <a:xfrm>
            <a:off x="702833" y="2384529"/>
            <a:ext cx="3084317" cy="830997"/>
          </a:xfrm>
          <a:prstGeom prst="rect">
            <a:avLst/>
          </a:prstGeom>
          <a:noFill/>
        </p:spPr>
        <p:txBody>
          <a:bodyPr wrap="square" rtlCol="0">
            <a:spAutoFit/>
          </a:bodyPr>
          <a:lstStyle/>
          <a:p>
            <a:pPr algn="ctr" defTabSz="685800">
              <a:defRPr/>
            </a:pPr>
            <a:r>
              <a:rPr lang="en-US" sz="2400" dirty="0">
                <a:solidFill>
                  <a:srgbClr val="FFFFFF"/>
                </a:solidFill>
                <a:latin typeface="Calibri" panose="020F0502020204030204"/>
              </a:rPr>
              <a:t>COVID-19 Vaccine Communication</a:t>
            </a:r>
          </a:p>
        </p:txBody>
      </p:sp>
      <p:sp>
        <p:nvSpPr>
          <p:cNvPr id="11" name="TextBox 10">
            <a:extLst>
              <a:ext uri="{FF2B5EF4-FFF2-40B4-BE49-F238E27FC236}">
                <a16:creationId xmlns:a16="http://schemas.microsoft.com/office/drawing/2014/main" id="{DD75276D-BA09-9CEC-EA30-BBF6A1E1FA01}"/>
              </a:ext>
            </a:extLst>
          </p:cNvPr>
          <p:cNvSpPr txBox="1"/>
          <p:nvPr/>
        </p:nvSpPr>
        <p:spPr>
          <a:xfrm>
            <a:off x="9167138" y="6523532"/>
            <a:ext cx="2906528" cy="246221"/>
          </a:xfrm>
          <a:prstGeom prst="rect">
            <a:avLst/>
          </a:prstGeom>
          <a:noFill/>
        </p:spPr>
        <p:txBody>
          <a:bodyPr wrap="square" rtlCol="0">
            <a:spAutoFit/>
          </a:bodyPr>
          <a:lstStyle/>
          <a:p>
            <a:pPr defTabSz="457200"/>
            <a:r>
              <a:rPr lang="en-US" sz="1000" dirty="0">
                <a:solidFill>
                  <a:prstClr val="white"/>
                </a:solidFill>
                <a:latin typeface="Arial"/>
              </a:rPr>
              <a:t>Bowen et al., 2023 </a:t>
            </a:r>
            <a:r>
              <a:rPr lang="en-US" sz="1000" i="1" dirty="0">
                <a:solidFill>
                  <a:prstClr val="white"/>
                </a:solidFill>
                <a:latin typeface="Arial"/>
              </a:rPr>
              <a:t>CBE Life Sciences Education</a:t>
            </a:r>
          </a:p>
        </p:txBody>
      </p:sp>
    </p:spTree>
    <p:extLst>
      <p:ext uri="{BB962C8B-B14F-4D97-AF65-F5344CB8AC3E}">
        <p14:creationId xmlns:p14="http://schemas.microsoft.com/office/powerpoint/2010/main" val="1153014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183BD-5F43-715D-2EDA-1E9887CC53CA}"/>
            </a:ext>
          </a:extLst>
        </p:cNvPr>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AD3EDFDC-4F41-74A5-7D8E-502E33938902}"/>
              </a:ext>
            </a:extLst>
          </p:cNvPr>
          <p:cNvGraphicFramePr>
            <a:graphicFrameLocks noGrp="1"/>
          </p:cNvGraphicFramePr>
          <p:nvPr/>
        </p:nvGraphicFramePr>
        <p:xfrm>
          <a:off x="7441037" y="4006710"/>
          <a:ext cx="4058887" cy="1053864"/>
        </p:xfrm>
        <a:graphic>
          <a:graphicData uri="http://schemas.openxmlformats.org/drawingml/2006/table">
            <a:tbl>
              <a:tblPr firstRow="1" bandRow="1">
                <a:tableStyleId>{5C22544A-7EE6-4342-B048-85BDC9FD1C3A}</a:tableStyleId>
              </a:tblPr>
              <a:tblGrid>
                <a:gridCol w="4058887">
                  <a:extLst>
                    <a:ext uri="{9D8B030D-6E8A-4147-A177-3AD203B41FA5}">
                      <a16:colId xmlns:a16="http://schemas.microsoft.com/office/drawing/2014/main" val="2380629857"/>
                    </a:ext>
                  </a:extLst>
                </a:gridCol>
              </a:tblGrid>
              <a:tr h="3097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Dialogic &amp; Inclusive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741444">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Engage in two-way conversations about science.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Open-minded to diverse perspectives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Show curiosity and intellectual humility about science.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4" name="Table 8">
            <a:extLst>
              <a:ext uri="{FF2B5EF4-FFF2-40B4-BE49-F238E27FC236}">
                <a16:creationId xmlns:a16="http://schemas.microsoft.com/office/drawing/2014/main" id="{7D18D9FD-2044-7438-5BD2-25FECC3075D9}"/>
              </a:ext>
            </a:extLst>
          </p:cNvPr>
          <p:cNvGraphicFramePr>
            <a:graphicFrameLocks noGrp="1"/>
          </p:cNvGraphicFramePr>
          <p:nvPr/>
        </p:nvGraphicFramePr>
        <p:xfrm>
          <a:off x="6953705" y="5185758"/>
          <a:ext cx="2394690" cy="1573793"/>
        </p:xfrm>
        <a:graphic>
          <a:graphicData uri="http://schemas.openxmlformats.org/drawingml/2006/table">
            <a:tbl>
              <a:tblPr firstRow="1" bandRow="1">
                <a:tableStyleId>{5C22544A-7EE6-4342-B048-85BDC9FD1C3A}</a:tableStyleId>
              </a:tblPr>
              <a:tblGrid>
                <a:gridCol w="2394690">
                  <a:extLst>
                    <a:ext uri="{9D8B030D-6E8A-4147-A177-3AD203B41FA5}">
                      <a16:colId xmlns:a16="http://schemas.microsoft.com/office/drawing/2014/main" val="2380629857"/>
                    </a:ext>
                  </a:extLst>
                </a:gridCol>
              </a:tblGrid>
              <a:tr h="3795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Know the audience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194231">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Recognize how cultural background can shape perceptions and attitudes.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Inquire about why people believe what they do.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5" name="Table 8">
            <a:extLst>
              <a:ext uri="{FF2B5EF4-FFF2-40B4-BE49-F238E27FC236}">
                <a16:creationId xmlns:a16="http://schemas.microsoft.com/office/drawing/2014/main" id="{7117B982-5142-1450-73D8-067891BD3F61}"/>
              </a:ext>
            </a:extLst>
          </p:cNvPr>
          <p:cNvGraphicFramePr>
            <a:graphicFrameLocks noGrp="1"/>
          </p:cNvGraphicFramePr>
          <p:nvPr/>
        </p:nvGraphicFramePr>
        <p:xfrm>
          <a:off x="9481752" y="5185759"/>
          <a:ext cx="2495095" cy="1573793"/>
        </p:xfrm>
        <a:graphic>
          <a:graphicData uri="http://schemas.openxmlformats.org/drawingml/2006/table">
            <a:tbl>
              <a:tblPr firstRow="1" bandRow="1">
                <a:tableStyleId>{5C22544A-7EE6-4342-B048-85BDC9FD1C3A}</a:tableStyleId>
              </a:tblPr>
              <a:tblGrid>
                <a:gridCol w="2495095">
                  <a:extLst>
                    <a:ext uri="{9D8B030D-6E8A-4147-A177-3AD203B41FA5}">
                      <a16:colId xmlns:a16="http://schemas.microsoft.com/office/drawing/2014/main" val="2380629857"/>
                    </a:ext>
                  </a:extLst>
                </a:gridCol>
              </a:tblGrid>
              <a:tr h="47120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Convey respect &amp; shared values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01753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Build trust and establish relationships.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Find and focus on agreement (example: we all want our communities to be safe).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8" name="Table 8">
            <a:extLst>
              <a:ext uri="{FF2B5EF4-FFF2-40B4-BE49-F238E27FC236}">
                <a16:creationId xmlns:a16="http://schemas.microsoft.com/office/drawing/2014/main" id="{E19B0089-8DF8-94B7-B353-F4027BCA90ED}"/>
              </a:ext>
            </a:extLst>
          </p:cNvPr>
          <p:cNvGraphicFramePr>
            <a:graphicFrameLocks noGrp="1"/>
          </p:cNvGraphicFramePr>
          <p:nvPr/>
        </p:nvGraphicFramePr>
        <p:xfrm>
          <a:off x="1265045" y="4042662"/>
          <a:ext cx="3408130" cy="1017912"/>
        </p:xfrm>
        <a:graphic>
          <a:graphicData uri="http://schemas.openxmlformats.org/drawingml/2006/table">
            <a:tbl>
              <a:tblPr firstRow="1" bandRow="1">
                <a:tableStyleId>{5C22544A-7EE6-4342-B048-85BDC9FD1C3A}</a:tableStyleId>
              </a:tblPr>
              <a:tblGrid>
                <a:gridCol w="3408130">
                  <a:extLst>
                    <a:ext uri="{9D8B030D-6E8A-4147-A177-3AD203B41FA5}">
                      <a16:colId xmlns:a16="http://schemas.microsoft.com/office/drawing/2014/main" val="2380629857"/>
                    </a:ext>
                  </a:extLst>
                </a:gridCol>
              </a:tblGrid>
              <a:tr h="2412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Scientism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70549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Overemphasizes the authority of science.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Presents science as ultimate truth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Does not attend to the relationship building.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9" name="Table 8">
            <a:extLst>
              <a:ext uri="{FF2B5EF4-FFF2-40B4-BE49-F238E27FC236}">
                <a16:creationId xmlns:a16="http://schemas.microsoft.com/office/drawing/2014/main" id="{60925493-BC27-DC85-F4B9-34C4BA783AA1}"/>
              </a:ext>
            </a:extLst>
          </p:cNvPr>
          <p:cNvGraphicFramePr>
            <a:graphicFrameLocks noGrp="1"/>
          </p:cNvGraphicFramePr>
          <p:nvPr/>
        </p:nvGraphicFramePr>
        <p:xfrm>
          <a:off x="258183" y="5185758"/>
          <a:ext cx="2710927" cy="1477411"/>
        </p:xfrm>
        <a:graphic>
          <a:graphicData uri="http://schemas.openxmlformats.org/drawingml/2006/table">
            <a:tbl>
              <a:tblPr firstRow="1" bandRow="1">
                <a:tableStyleId>{5C22544A-7EE6-4342-B048-85BDC9FD1C3A}</a:tableStyleId>
              </a:tblPr>
              <a:tblGrid>
                <a:gridCol w="2710927">
                  <a:extLst>
                    <a:ext uri="{9D8B030D-6E8A-4147-A177-3AD203B41FA5}">
                      <a16:colId xmlns:a16="http://schemas.microsoft.com/office/drawing/2014/main" val="2380629857"/>
                    </a:ext>
                  </a:extLst>
                </a:gridCol>
              </a:tblGrid>
              <a:tr h="3862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Negative Communication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09111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Anger, frustration, accusations, or condescension in communication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Accusing the person of being morally unethical.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10" name="Table 8">
            <a:extLst>
              <a:ext uri="{FF2B5EF4-FFF2-40B4-BE49-F238E27FC236}">
                <a16:creationId xmlns:a16="http://schemas.microsoft.com/office/drawing/2014/main" id="{078A212F-6E39-3C43-99BA-34D2F2E8F159}"/>
              </a:ext>
            </a:extLst>
          </p:cNvPr>
          <p:cNvGraphicFramePr>
            <a:graphicFrameLocks noGrp="1"/>
          </p:cNvGraphicFramePr>
          <p:nvPr/>
        </p:nvGraphicFramePr>
        <p:xfrm>
          <a:off x="3315488" y="5185757"/>
          <a:ext cx="2181669" cy="1477411"/>
        </p:xfrm>
        <a:graphic>
          <a:graphicData uri="http://schemas.openxmlformats.org/drawingml/2006/table">
            <a:tbl>
              <a:tblPr firstRow="1" bandRow="1">
                <a:tableStyleId>{5C22544A-7EE6-4342-B048-85BDC9FD1C3A}</a:tableStyleId>
              </a:tblPr>
              <a:tblGrid>
                <a:gridCol w="2181669">
                  <a:extLst>
                    <a:ext uri="{9D8B030D-6E8A-4147-A177-3AD203B41FA5}">
                      <a16:colId xmlns:a16="http://schemas.microsoft.com/office/drawing/2014/main" val="2380629857"/>
                    </a:ext>
                  </a:extLst>
                </a:gridCol>
              </a:tblGrid>
              <a:tr h="4148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Avoidance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06252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Disengages from the conversation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Avoids conversations with those they disagree with.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pic>
        <p:nvPicPr>
          <p:cNvPr id="11" name="Picture 10">
            <a:extLst>
              <a:ext uri="{FF2B5EF4-FFF2-40B4-BE49-F238E27FC236}">
                <a16:creationId xmlns:a16="http://schemas.microsoft.com/office/drawing/2014/main" id="{A7F8896A-C4F5-8DB1-A6EA-085A6AC7166C}"/>
              </a:ext>
            </a:extLst>
          </p:cNvPr>
          <p:cNvPicPr>
            <a:picLocks noChangeAspect="1"/>
          </p:cNvPicPr>
          <p:nvPr/>
        </p:nvPicPr>
        <p:blipFill rotWithShape="1">
          <a:blip r:embed="rId3"/>
          <a:srcRect r="64008"/>
          <a:stretch/>
        </p:blipFill>
        <p:spPr>
          <a:xfrm>
            <a:off x="7849303" y="2089577"/>
            <a:ext cx="2998183" cy="1827901"/>
          </a:xfrm>
          <a:prstGeom prst="rect">
            <a:avLst/>
          </a:prstGeom>
          <a:ln w="38100">
            <a:solidFill>
              <a:schemeClr val="accent1">
                <a:lumMod val="50000"/>
              </a:schemeClr>
            </a:solidFill>
          </a:ln>
        </p:spPr>
      </p:pic>
      <p:pic>
        <p:nvPicPr>
          <p:cNvPr id="12" name="Picture 11">
            <a:extLst>
              <a:ext uri="{FF2B5EF4-FFF2-40B4-BE49-F238E27FC236}">
                <a16:creationId xmlns:a16="http://schemas.microsoft.com/office/drawing/2014/main" id="{04CE8B97-AB2D-8878-6C24-8E1ED095E821}"/>
              </a:ext>
            </a:extLst>
          </p:cNvPr>
          <p:cNvPicPr>
            <a:picLocks noChangeAspect="1"/>
          </p:cNvPicPr>
          <p:nvPr/>
        </p:nvPicPr>
        <p:blipFill rotWithShape="1">
          <a:blip r:embed="rId3"/>
          <a:srcRect l="64008"/>
          <a:stretch/>
        </p:blipFill>
        <p:spPr>
          <a:xfrm>
            <a:off x="1470019" y="2089577"/>
            <a:ext cx="2998182" cy="1827901"/>
          </a:xfrm>
          <a:prstGeom prst="rect">
            <a:avLst/>
          </a:prstGeom>
          <a:ln w="38100">
            <a:solidFill>
              <a:schemeClr val="accent1">
                <a:lumMod val="50000"/>
              </a:schemeClr>
            </a:solidFill>
          </a:ln>
        </p:spPr>
      </p:pic>
      <p:sp>
        <p:nvSpPr>
          <p:cNvPr id="14" name="TextBox 13">
            <a:extLst>
              <a:ext uri="{FF2B5EF4-FFF2-40B4-BE49-F238E27FC236}">
                <a16:creationId xmlns:a16="http://schemas.microsoft.com/office/drawing/2014/main" id="{64D8A65A-518E-6D5F-30C2-4EE76EDE9E9E}"/>
              </a:ext>
            </a:extLst>
          </p:cNvPr>
          <p:cNvSpPr txBox="1"/>
          <p:nvPr/>
        </p:nvSpPr>
        <p:spPr>
          <a:xfrm>
            <a:off x="623944" y="221487"/>
            <a:ext cx="11470444"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effectLst/>
                <a:uLnTx/>
                <a:uFillTx/>
                <a:latin typeface="Calibri" panose="020F0502020204030204"/>
                <a:ea typeface="+mn-ea"/>
                <a:cs typeface="+mn-cs"/>
              </a:rPr>
              <a:t>Take ~3 minutes to review your original communication strategy, identify effective or ineffective communication strategies, and record them in your worksheet: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effectLst/>
                <a:uLnTx/>
                <a:uFillTx/>
                <a:latin typeface="Calibri" panose="020F0502020204030204"/>
                <a:ea typeface="+mn-ea"/>
                <a:cs typeface="+mn-cs"/>
              </a:rPr>
              <a:t>Answer 2: </a:t>
            </a:r>
            <a:r>
              <a:rPr kumimoji="0" lang="en-US" sz="2400" b="0" i="0" u="none" strike="noStrike" kern="1200" cap="none" spc="0" normalizeH="0" baseline="0" noProof="0" dirty="0">
                <a:ln>
                  <a:noFill/>
                </a:ln>
                <a:effectLst/>
                <a:uLnTx/>
                <a:uFillTx/>
                <a:latin typeface="Calibri" panose="020F0502020204030204"/>
                <a:ea typeface="+mn-ea"/>
                <a:cs typeface="+mn-cs"/>
              </a:rPr>
              <a:t>what effective strategies did you use? What ineffective strategies did you use?</a:t>
            </a:r>
          </a:p>
        </p:txBody>
      </p:sp>
      <p:sp>
        <p:nvSpPr>
          <p:cNvPr id="16" name="Star: 5 Points 15">
            <a:extLst>
              <a:ext uri="{FF2B5EF4-FFF2-40B4-BE49-F238E27FC236}">
                <a16:creationId xmlns:a16="http://schemas.microsoft.com/office/drawing/2014/main" id="{EDF9D824-5C95-3034-6E1F-182B69810B5A}"/>
              </a:ext>
            </a:extLst>
          </p:cNvPr>
          <p:cNvSpPr/>
          <p:nvPr/>
        </p:nvSpPr>
        <p:spPr>
          <a:xfrm>
            <a:off x="5411891" y="1941068"/>
            <a:ext cx="1031939" cy="865230"/>
          </a:xfrm>
          <a:prstGeom prst="star5">
            <a:avLst/>
          </a:prstGeom>
          <a:solidFill>
            <a:srgbClr val="C00000"/>
          </a:solidFill>
          <a:ln w="38100" cap="flat" cmpd="sng" algn="ctr">
            <a:solidFill>
              <a:sysClr val="windowText" lastClr="000000">
                <a:lumMod val="95000"/>
                <a:lumOff val="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w="76200">
                <a:solidFill>
                  <a:prstClr val="white"/>
                </a:solidFill>
              </a:ln>
              <a:solidFill>
                <a:prstClr val="white"/>
              </a:solidFill>
              <a:effectLst/>
              <a:uLnTx/>
              <a:uFillTx/>
              <a:latin typeface="Palatino Linotype"/>
              <a:ea typeface="+mn-ea"/>
              <a:cs typeface="+mn-cs"/>
            </a:endParaRPr>
          </a:p>
        </p:txBody>
      </p:sp>
    </p:spTree>
    <p:extLst>
      <p:ext uri="{BB962C8B-B14F-4D97-AF65-F5344CB8AC3E}">
        <p14:creationId xmlns:p14="http://schemas.microsoft.com/office/powerpoint/2010/main" val="870241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91FD2-BAB8-CCAC-B3B1-036364E22D28}"/>
            </a:ext>
          </a:extLst>
        </p:cNvPr>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C19A9B73-1F27-E1E7-4CC0-5D2506D58ED6}"/>
              </a:ext>
            </a:extLst>
          </p:cNvPr>
          <p:cNvGraphicFramePr>
            <a:graphicFrameLocks noGrp="1"/>
          </p:cNvGraphicFramePr>
          <p:nvPr/>
        </p:nvGraphicFramePr>
        <p:xfrm>
          <a:off x="7441037" y="4006710"/>
          <a:ext cx="4058887" cy="1053864"/>
        </p:xfrm>
        <a:graphic>
          <a:graphicData uri="http://schemas.openxmlformats.org/drawingml/2006/table">
            <a:tbl>
              <a:tblPr firstRow="1" bandRow="1">
                <a:tableStyleId>{5C22544A-7EE6-4342-B048-85BDC9FD1C3A}</a:tableStyleId>
              </a:tblPr>
              <a:tblGrid>
                <a:gridCol w="4058887">
                  <a:extLst>
                    <a:ext uri="{9D8B030D-6E8A-4147-A177-3AD203B41FA5}">
                      <a16:colId xmlns:a16="http://schemas.microsoft.com/office/drawing/2014/main" val="2380629857"/>
                    </a:ext>
                  </a:extLst>
                </a:gridCol>
              </a:tblGrid>
              <a:tr h="3097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Dialogic &amp; Inclusive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741444">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Engage in two-way conversations about science.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Open-minded to diverse perspectives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Show curiosity and intellectual humility about science.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4" name="Table 8">
            <a:extLst>
              <a:ext uri="{FF2B5EF4-FFF2-40B4-BE49-F238E27FC236}">
                <a16:creationId xmlns:a16="http://schemas.microsoft.com/office/drawing/2014/main" id="{E1D22F29-8980-A81F-369D-67C2A2D5E866}"/>
              </a:ext>
            </a:extLst>
          </p:cNvPr>
          <p:cNvGraphicFramePr>
            <a:graphicFrameLocks noGrp="1"/>
          </p:cNvGraphicFramePr>
          <p:nvPr/>
        </p:nvGraphicFramePr>
        <p:xfrm>
          <a:off x="6953705" y="5185758"/>
          <a:ext cx="2394690" cy="1573793"/>
        </p:xfrm>
        <a:graphic>
          <a:graphicData uri="http://schemas.openxmlformats.org/drawingml/2006/table">
            <a:tbl>
              <a:tblPr firstRow="1" bandRow="1">
                <a:tableStyleId>{5C22544A-7EE6-4342-B048-85BDC9FD1C3A}</a:tableStyleId>
              </a:tblPr>
              <a:tblGrid>
                <a:gridCol w="2394690">
                  <a:extLst>
                    <a:ext uri="{9D8B030D-6E8A-4147-A177-3AD203B41FA5}">
                      <a16:colId xmlns:a16="http://schemas.microsoft.com/office/drawing/2014/main" val="2380629857"/>
                    </a:ext>
                  </a:extLst>
                </a:gridCol>
              </a:tblGrid>
              <a:tr h="3795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Know the audience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194231">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Recognize how cultural background can shape perceptions and attitudes.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Inquire about why people believe what they do.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5" name="Table 8">
            <a:extLst>
              <a:ext uri="{FF2B5EF4-FFF2-40B4-BE49-F238E27FC236}">
                <a16:creationId xmlns:a16="http://schemas.microsoft.com/office/drawing/2014/main" id="{83878E8C-E15C-F7FE-BB77-9912CE22A61B}"/>
              </a:ext>
            </a:extLst>
          </p:cNvPr>
          <p:cNvGraphicFramePr>
            <a:graphicFrameLocks noGrp="1"/>
          </p:cNvGraphicFramePr>
          <p:nvPr/>
        </p:nvGraphicFramePr>
        <p:xfrm>
          <a:off x="9481752" y="5185759"/>
          <a:ext cx="2495095" cy="1573793"/>
        </p:xfrm>
        <a:graphic>
          <a:graphicData uri="http://schemas.openxmlformats.org/drawingml/2006/table">
            <a:tbl>
              <a:tblPr firstRow="1" bandRow="1">
                <a:tableStyleId>{5C22544A-7EE6-4342-B048-85BDC9FD1C3A}</a:tableStyleId>
              </a:tblPr>
              <a:tblGrid>
                <a:gridCol w="2495095">
                  <a:extLst>
                    <a:ext uri="{9D8B030D-6E8A-4147-A177-3AD203B41FA5}">
                      <a16:colId xmlns:a16="http://schemas.microsoft.com/office/drawing/2014/main" val="2380629857"/>
                    </a:ext>
                  </a:extLst>
                </a:gridCol>
              </a:tblGrid>
              <a:tr h="47120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Convey respect &amp; shared values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01753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Build trust and establish relationships.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Find and focus on agreement (example: we all want our communities to be safe).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8" name="Table 8">
            <a:extLst>
              <a:ext uri="{FF2B5EF4-FFF2-40B4-BE49-F238E27FC236}">
                <a16:creationId xmlns:a16="http://schemas.microsoft.com/office/drawing/2014/main" id="{35B852D1-26AC-07F9-0F13-F4C49017334B}"/>
              </a:ext>
            </a:extLst>
          </p:cNvPr>
          <p:cNvGraphicFramePr>
            <a:graphicFrameLocks noGrp="1"/>
          </p:cNvGraphicFramePr>
          <p:nvPr/>
        </p:nvGraphicFramePr>
        <p:xfrm>
          <a:off x="1265045" y="4042662"/>
          <a:ext cx="3408130" cy="1017912"/>
        </p:xfrm>
        <a:graphic>
          <a:graphicData uri="http://schemas.openxmlformats.org/drawingml/2006/table">
            <a:tbl>
              <a:tblPr firstRow="1" bandRow="1">
                <a:tableStyleId>{5C22544A-7EE6-4342-B048-85BDC9FD1C3A}</a:tableStyleId>
              </a:tblPr>
              <a:tblGrid>
                <a:gridCol w="3408130">
                  <a:extLst>
                    <a:ext uri="{9D8B030D-6E8A-4147-A177-3AD203B41FA5}">
                      <a16:colId xmlns:a16="http://schemas.microsoft.com/office/drawing/2014/main" val="2380629857"/>
                    </a:ext>
                  </a:extLst>
                </a:gridCol>
              </a:tblGrid>
              <a:tr h="2412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Scientism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70549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Overemphasizes the authority of science.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Presents science as ultimate truth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Does not attend to the relationship building.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9" name="Table 8">
            <a:extLst>
              <a:ext uri="{FF2B5EF4-FFF2-40B4-BE49-F238E27FC236}">
                <a16:creationId xmlns:a16="http://schemas.microsoft.com/office/drawing/2014/main" id="{A964F853-958E-5D88-997F-2EC4BECF32A4}"/>
              </a:ext>
            </a:extLst>
          </p:cNvPr>
          <p:cNvGraphicFramePr>
            <a:graphicFrameLocks noGrp="1"/>
          </p:cNvGraphicFramePr>
          <p:nvPr/>
        </p:nvGraphicFramePr>
        <p:xfrm>
          <a:off x="258183" y="5185758"/>
          <a:ext cx="2710927" cy="1477411"/>
        </p:xfrm>
        <a:graphic>
          <a:graphicData uri="http://schemas.openxmlformats.org/drawingml/2006/table">
            <a:tbl>
              <a:tblPr firstRow="1" bandRow="1">
                <a:tableStyleId>{5C22544A-7EE6-4342-B048-85BDC9FD1C3A}</a:tableStyleId>
              </a:tblPr>
              <a:tblGrid>
                <a:gridCol w="2710927">
                  <a:extLst>
                    <a:ext uri="{9D8B030D-6E8A-4147-A177-3AD203B41FA5}">
                      <a16:colId xmlns:a16="http://schemas.microsoft.com/office/drawing/2014/main" val="2380629857"/>
                    </a:ext>
                  </a:extLst>
                </a:gridCol>
              </a:tblGrid>
              <a:tr h="3862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Negative Communication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09111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Anger, frustration, accusations, or condescension in communication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Accusing the person of being morally unethical.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10" name="Table 8">
            <a:extLst>
              <a:ext uri="{FF2B5EF4-FFF2-40B4-BE49-F238E27FC236}">
                <a16:creationId xmlns:a16="http://schemas.microsoft.com/office/drawing/2014/main" id="{E6277AF3-789E-7939-CC20-583F263C4704}"/>
              </a:ext>
            </a:extLst>
          </p:cNvPr>
          <p:cNvGraphicFramePr>
            <a:graphicFrameLocks noGrp="1"/>
          </p:cNvGraphicFramePr>
          <p:nvPr/>
        </p:nvGraphicFramePr>
        <p:xfrm>
          <a:off x="3315488" y="5185757"/>
          <a:ext cx="2181669" cy="1477411"/>
        </p:xfrm>
        <a:graphic>
          <a:graphicData uri="http://schemas.openxmlformats.org/drawingml/2006/table">
            <a:tbl>
              <a:tblPr firstRow="1" bandRow="1">
                <a:tableStyleId>{5C22544A-7EE6-4342-B048-85BDC9FD1C3A}</a:tableStyleId>
              </a:tblPr>
              <a:tblGrid>
                <a:gridCol w="2181669">
                  <a:extLst>
                    <a:ext uri="{9D8B030D-6E8A-4147-A177-3AD203B41FA5}">
                      <a16:colId xmlns:a16="http://schemas.microsoft.com/office/drawing/2014/main" val="2380629857"/>
                    </a:ext>
                  </a:extLst>
                </a:gridCol>
              </a:tblGrid>
              <a:tr h="4148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Avoidance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06252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Disengages from the conversation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Avoids conversations with those they disagree with.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pic>
        <p:nvPicPr>
          <p:cNvPr id="11" name="Picture 10">
            <a:extLst>
              <a:ext uri="{FF2B5EF4-FFF2-40B4-BE49-F238E27FC236}">
                <a16:creationId xmlns:a16="http://schemas.microsoft.com/office/drawing/2014/main" id="{9B733C78-8D76-FA61-A54C-49C7C28814DE}"/>
              </a:ext>
            </a:extLst>
          </p:cNvPr>
          <p:cNvPicPr>
            <a:picLocks noChangeAspect="1"/>
          </p:cNvPicPr>
          <p:nvPr/>
        </p:nvPicPr>
        <p:blipFill rotWithShape="1">
          <a:blip r:embed="rId3"/>
          <a:srcRect r="64008"/>
          <a:stretch/>
        </p:blipFill>
        <p:spPr>
          <a:xfrm>
            <a:off x="7849303" y="2089577"/>
            <a:ext cx="2998183" cy="1827901"/>
          </a:xfrm>
          <a:prstGeom prst="rect">
            <a:avLst/>
          </a:prstGeom>
          <a:ln w="38100">
            <a:solidFill>
              <a:schemeClr val="accent1">
                <a:lumMod val="50000"/>
              </a:schemeClr>
            </a:solidFill>
          </a:ln>
        </p:spPr>
      </p:pic>
      <p:pic>
        <p:nvPicPr>
          <p:cNvPr id="12" name="Picture 11">
            <a:extLst>
              <a:ext uri="{FF2B5EF4-FFF2-40B4-BE49-F238E27FC236}">
                <a16:creationId xmlns:a16="http://schemas.microsoft.com/office/drawing/2014/main" id="{20444FB8-D10A-5CB6-B96E-1BFB123AB5EC}"/>
              </a:ext>
            </a:extLst>
          </p:cNvPr>
          <p:cNvPicPr>
            <a:picLocks noChangeAspect="1"/>
          </p:cNvPicPr>
          <p:nvPr/>
        </p:nvPicPr>
        <p:blipFill rotWithShape="1">
          <a:blip r:embed="rId3"/>
          <a:srcRect l="64008"/>
          <a:stretch/>
        </p:blipFill>
        <p:spPr>
          <a:xfrm>
            <a:off x="1470019" y="2089577"/>
            <a:ext cx="2998182" cy="1827901"/>
          </a:xfrm>
          <a:prstGeom prst="rect">
            <a:avLst/>
          </a:prstGeom>
          <a:ln w="38100">
            <a:solidFill>
              <a:schemeClr val="accent1">
                <a:lumMod val="50000"/>
              </a:schemeClr>
            </a:solidFill>
          </a:ln>
        </p:spPr>
      </p:pic>
      <p:sp>
        <p:nvSpPr>
          <p:cNvPr id="14" name="TextBox 13">
            <a:extLst>
              <a:ext uri="{FF2B5EF4-FFF2-40B4-BE49-F238E27FC236}">
                <a16:creationId xmlns:a16="http://schemas.microsoft.com/office/drawing/2014/main" id="{3194DFE4-10EB-B56C-69D5-A29472187F61}"/>
              </a:ext>
            </a:extLst>
          </p:cNvPr>
          <p:cNvSpPr txBox="1"/>
          <p:nvPr/>
        </p:nvSpPr>
        <p:spPr>
          <a:xfrm>
            <a:off x="525727" y="309852"/>
            <a:ext cx="11836205" cy="1631216"/>
          </a:xfrm>
          <a:prstGeom prst="rect">
            <a:avLst/>
          </a:prstGeom>
          <a:noFill/>
        </p:spPr>
        <p:txBody>
          <a:bodyPr wrap="square" rtlCol="0">
            <a:spAutoFit/>
          </a:bodyPr>
          <a:lstStyle/>
          <a:p>
            <a:pPr lvl="0">
              <a:defRPr/>
            </a:pPr>
            <a:r>
              <a:rPr lang="en-US" sz="2000" dirty="0">
                <a:latin typeface="Calibri" panose="020F0502020204030204"/>
              </a:rPr>
              <a:t>On your worksheet for </a:t>
            </a:r>
            <a:r>
              <a:rPr lang="en-US" sz="2000" b="1" dirty="0">
                <a:latin typeface="Calibri" panose="020F0502020204030204"/>
              </a:rPr>
              <a:t>Answer 3</a:t>
            </a:r>
            <a:r>
              <a:rPr lang="en-US" sz="2000" dirty="0">
                <a:latin typeface="Calibri" panose="020F0502020204030204"/>
              </a:rPr>
              <a:t>, take ~5 minutes to provide new responses to the following question that includes effective strategies and minimizes ineffective strategies:</a:t>
            </a:r>
          </a:p>
          <a:p>
            <a:pPr lvl="0">
              <a:defRPr/>
            </a:pPr>
            <a:endParaRPr lang="en-US" sz="2000" dirty="0">
              <a:latin typeface="Calibri" panose="020F0502020204030204"/>
            </a:endParaRPr>
          </a:p>
          <a:p>
            <a:pPr lvl="0">
              <a:defRPr/>
            </a:pPr>
            <a:r>
              <a:rPr lang="en-US" sz="2000" b="1" dirty="0">
                <a:latin typeface="Calibri" panose="020F0502020204030204"/>
              </a:rPr>
              <a:t>Answer 3: </a:t>
            </a:r>
            <a:r>
              <a:rPr lang="en-US" sz="2000" kern="100" dirty="0">
                <a:latin typeface="Calibri" panose="020F0502020204030204"/>
                <a:ea typeface="Calibri" panose="020F0502020204030204" pitchFamily="34" charset="0"/>
              </a:rPr>
              <a:t>What would you say to someone you know who told you that humans were not causing climate change?  </a:t>
            </a:r>
          </a:p>
        </p:txBody>
      </p:sp>
      <p:sp>
        <p:nvSpPr>
          <p:cNvPr id="16" name="Star: 5 Points 15">
            <a:extLst>
              <a:ext uri="{FF2B5EF4-FFF2-40B4-BE49-F238E27FC236}">
                <a16:creationId xmlns:a16="http://schemas.microsoft.com/office/drawing/2014/main" id="{EFAAF80D-EB15-705C-00C7-DE6CAD8EA30F}"/>
              </a:ext>
            </a:extLst>
          </p:cNvPr>
          <p:cNvSpPr/>
          <p:nvPr/>
        </p:nvSpPr>
        <p:spPr>
          <a:xfrm>
            <a:off x="5411891" y="1941068"/>
            <a:ext cx="1031939" cy="865230"/>
          </a:xfrm>
          <a:prstGeom prst="star5">
            <a:avLst/>
          </a:prstGeom>
          <a:solidFill>
            <a:srgbClr val="C00000"/>
          </a:solidFill>
          <a:ln w="38100" cap="flat" cmpd="sng" algn="ctr">
            <a:solidFill>
              <a:sysClr val="windowText" lastClr="000000">
                <a:lumMod val="95000"/>
                <a:lumOff val="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w="76200">
                <a:solidFill>
                  <a:prstClr val="white"/>
                </a:solidFill>
              </a:ln>
              <a:solidFill>
                <a:prstClr val="white"/>
              </a:solidFill>
              <a:effectLst/>
              <a:uLnTx/>
              <a:uFillTx/>
              <a:latin typeface="Palatino Linotype"/>
              <a:ea typeface="+mn-ea"/>
              <a:cs typeface="+mn-cs"/>
            </a:endParaRPr>
          </a:p>
        </p:txBody>
      </p:sp>
    </p:spTree>
    <p:extLst>
      <p:ext uri="{BB962C8B-B14F-4D97-AF65-F5344CB8AC3E}">
        <p14:creationId xmlns:p14="http://schemas.microsoft.com/office/powerpoint/2010/main" val="1362287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4E43B-020E-9BBC-0C75-45BB23CD2E4B}"/>
            </a:ext>
          </a:extLst>
        </p:cNvPr>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D74D0801-822E-C8CC-75F1-EB872D4B1382}"/>
              </a:ext>
            </a:extLst>
          </p:cNvPr>
          <p:cNvGraphicFramePr>
            <a:graphicFrameLocks noGrp="1"/>
          </p:cNvGraphicFramePr>
          <p:nvPr/>
        </p:nvGraphicFramePr>
        <p:xfrm>
          <a:off x="7441037" y="4006710"/>
          <a:ext cx="4058887" cy="1053864"/>
        </p:xfrm>
        <a:graphic>
          <a:graphicData uri="http://schemas.openxmlformats.org/drawingml/2006/table">
            <a:tbl>
              <a:tblPr firstRow="1" bandRow="1">
                <a:tableStyleId>{5C22544A-7EE6-4342-B048-85BDC9FD1C3A}</a:tableStyleId>
              </a:tblPr>
              <a:tblGrid>
                <a:gridCol w="4058887">
                  <a:extLst>
                    <a:ext uri="{9D8B030D-6E8A-4147-A177-3AD203B41FA5}">
                      <a16:colId xmlns:a16="http://schemas.microsoft.com/office/drawing/2014/main" val="2380629857"/>
                    </a:ext>
                  </a:extLst>
                </a:gridCol>
              </a:tblGrid>
              <a:tr h="3097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Dialogic &amp; Inclusive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741444">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Engage in two-way conversations about science.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Open-minded to diverse perspectives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Show curiosity and intellectual humility about science.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4" name="Table 8">
            <a:extLst>
              <a:ext uri="{FF2B5EF4-FFF2-40B4-BE49-F238E27FC236}">
                <a16:creationId xmlns:a16="http://schemas.microsoft.com/office/drawing/2014/main" id="{457F7BC0-F80A-FBA4-EB7E-96338B0A6716}"/>
              </a:ext>
            </a:extLst>
          </p:cNvPr>
          <p:cNvGraphicFramePr>
            <a:graphicFrameLocks noGrp="1"/>
          </p:cNvGraphicFramePr>
          <p:nvPr/>
        </p:nvGraphicFramePr>
        <p:xfrm>
          <a:off x="6953705" y="5185758"/>
          <a:ext cx="2394690" cy="1573793"/>
        </p:xfrm>
        <a:graphic>
          <a:graphicData uri="http://schemas.openxmlformats.org/drawingml/2006/table">
            <a:tbl>
              <a:tblPr firstRow="1" bandRow="1">
                <a:tableStyleId>{5C22544A-7EE6-4342-B048-85BDC9FD1C3A}</a:tableStyleId>
              </a:tblPr>
              <a:tblGrid>
                <a:gridCol w="2394690">
                  <a:extLst>
                    <a:ext uri="{9D8B030D-6E8A-4147-A177-3AD203B41FA5}">
                      <a16:colId xmlns:a16="http://schemas.microsoft.com/office/drawing/2014/main" val="2380629857"/>
                    </a:ext>
                  </a:extLst>
                </a:gridCol>
              </a:tblGrid>
              <a:tr h="3795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Know the audience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194231">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Recognize how cultural background can shape perceptions and attitudes.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Inquire about why people believe what they do.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5" name="Table 8">
            <a:extLst>
              <a:ext uri="{FF2B5EF4-FFF2-40B4-BE49-F238E27FC236}">
                <a16:creationId xmlns:a16="http://schemas.microsoft.com/office/drawing/2014/main" id="{D3B9DDFC-0478-4CF0-5CFB-075D212CC632}"/>
              </a:ext>
            </a:extLst>
          </p:cNvPr>
          <p:cNvGraphicFramePr>
            <a:graphicFrameLocks noGrp="1"/>
          </p:cNvGraphicFramePr>
          <p:nvPr/>
        </p:nvGraphicFramePr>
        <p:xfrm>
          <a:off x="9481752" y="5185759"/>
          <a:ext cx="2495095" cy="1573793"/>
        </p:xfrm>
        <a:graphic>
          <a:graphicData uri="http://schemas.openxmlformats.org/drawingml/2006/table">
            <a:tbl>
              <a:tblPr firstRow="1" bandRow="1">
                <a:tableStyleId>{5C22544A-7EE6-4342-B048-85BDC9FD1C3A}</a:tableStyleId>
              </a:tblPr>
              <a:tblGrid>
                <a:gridCol w="2495095">
                  <a:extLst>
                    <a:ext uri="{9D8B030D-6E8A-4147-A177-3AD203B41FA5}">
                      <a16:colId xmlns:a16="http://schemas.microsoft.com/office/drawing/2014/main" val="2380629857"/>
                    </a:ext>
                  </a:extLst>
                </a:gridCol>
              </a:tblGrid>
              <a:tr h="47120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Convey respect &amp; shared values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01753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Build trust and establish relationships.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Find and focus on agreement (example: we all want our communities to be safe).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8" name="Table 8">
            <a:extLst>
              <a:ext uri="{FF2B5EF4-FFF2-40B4-BE49-F238E27FC236}">
                <a16:creationId xmlns:a16="http://schemas.microsoft.com/office/drawing/2014/main" id="{6F3DD410-A2DA-0A0C-69AC-FEA0AF38E321}"/>
              </a:ext>
            </a:extLst>
          </p:cNvPr>
          <p:cNvGraphicFramePr>
            <a:graphicFrameLocks noGrp="1"/>
          </p:cNvGraphicFramePr>
          <p:nvPr/>
        </p:nvGraphicFramePr>
        <p:xfrm>
          <a:off x="1265045" y="4042662"/>
          <a:ext cx="3408130" cy="1017912"/>
        </p:xfrm>
        <a:graphic>
          <a:graphicData uri="http://schemas.openxmlformats.org/drawingml/2006/table">
            <a:tbl>
              <a:tblPr firstRow="1" bandRow="1">
                <a:tableStyleId>{5C22544A-7EE6-4342-B048-85BDC9FD1C3A}</a:tableStyleId>
              </a:tblPr>
              <a:tblGrid>
                <a:gridCol w="3408130">
                  <a:extLst>
                    <a:ext uri="{9D8B030D-6E8A-4147-A177-3AD203B41FA5}">
                      <a16:colId xmlns:a16="http://schemas.microsoft.com/office/drawing/2014/main" val="2380629857"/>
                    </a:ext>
                  </a:extLst>
                </a:gridCol>
              </a:tblGrid>
              <a:tr h="2412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Scientism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70549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Overemphasizes the authority of science.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Presents science as ultimate truth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Does not attend to the relationship building.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9" name="Table 8">
            <a:extLst>
              <a:ext uri="{FF2B5EF4-FFF2-40B4-BE49-F238E27FC236}">
                <a16:creationId xmlns:a16="http://schemas.microsoft.com/office/drawing/2014/main" id="{C0AD2449-9398-675E-F504-04B11FF2BBFE}"/>
              </a:ext>
            </a:extLst>
          </p:cNvPr>
          <p:cNvGraphicFramePr>
            <a:graphicFrameLocks noGrp="1"/>
          </p:cNvGraphicFramePr>
          <p:nvPr/>
        </p:nvGraphicFramePr>
        <p:xfrm>
          <a:off x="258183" y="5185758"/>
          <a:ext cx="2710927" cy="1477411"/>
        </p:xfrm>
        <a:graphic>
          <a:graphicData uri="http://schemas.openxmlformats.org/drawingml/2006/table">
            <a:tbl>
              <a:tblPr firstRow="1" bandRow="1">
                <a:tableStyleId>{5C22544A-7EE6-4342-B048-85BDC9FD1C3A}</a:tableStyleId>
              </a:tblPr>
              <a:tblGrid>
                <a:gridCol w="2710927">
                  <a:extLst>
                    <a:ext uri="{9D8B030D-6E8A-4147-A177-3AD203B41FA5}">
                      <a16:colId xmlns:a16="http://schemas.microsoft.com/office/drawing/2014/main" val="2380629857"/>
                    </a:ext>
                  </a:extLst>
                </a:gridCol>
              </a:tblGrid>
              <a:tr h="3862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Negative Communication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09111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Anger, frustration, accusations, or condescension in communication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Accusing the person of being morally unethical.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10" name="Table 8">
            <a:extLst>
              <a:ext uri="{FF2B5EF4-FFF2-40B4-BE49-F238E27FC236}">
                <a16:creationId xmlns:a16="http://schemas.microsoft.com/office/drawing/2014/main" id="{14E16E6D-37F5-F4BB-8A09-7BC856B0B08E}"/>
              </a:ext>
            </a:extLst>
          </p:cNvPr>
          <p:cNvGraphicFramePr>
            <a:graphicFrameLocks noGrp="1"/>
          </p:cNvGraphicFramePr>
          <p:nvPr/>
        </p:nvGraphicFramePr>
        <p:xfrm>
          <a:off x="3315488" y="5185757"/>
          <a:ext cx="2181669" cy="1477411"/>
        </p:xfrm>
        <a:graphic>
          <a:graphicData uri="http://schemas.openxmlformats.org/drawingml/2006/table">
            <a:tbl>
              <a:tblPr firstRow="1" bandRow="1">
                <a:tableStyleId>{5C22544A-7EE6-4342-B048-85BDC9FD1C3A}</a:tableStyleId>
              </a:tblPr>
              <a:tblGrid>
                <a:gridCol w="2181669">
                  <a:extLst>
                    <a:ext uri="{9D8B030D-6E8A-4147-A177-3AD203B41FA5}">
                      <a16:colId xmlns:a16="http://schemas.microsoft.com/office/drawing/2014/main" val="2380629857"/>
                    </a:ext>
                  </a:extLst>
                </a:gridCol>
              </a:tblGrid>
              <a:tr h="4148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Avoidance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06252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Disengages from the conversation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Avoids conversations with those they disagree with.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pic>
        <p:nvPicPr>
          <p:cNvPr id="11" name="Picture 10">
            <a:extLst>
              <a:ext uri="{FF2B5EF4-FFF2-40B4-BE49-F238E27FC236}">
                <a16:creationId xmlns:a16="http://schemas.microsoft.com/office/drawing/2014/main" id="{FCB2786A-A6A7-51B9-B50A-B278832BEED7}"/>
              </a:ext>
            </a:extLst>
          </p:cNvPr>
          <p:cNvPicPr>
            <a:picLocks noChangeAspect="1"/>
          </p:cNvPicPr>
          <p:nvPr/>
        </p:nvPicPr>
        <p:blipFill rotWithShape="1">
          <a:blip r:embed="rId3"/>
          <a:srcRect r="64008"/>
          <a:stretch/>
        </p:blipFill>
        <p:spPr>
          <a:xfrm>
            <a:off x="7849303" y="2089577"/>
            <a:ext cx="2998183" cy="1827901"/>
          </a:xfrm>
          <a:prstGeom prst="rect">
            <a:avLst/>
          </a:prstGeom>
          <a:ln w="38100">
            <a:solidFill>
              <a:schemeClr val="accent1">
                <a:lumMod val="50000"/>
              </a:schemeClr>
            </a:solidFill>
          </a:ln>
        </p:spPr>
      </p:pic>
      <p:pic>
        <p:nvPicPr>
          <p:cNvPr id="12" name="Picture 11">
            <a:extLst>
              <a:ext uri="{FF2B5EF4-FFF2-40B4-BE49-F238E27FC236}">
                <a16:creationId xmlns:a16="http://schemas.microsoft.com/office/drawing/2014/main" id="{170E2748-1B41-4255-BDDA-0CC0FD19FEF9}"/>
              </a:ext>
            </a:extLst>
          </p:cNvPr>
          <p:cNvPicPr>
            <a:picLocks noChangeAspect="1"/>
          </p:cNvPicPr>
          <p:nvPr/>
        </p:nvPicPr>
        <p:blipFill rotWithShape="1">
          <a:blip r:embed="rId3"/>
          <a:srcRect l="64008"/>
          <a:stretch/>
        </p:blipFill>
        <p:spPr>
          <a:xfrm>
            <a:off x="1470019" y="2089577"/>
            <a:ext cx="2998182" cy="1827901"/>
          </a:xfrm>
          <a:prstGeom prst="rect">
            <a:avLst/>
          </a:prstGeom>
          <a:ln w="38100">
            <a:solidFill>
              <a:schemeClr val="accent1">
                <a:lumMod val="50000"/>
              </a:schemeClr>
            </a:solidFill>
          </a:ln>
        </p:spPr>
      </p:pic>
      <p:sp>
        <p:nvSpPr>
          <p:cNvPr id="14" name="TextBox 13">
            <a:extLst>
              <a:ext uri="{FF2B5EF4-FFF2-40B4-BE49-F238E27FC236}">
                <a16:creationId xmlns:a16="http://schemas.microsoft.com/office/drawing/2014/main" id="{3AEBC2BB-78B9-3D81-C232-F5431DE98BC4}"/>
              </a:ext>
            </a:extLst>
          </p:cNvPr>
          <p:cNvSpPr txBox="1"/>
          <p:nvPr/>
        </p:nvSpPr>
        <p:spPr>
          <a:xfrm>
            <a:off x="258183" y="221487"/>
            <a:ext cx="11836205" cy="2031325"/>
          </a:xfrm>
          <a:prstGeom prst="rect">
            <a:avLst/>
          </a:prstGeom>
          <a:noFill/>
        </p:spPr>
        <p:txBody>
          <a:bodyPr wrap="square" rtlCol="0">
            <a:spAutoFit/>
          </a:bodyPr>
          <a:lstStyle/>
          <a:p>
            <a:pPr lvl="0">
              <a:defRPr/>
            </a:pPr>
            <a:r>
              <a:rPr lang="en-US" sz="2100" dirty="0">
                <a:latin typeface="Calibri" panose="020F0502020204030204"/>
              </a:rPr>
              <a:t>In groups of 2-3, take 5-10 minutes to share your new communication statements and combine them to create a group created message that you think exemplifies science communication principles. Record it as answer 4 on your worksheet:</a:t>
            </a:r>
          </a:p>
          <a:p>
            <a:pPr lvl="0">
              <a:defRPr/>
            </a:pPr>
            <a:endParaRPr lang="en-US" sz="2100" dirty="0">
              <a:latin typeface="Calibri" panose="020F0502020204030204"/>
            </a:endParaRPr>
          </a:p>
          <a:p>
            <a:pPr lvl="0">
              <a:defRPr/>
            </a:pPr>
            <a:r>
              <a:rPr lang="en-US" sz="2100" b="1" dirty="0">
                <a:latin typeface="Calibri" panose="020F0502020204030204"/>
              </a:rPr>
              <a:t>Answer 4: </a:t>
            </a:r>
            <a:r>
              <a:rPr lang="en-US" sz="2100" dirty="0">
                <a:latin typeface="Calibri" panose="020F0502020204030204"/>
              </a:rPr>
              <a:t>What would you say to someone you know who told you that humans were not causing climate change? </a:t>
            </a:r>
          </a:p>
        </p:txBody>
      </p:sp>
      <p:sp>
        <p:nvSpPr>
          <p:cNvPr id="16" name="Star: 5 Points 15">
            <a:extLst>
              <a:ext uri="{FF2B5EF4-FFF2-40B4-BE49-F238E27FC236}">
                <a16:creationId xmlns:a16="http://schemas.microsoft.com/office/drawing/2014/main" id="{240B0C2B-12E2-9746-DA49-F1078DC6E064}"/>
              </a:ext>
            </a:extLst>
          </p:cNvPr>
          <p:cNvSpPr/>
          <p:nvPr/>
        </p:nvSpPr>
        <p:spPr>
          <a:xfrm>
            <a:off x="5570462" y="1986060"/>
            <a:ext cx="1031939" cy="865230"/>
          </a:xfrm>
          <a:prstGeom prst="star5">
            <a:avLst/>
          </a:prstGeom>
          <a:solidFill>
            <a:srgbClr val="C00000"/>
          </a:solidFill>
          <a:ln w="38100" cap="flat" cmpd="sng" algn="ctr">
            <a:solidFill>
              <a:sysClr val="windowText" lastClr="000000">
                <a:lumMod val="95000"/>
                <a:lumOff val="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w="76200">
                <a:solidFill>
                  <a:prstClr val="white"/>
                </a:solidFill>
              </a:ln>
              <a:solidFill>
                <a:prstClr val="white"/>
              </a:solidFill>
              <a:effectLst/>
              <a:uLnTx/>
              <a:uFillTx/>
              <a:latin typeface="Palatino Linotype"/>
              <a:ea typeface="+mn-ea"/>
              <a:cs typeface="+mn-cs"/>
            </a:endParaRPr>
          </a:p>
        </p:txBody>
      </p:sp>
      <p:sp>
        <p:nvSpPr>
          <p:cNvPr id="13" name="TextBox 12">
            <a:extLst>
              <a:ext uri="{FF2B5EF4-FFF2-40B4-BE49-F238E27FC236}">
                <a16:creationId xmlns:a16="http://schemas.microsoft.com/office/drawing/2014/main" id="{68B1E6F8-6040-49A2-F1F1-BBB0D13F730E}"/>
              </a:ext>
            </a:extLst>
          </p:cNvPr>
          <p:cNvSpPr txBox="1"/>
          <p:nvPr/>
        </p:nvSpPr>
        <p:spPr>
          <a:xfrm>
            <a:off x="4662438" y="2976473"/>
            <a:ext cx="2847985" cy="923330"/>
          </a:xfrm>
          <a:prstGeom prst="rect">
            <a:avLst/>
          </a:prstGeom>
          <a:noFill/>
        </p:spPr>
        <p:txBody>
          <a:bodyPr wrap="square">
            <a:spAutoFit/>
          </a:bodyPr>
          <a:lstStyle/>
          <a:p>
            <a:pPr algn="ctr"/>
            <a:r>
              <a:rPr lang="en-US" sz="1800" b="1" dirty="0"/>
              <a:t>In groups share your communication and create a joint response</a:t>
            </a:r>
            <a:endParaRPr lang="en-US" b="1" dirty="0"/>
          </a:p>
        </p:txBody>
      </p:sp>
    </p:spTree>
    <p:extLst>
      <p:ext uri="{BB962C8B-B14F-4D97-AF65-F5344CB8AC3E}">
        <p14:creationId xmlns:p14="http://schemas.microsoft.com/office/powerpoint/2010/main" val="2920471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A56FB-AB77-4315-2AB6-0AB0CA276DFD}"/>
            </a:ext>
          </a:extLst>
        </p:cNvPr>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2B4788F3-07E6-F97F-25CA-A773F10D45E4}"/>
              </a:ext>
            </a:extLst>
          </p:cNvPr>
          <p:cNvGraphicFramePr>
            <a:graphicFrameLocks noGrp="1"/>
          </p:cNvGraphicFramePr>
          <p:nvPr/>
        </p:nvGraphicFramePr>
        <p:xfrm>
          <a:off x="7441037" y="4006710"/>
          <a:ext cx="4058887" cy="1053864"/>
        </p:xfrm>
        <a:graphic>
          <a:graphicData uri="http://schemas.openxmlformats.org/drawingml/2006/table">
            <a:tbl>
              <a:tblPr firstRow="1" bandRow="1">
                <a:tableStyleId>{5C22544A-7EE6-4342-B048-85BDC9FD1C3A}</a:tableStyleId>
              </a:tblPr>
              <a:tblGrid>
                <a:gridCol w="4058887">
                  <a:extLst>
                    <a:ext uri="{9D8B030D-6E8A-4147-A177-3AD203B41FA5}">
                      <a16:colId xmlns:a16="http://schemas.microsoft.com/office/drawing/2014/main" val="2380629857"/>
                    </a:ext>
                  </a:extLst>
                </a:gridCol>
              </a:tblGrid>
              <a:tr h="3097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Dialogic &amp; Inclusive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741444">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Engage in two-way conversations about science.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Open-minded to diverse perspectives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Show curiosity and intellectual humility about science.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4" name="Table 8">
            <a:extLst>
              <a:ext uri="{FF2B5EF4-FFF2-40B4-BE49-F238E27FC236}">
                <a16:creationId xmlns:a16="http://schemas.microsoft.com/office/drawing/2014/main" id="{AD9E2410-976A-D866-9214-D7642A63C70E}"/>
              </a:ext>
            </a:extLst>
          </p:cNvPr>
          <p:cNvGraphicFramePr>
            <a:graphicFrameLocks noGrp="1"/>
          </p:cNvGraphicFramePr>
          <p:nvPr/>
        </p:nvGraphicFramePr>
        <p:xfrm>
          <a:off x="6953705" y="5185758"/>
          <a:ext cx="2394690" cy="1573793"/>
        </p:xfrm>
        <a:graphic>
          <a:graphicData uri="http://schemas.openxmlformats.org/drawingml/2006/table">
            <a:tbl>
              <a:tblPr firstRow="1" bandRow="1">
                <a:tableStyleId>{5C22544A-7EE6-4342-B048-85BDC9FD1C3A}</a:tableStyleId>
              </a:tblPr>
              <a:tblGrid>
                <a:gridCol w="2394690">
                  <a:extLst>
                    <a:ext uri="{9D8B030D-6E8A-4147-A177-3AD203B41FA5}">
                      <a16:colId xmlns:a16="http://schemas.microsoft.com/office/drawing/2014/main" val="2380629857"/>
                    </a:ext>
                  </a:extLst>
                </a:gridCol>
              </a:tblGrid>
              <a:tr h="3795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Know the audience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194231">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Recognize how cultural background can shape perceptions and attitudes.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Inquire about why people believe what they do.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5" name="Table 8">
            <a:extLst>
              <a:ext uri="{FF2B5EF4-FFF2-40B4-BE49-F238E27FC236}">
                <a16:creationId xmlns:a16="http://schemas.microsoft.com/office/drawing/2014/main" id="{6C7C9A72-F216-54E1-5E47-14FA70CB03E6}"/>
              </a:ext>
            </a:extLst>
          </p:cNvPr>
          <p:cNvGraphicFramePr>
            <a:graphicFrameLocks noGrp="1"/>
          </p:cNvGraphicFramePr>
          <p:nvPr/>
        </p:nvGraphicFramePr>
        <p:xfrm>
          <a:off x="9481752" y="5185759"/>
          <a:ext cx="2495095" cy="1573793"/>
        </p:xfrm>
        <a:graphic>
          <a:graphicData uri="http://schemas.openxmlformats.org/drawingml/2006/table">
            <a:tbl>
              <a:tblPr firstRow="1" bandRow="1">
                <a:tableStyleId>{5C22544A-7EE6-4342-B048-85BDC9FD1C3A}</a:tableStyleId>
              </a:tblPr>
              <a:tblGrid>
                <a:gridCol w="2495095">
                  <a:extLst>
                    <a:ext uri="{9D8B030D-6E8A-4147-A177-3AD203B41FA5}">
                      <a16:colId xmlns:a16="http://schemas.microsoft.com/office/drawing/2014/main" val="2380629857"/>
                    </a:ext>
                  </a:extLst>
                </a:gridCol>
              </a:tblGrid>
              <a:tr h="47120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Convey respect &amp; shared values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655704"/>
                  </a:ext>
                </a:extLst>
              </a:tr>
              <a:tr h="101753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Build trust and establish relationships.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Find and focus on agreement (example: we all want our communities to be safe).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8" name="Table 8">
            <a:extLst>
              <a:ext uri="{FF2B5EF4-FFF2-40B4-BE49-F238E27FC236}">
                <a16:creationId xmlns:a16="http://schemas.microsoft.com/office/drawing/2014/main" id="{000E95B1-BF83-EA4D-8E10-1191EC210625}"/>
              </a:ext>
            </a:extLst>
          </p:cNvPr>
          <p:cNvGraphicFramePr>
            <a:graphicFrameLocks noGrp="1"/>
          </p:cNvGraphicFramePr>
          <p:nvPr/>
        </p:nvGraphicFramePr>
        <p:xfrm>
          <a:off x="1265045" y="4042662"/>
          <a:ext cx="3408130" cy="1017912"/>
        </p:xfrm>
        <a:graphic>
          <a:graphicData uri="http://schemas.openxmlformats.org/drawingml/2006/table">
            <a:tbl>
              <a:tblPr firstRow="1" bandRow="1">
                <a:tableStyleId>{5C22544A-7EE6-4342-B048-85BDC9FD1C3A}</a:tableStyleId>
              </a:tblPr>
              <a:tblGrid>
                <a:gridCol w="3408130">
                  <a:extLst>
                    <a:ext uri="{9D8B030D-6E8A-4147-A177-3AD203B41FA5}">
                      <a16:colId xmlns:a16="http://schemas.microsoft.com/office/drawing/2014/main" val="2380629857"/>
                    </a:ext>
                  </a:extLst>
                </a:gridCol>
              </a:tblGrid>
              <a:tr h="2412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Scientism</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70549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Overemphasizes the authority of science.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Presents science as ultimate truth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Does not attend to the relationship building.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9" name="Table 8">
            <a:extLst>
              <a:ext uri="{FF2B5EF4-FFF2-40B4-BE49-F238E27FC236}">
                <a16:creationId xmlns:a16="http://schemas.microsoft.com/office/drawing/2014/main" id="{A79BBC1C-500C-47DE-387A-1817F6421E33}"/>
              </a:ext>
            </a:extLst>
          </p:cNvPr>
          <p:cNvGraphicFramePr>
            <a:graphicFrameLocks noGrp="1"/>
          </p:cNvGraphicFramePr>
          <p:nvPr/>
        </p:nvGraphicFramePr>
        <p:xfrm>
          <a:off x="258183" y="5185758"/>
          <a:ext cx="2710927" cy="1477411"/>
        </p:xfrm>
        <a:graphic>
          <a:graphicData uri="http://schemas.openxmlformats.org/drawingml/2006/table">
            <a:tbl>
              <a:tblPr firstRow="1" bandRow="1">
                <a:tableStyleId>{5C22544A-7EE6-4342-B048-85BDC9FD1C3A}</a:tableStyleId>
              </a:tblPr>
              <a:tblGrid>
                <a:gridCol w="2710927">
                  <a:extLst>
                    <a:ext uri="{9D8B030D-6E8A-4147-A177-3AD203B41FA5}">
                      <a16:colId xmlns:a16="http://schemas.microsoft.com/office/drawing/2014/main" val="2380629857"/>
                    </a:ext>
                  </a:extLst>
                </a:gridCol>
              </a:tblGrid>
              <a:tr h="3862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Negative Communication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09111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Anger, frustration, accusations, or condescension in communication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Accusing the person of being morally unethical.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graphicFrame>
        <p:nvGraphicFramePr>
          <p:cNvPr id="10" name="Table 8">
            <a:extLst>
              <a:ext uri="{FF2B5EF4-FFF2-40B4-BE49-F238E27FC236}">
                <a16:creationId xmlns:a16="http://schemas.microsoft.com/office/drawing/2014/main" id="{0134F54B-CB76-B458-142A-173B9A56DC10}"/>
              </a:ext>
            </a:extLst>
          </p:cNvPr>
          <p:cNvGraphicFramePr>
            <a:graphicFrameLocks noGrp="1"/>
          </p:cNvGraphicFramePr>
          <p:nvPr/>
        </p:nvGraphicFramePr>
        <p:xfrm>
          <a:off x="3315488" y="5185757"/>
          <a:ext cx="2181669" cy="1477411"/>
        </p:xfrm>
        <a:graphic>
          <a:graphicData uri="http://schemas.openxmlformats.org/drawingml/2006/table">
            <a:tbl>
              <a:tblPr firstRow="1" bandRow="1">
                <a:tableStyleId>{5C22544A-7EE6-4342-B048-85BDC9FD1C3A}</a:tableStyleId>
              </a:tblPr>
              <a:tblGrid>
                <a:gridCol w="2181669">
                  <a:extLst>
                    <a:ext uri="{9D8B030D-6E8A-4147-A177-3AD203B41FA5}">
                      <a16:colId xmlns:a16="http://schemas.microsoft.com/office/drawing/2014/main" val="2380629857"/>
                    </a:ext>
                  </a:extLst>
                </a:gridCol>
              </a:tblGrid>
              <a:tr h="4148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mn-lt"/>
                          <a:ea typeface="+mn-ea"/>
                          <a:cs typeface="+mn-cs"/>
                        </a:rPr>
                        <a:t>Avoidance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270655704"/>
                  </a:ext>
                </a:extLst>
              </a:tr>
              <a:tr h="106252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Disengages from the conversation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mn-lt"/>
                        </a:rPr>
                        <a:t>Avoids conversations with those they disagree with.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3464176"/>
                  </a:ext>
                </a:extLst>
              </a:tr>
            </a:tbl>
          </a:graphicData>
        </a:graphic>
      </p:graphicFrame>
      <p:pic>
        <p:nvPicPr>
          <p:cNvPr id="11" name="Picture 10">
            <a:extLst>
              <a:ext uri="{FF2B5EF4-FFF2-40B4-BE49-F238E27FC236}">
                <a16:creationId xmlns:a16="http://schemas.microsoft.com/office/drawing/2014/main" id="{59C34AC1-CBD4-C8BD-E5BB-B4C065DE07AD}"/>
              </a:ext>
            </a:extLst>
          </p:cNvPr>
          <p:cNvPicPr>
            <a:picLocks noChangeAspect="1"/>
          </p:cNvPicPr>
          <p:nvPr/>
        </p:nvPicPr>
        <p:blipFill rotWithShape="1">
          <a:blip r:embed="rId3"/>
          <a:srcRect r="64008"/>
          <a:stretch/>
        </p:blipFill>
        <p:spPr>
          <a:xfrm>
            <a:off x="7849303" y="2089577"/>
            <a:ext cx="2998183" cy="1827901"/>
          </a:xfrm>
          <a:prstGeom prst="rect">
            <a:avLst/>
          </a:prstGeom>
          <a:ln w="38100">
            <a:solidFill>
              <a:schemeClr val="accent1">
                <a:lumMod val="50000"/>
              </a:schemeClr>
            </a:solidFill>
          </a:ln>
        </p:spPr>
      </p:pic>
      <p:pic>
        <p:nvPicPr>
          <p:cNvPr id="12" name="Picture 11">
            <a:extLst>
              <a:ext uri="{FF2B5EF4-FFF2-40B4-BE49-F238E27FC236}">
                <a16:creationId xmlns:a16="http://schemas.microsoft.com/office/drawing/2014/main" id="{062B545F-D495-130A-47AF-39EC99AC2517}"/>
              </a:ext>
            </a:extLst>
          </p:cNvPr>
          <p:cNvPicPr>
            <a:picLocks noChangeAspect="1"/>
          </p:cNvPicPr>
          <p:nvPr/>
        </p:nvPicPr>
        <p:blipFill rotWithShape="1">
          <a:blip r:embed="rId3"/>
          <a:srcRect l="64008"/>
          <a:stretch/>
        </p:blipFill>
        <p:spPr>
          <a:xfrm>
            <a:off x="1470019" y="2089577"/>
            <a:ext cx="2998182" cy="1827901"/>
          </a:xfrm>
          <a:prstGeom prst="rect">
            <a:avLst/>
          </a:prstGeom>
          <a:ln w="38100">
            <a:solidFill>
              <a:schemeClr val="accent1">
                <a:lumMod val="50000"/>
              </a:schemeClr>
            </a:solidFill>
          </a:ln>
        </p:spPr>
      </p:pic>
      <p:sp>
        <p:nvSpPr>
          <p:cNvPr id="14" name="TextBox 13">
            <a:extLst>
              <a:ext uri="{FF2B5EF4-FFF2-40B4-BE49-F238E27FC236}">
                <a16:creationId xmlns:a16="http://schemas.microsoft.com/office/drawing/2014/main" id="{4A5AF9A8-3F93-C820-9BC4-2166A15C0374}"/>
              </a:ext>
            </a:extLst>
          </p:cNvPr>
          <p:cNvSpPr txBox="1"/>
          <p:nvPr/>
        </p:nvSpPr>
        <p:spPr>
          <a:xfrm>
            <a:off x="258183" y="221487"/>
            <a:ext cx="11836205" cy="1569660"/>
          </a:xfrm>
          <a:prstGeom prst="rect">
            <a:avLst/>
          </a:prstGeom>
          <a:noFill/>
        </p:spPr>
        <p:txBody>
          <a:bodyPr wrap="square" rtlCol="0">
            <a:spAutoFit/>
          </a:bodyPr>
          <a:lstStyle/>
          <a:p>
            <a:pPr lvl="0">
              <a:defRPr/>
            </a:pPr>
            <a:r>
              <a:rPr lang="en-US" sz="2400" b="1" dirty="0">
                <a:latin typeface="Calibri" panose="020F0502020204030204"/>
              </a:rPr>
              <a:t>Take ~5 minutes:</a:t>
            </a:r>
          </a:p>
          <a:p>
            <a:pPr lvl="0">
              <a:defRPr/>
            </a:pPr>
            <a:endParaRPr lang="en-US" sz="2400" b="1" dirty="0">
              <a:latin typeface="Calibri" panose="020F0502020204030204"/>
            </a:endParaRPr>
          </a:p>
          <a:p>
            <a:pPr lvl="0">
              <a:defRPr/>
            </a:pPr>
            <a:r>
              <a:rPr lang="en-US" sz="2400" b="1" dirty="0">
                <a:latin typeface="Calibri" panose="020F0502020204030204"/>
              </a:rPr>
              <a:t>Answer 5: </a:t>
            </a:r>
            <a:r>
              <a:rPr lang="en-US" sz="2400" dirty="0">
                <a:latin typeface="Calibri" panose="020F0502020204030204"/>
              </a:rPr>
              <a:t>What would you say to someone you know who told you it is not beneficial for them to get a vaccine?</a:t>
            </a:r>
          </a:p>
        </p:txBody>
      </p:sp>
      <p:sp>
        <p:nvSpPr>
          <p:cNvPr id="16" name="Star: 5 Points 15">
            <a:extLst>
              <a:ext uri="{FF2B5EF4-FFF2-40B4-BE49-F238E27FC236}">
                <a16:creationId xmlns:a16="http://schemas.microsoft.com/office/drawing/2014/main" id="{1AA18CDD-24E3-BEF4-D5DB-CA09FEF9E339}"/>
              </a:ext>
            </a:extLst>
          </p:cNvPr>
          <p:cNvSpPr/>
          <p:nvPr/>
        </p:nvSpPr>
        <p:spPr>
          <a:xfrm>
            <a:off x="5570462" y="1986060"/>
            <a:ext cx="1031939" cy="865230"/>
          </a:xfrm>
          <a:prstGeom prst="star5">
            <a:avLst/>
          </a:prstGeom>
          <a:solidFill>
            <a:srgbClr val="C00000"/>
          </a:solidFill>
          <a:ln w="38100" cap="flat" cmpd="sng" algn="ctr">
            <a:solidFill>
              <a:sysClr val="windowText" lastClr="000000">
                <a:lumMod val="95000"/>
                <a:lumOff val="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w="76200">
                <a:solidFill>
                  <a:prstClr val="white"/>
                </a:solidFill>
              </a:ln>
              <a:solidFill>
                <a:prstClr val="white"/>
              </a:solidFill>
              <a:effectLst/>
              <a:uLnTx/>
              <a:uFillTx/>
              <a:latin typeface="Palatino Linotype"/>
              <a:ea typeface="+mn-ea"/>
              <a:cs typeface="+mn-cs"/>
            </a:endParaRPr>
          </a:p>
        </p:txBody>
      </p:sp>
      <p:sp>
        <p:nvSpPr>
          <p:cNvPr id="13" name="TextBox 12">
            <a:extLst>
              <a:ext uri="{FF2B5EF4-FFF2-40B4-BE49-F238E27FC236}">
                <a16:creationId xmlns:a16="http://schemas.microsoft.com/office/drawing/2014/main" id="{C302C4A1-54D0-C8B0-9B81-1FD415ECBFB7}"/>
              </a:ext>
            </a:extLst>
          </p:cNvPr>
          <p:cNvSpPr txBox="1"/>
          <p:nvPr/>
        </p:nvSpPr>
        <p:spPr>
          <a:xfrm>
            <a:off x="4734759" y="2976473"/>
            <a:ext cx="2847985" cy="830997"/>
          </a:xfrm>
          <a:prstGeom prst="rect">
            <a:avLst/>
          </a:prstGeom>
          <a:noFill/>
        </p:spPr>
        <p:txBody>
          <a:bodyPr wrap="square">
            <a:spAutoFit/>
          </a:bodyPr>
          <a:lstStyle/>
          <a:p>
            <a:pPr algn="ctr"/>
            <a:r>
              <a:rPr lang="en-US" sz="2400" b="1" dirty="0"/>
              <a:t>Now try it in a new situation….</a:t>
            </a:r>
          </a:p>
        </p:txBody>
      </p:sp>
    </p:spTree>
    <p:extLst>
      <p:ext uri="{BB962C8B-B14F-4D97-AF65-F5344CB8AC3E}">
        <p14:creationId xmlns:p14="http://schemas.microsoft.com/office/powerpoint/2010/main" val="1134929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1C92C-8AEA-54E8-71CA-9A98E80AFFC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33F4321-BF10-9454-C659-D53FF6C1007F}"/>
              </a:ext>
            </a:extLst>
          </p:cNvPr>
          <p:cNvGrpSpPr/>
          <p:nvPr/>
        </p:nvGrpSpPr>
        <p:grpSpPr>
          <a:xfrm>
            <a:off x="2373086" y="304801"/>
            <a:ext cx="6251230" cy="5318760"/>
            <a:chOff x="849086" y="304801"/>
            <a:chExt cx="6251230" cy="5318760"/>
          </a:xfrm>
        </p:grpSpPr>
        <p:grpSp>
          <p:nvGrpSpPr>
            <p:cNvPr id="16" name="Group 15">
              <a:extLst>
                <a:ext uri="{FF2B5EF4-FFF2-40B4-BE49-F238E27FC236}">
                  <a16:creationId xmlns:a16="http://schemas.microsoft.com/office/drawing/2014/main" id="{74EDA037-7C47-DEC8-9905-A4AC3264AB7D}"/>
                </a:ext>
              </a:extLst>
            </p:cNvPr>
            <p:cNvGrpSpPr/>
            <p:nvPr/>
          </p:nvGrpSpPr>
          <p:grpSpPr>
            <a:xfrm>
              <a:off x="849086" y="304801"/>
              <a:ext cx="6251230" cy="5318760"/>
              <a:chOff x="849086" y="304801"/>
              <a:chExt cx="6251230" cy="5318760"/>
            </a:xfrm>
          </p:grpSpPr>
          <p:pic>
            <p:nvPicPr>
              <p:cNvPr id="23" name="Picture 22">
                <a:extLst>
                  <a:ext uri="{FF2B5EF4-FFF2-40B4-BE49-F238E27FC236}">
                    <a16:creationId xmlns:a16="http://schemas.microsoft.com/office/drawing/2014/main" id="{078309DE-B88C-842D-0249-44F33E03D78C}"/>
                  </a:ext>
                </a:extLst>
              </p:cNvPr>
              <p:cNvPicPr>
                <a:picLocks noChangeAspect="1"/>
              </p:cNvPicPr>
              <p:nvPr/>
            </p:nvPicPr>
            <p:blipFill>
              <a:blip r:embed="rId3"/>
              <a:srcRect l="5095" t="17096" r="10730"/>
              <a:stretch>
                <a:fillRect/>
              </a:stretch>
            </p:blipFill>
            <p:spPr>
              <a:xfrm>
                <a:off x="849086" y="304801"/>
                <a:ext cx="6251230" cy="5318760"/>
              </a:xfrm>
              <a:prstGeom prst="rect">
                <a:avLst/>
              </a:prstGeom>
              <a:ln w="57150">
                <a:solidFill>
                  <a:srgbClr val="010101"/>
                </a:solidFill>
              </a:ln>
            </p:spPr>
          </p:pic>
          <p:sp>
            <p:nvSpPr>
              <p:cNvPr id="24" name="Oval 23">
                <a:extLst>
                  <a:ext uri="{FF2B5EF4-FFF2-40B4-BE49-F238E27FC236}">
                    <a16:creationId xmlns:a16="http://schemas.microsoft.com/office/drawing/2014/main" id="{144D2F75-879E-6454-0820-1319E315CCE4}"/>
                  </a:ext>
                </a:extLst>
              </p:cNvPr>
              <p:cNvSpPr/>
              <p:nvPr/>
            </p:nvSpPr>
            <p:spPr>
              <a:xfrm>
                <a:off x="2498257" y="536396"/>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5" name="Oval 24">
                <a:extLst>
                  <a:ext uri="{FF2B5EF4-FFF2-40B4-BE49-F238E27FC236}">
                    <a16:creationId xmlns:a16="http://schemas.microsoft.com/office/drawing/2014/main" id="{5E3362D8-62A3-77A4-E208-D1DA4368B522}"/>
                  </a:ext>
                </a:extLst>
              </p:cNvPr>
              <p:cNvSpPr/>
              <p:nvPr/>
            </p:nvSpPr>
            <p:spPr>
              <a:xfrm>
                <a:off x="2491613" y="796198"/>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6" name="Rectangle 25">
                <a:extLst>
                  <a:ext uri="{FF2B5EF4-FFF2-40B4-BE49-F238E27FC236}">
                    <a16:creationId xmlns:a16="http://schemas.microsoft.com/office/drawing/2014/main" id="{C91CF82B-964E-1C5B-6916-D4EB53744E68}"/>
                  </a:ext>
                </a:extLst>
              </p:cNvPr>
              <p:cNvSpPr/>
              <p:nvPr/>
            </p:nvSpPr>
            <p:spPr>
              <a:xfrm>
                <a:off x="3881756" y="1529167"/>
                <a:ext cx="2614093"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7" name="TextBox 26">
                <a:extLst>
                  <a:ext uri="{FF2B5EF4-FFF2-40B4-BE49-F238E27FC236}">
                    <a16:creationId xmlns:a16="http://schemas.microsoft.com/office/drawing/2014/main" id="{F5B0882A-1A15-5221-3EF9-009945567795}"/>
                  </a:ext>
                </a:extLst>
              </p:cNvPr>
              <p:cNvSpPr txBox="1"/>
              <p:nvPr/>
            </p:nvSpPr>
            <p:spPr>
              <a:xfrm>
                <a:off x="1861457"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Pre</a:t>
                </a:r>
              </a:p>
              <a:p>
                <a:pPr algn="ctr" defTabSz="457200"/>
                <a:endParaRPr lang="en-US" sz="1000" b="1" dirty="0">
                  <a:solidFill>
                    <a:srgbClr val="010101"/>
                  </a:solidFill>
                  <a:latin typeface="Arial"/>
                </a:endParaRPr>
              </a:p>
            </p:txBody>
          </p:sp>
          <p:sp>
            <p:nvSpPr>
              <p:cNvPr id="28" name="TextBox 27">
                <a:extLst>
                  <a:ext uri="{FF2B5EF4-FFF2-40B4-BE49-F238E27FC236}">
                    <a16:creationId xmlns:a16="http://schemas.microsoft.com/office/drawing/2014/main" id="{EE3F9736-4F0E-B05F-46FA-4B8DCF4BAC2B}"/>
                  </a:ext>
                </a:extLst>
              </p:cNvPr>
              <p:cNvSpPr txBox="1"/>
              <p:nvPr/>
            </p:nvSpPr>
            <p:spPr>
              <a:xfrm>
                <a:off x="3668485"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Post</a:t>
                </a:r>
              </a:p>
              <a:p>
                <a:pPr algn="ctr" defTabSz="457200"/>
                <a:endParaRPr lang="en-US" sz="1000" b="1" dirty="0">
                  <a:solidFill>
                    <a:srgbClr val="010101"/>
                  </a:solidFill>
                  <a:latin typeface="Arial"/>
                </a:endParaRPr>
              </a:p>
            </p:txBody>
          </p:sp>
          <p:sp>
            <p:nvSpPr>
              <p:cNvPr id="29" name="TextBox 28">
                <a:extLst>
                  <a:ext uri="{FF2B5EF4-FFF2-40B4-BE49-F238E27FC236}">
                    <a16:creationId xmlns:a16="http://schemas.microsoft.com/office/drawing/2014/main" id="{E93DE063-0D16-8BA3-05CE-98D1293F0EB6}"/>
                  </a:ext>
                </a:extLst>
              </p:cNvPr>
              <p:cNvSpPr txBox="1"/>
              <p:nvPr/>
            </p:nvSpPr>
            <p:spPr>
              <a:xfrm>
                <a:off x="5384400" y="5024709"/>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Vaccines</a:t>
                </a:r>
              </a:p>
              <a:p>
                <a:pPr algn="ctr" defTabSz="457200"/>
                <a:endParaRPr lang="en-US" sz="1000" b="1" dirty="0">
                  <a:solidFill>
                    <a:srgbClr val="010101"/>
                  </a:solidFill>
                  <a:latin typeface="Arial"/>
                </a:endParaRPr>
              </a:p>
            </p:txBody>
          </p:sp>
          <p:sp>
            <p:nvSpPr>
              <p:cNvPr id="30" name="Rectangle 29">
                <a:extLst>
                  <a:ext uri="{FF2B5EF4-FFF2-40B4-BE49-F238E27FC236}">
                    <a16:creationId xmlns:a16="http://schemas.microsoft.com/office/drawing/2014/main" id="{715F00CB-E857-9750-9558-F4067EC73172}"/>
                  </a:ext>
                </a:extLst>
              </p:cNvPr>
              <p:cNvSpPr/>
              <p:nvPr/>
            </p:nvSpPr>
            <p:spPr>
              <a:xfrm>
                <a:off x="1752599" y="4887913"/>
                <a:ext cx="717240" cy="12526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1" name="Rectangle 30">
                <a:extLst>
                  <a:ext uri="{FF2B5EF4-FFF2-40B4-BE49-F238E27FC236}">
                    <a16:creationId xmlns:a16="http://schemas.microsoft.com/office/drawing/2014/main" id="{F2D450C0-1781-6909-AAF7-FE9BEF042F08}"/>
                  </a:ext>
                </a:extLst>
              </p:cNvPr>
              <p:cNvSpPr/>
              <p:nvPr/>
            </p:nvSpPr>
            <p:spPr>
              <a:xfrm>
                <a:off x="2778067" y="4874343"/>
                <a:ext cx="3500068" cy="18799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2" name="Rectangle 31">
                <a:extLst>
                  <a:ext uri="{FF2B5EF4-FFF2-40B4-BE49-F238E27FC236}">
                    <a16:creationId xmlns:a16="http://schemas.microsoft.com/office/drawing/2014/main" id="{1461F3DB-1294-696A-C303-63639CC8E755}"/>
                  </a:ext>
                </a:extLst>
              </p:cNvPr>
              <p:cNvSpPr/>
              <p:nvPr/>
            </p:nvSpPr>
            <p:spPr>
              <a:xfrm>
                <a:off x="6303026" y="4847496"/>
                <a:ext cx="786403" cy="18799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3" name="Rectangle 32">
                <a:extLst>
                  <a:ext uri="{FF2B5EF4-FFF2-40B4-BE49-F238E27FC236}">
                    <a16:creationId xmlns:a16="http://schemas.microsoft.com/office/drawing/2014/main" id="{B21DFB11-79D8-F256-09A7-D3AB39F79112}"/>
                  </a:ext>
                </a:extLst>
              </p:cNvPr>
              <p:cNvSpPr/>
              <p:nvPr/>
            </p:nvSpPr>
            <p:spPr>
              <a:xfrm>
                <a:off x="2382657" y="1542911"/>
                <a:ext cx="2614093"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grpSp>
        <p:sp>
          <p:nvSpPr>
            <p:cNvPr id="22" name="Rectangle 21">
              <a:extLst>
                <a:ext uri="{FF2B5EF4-FFF2-40B4-BE49-F238E27FC236}">
                  <a16:creationId xmlns:a16="http://schemas.microsoft.com/office/drawing/2014/main" id="{0573E354-5663-CC86-4ED4-15EFE3AE67A3}"/>
                </a:ext>
              </a:extLst>
            </p:cNvPr>
            <p:cNvSpPr/>
            <p:nvPr/>
          </p:nvSpPr>
          <p:spPr>
            <a:xfrm>
              <a:off x="2656114" y="1099457"/>
              <a:ext cx="2340636" cy="39969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grpSp>
      <p:pic>
        <p:nvPicPr>
          <p:cNvPr id="37" name="Graphic 36">
            <a:extLst>
              <a:ext uri="{FF2B5EF4-FFF2-40B4-BE49-F238E27FC236}">
                <a16:creationId xmlns:a16="http://schemas.microsoft.com/office/drawing/2014/main" id="{DEF5E90F-F8FD-D7EC-68EB-460B1A7BB2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32371" y="3001474"/>
            <a:ext cx="1220667" cy="1220667"/>
          </a:xfrm>
          <a:prstGeom prst="rect">
            <a:avLst/>
          </a:prstGeom>
        </p:spPr>
      </p:pic>
      <p:sp>
        <p:nvSpPr>
          <p:cNvPr id="38" name="TextBox 37">
            <a:extLst>
              <a:ext uri="{FF2B5EF4-FFF2-40B4-BE49-F238E27FC236}">
                <a16:creationId xmlns:a16="http://schemas.microsoft.com/office/drawing/2014/main" id="{74A4EE34-2EEA-B987-25AD-B3773AA2924C}"/>
              </a:ext>
            </a:extLst>
          </p:cNvPr>
          <p:cNvSpPr txBox="1"/>
          <p:nvPr/>
        </p:nvSpPr>
        <p:spPr>
          <a:xfrm>
            <a:off x="8924207" y="3706162"/>
            <a:ext cx="1112857" cy="461665"/>
          </a:xfrm>
          <a:prstGeom prst="rect">
            <a:avLst/>
          </a:prstGeom>
          <a:noFill/>
        </p:spPr>
        <p:txBody>
          <a:bodyPr wrap="square" rtlCol="0">
            <a:spAutoFit/>
          </a:bodyPr>
          <a:lstStyle/>
          <a:p>
            <a:pPr algn="ctr" defTabSz="457200">
              <a:defRPr/>
            </a:pPr>
            <a:r>
              <a:rPr lang="en-US" sz="1200" dirty="0">
                <a:solidFill>
                  <a:prstClr val="white"/>
                </a:solidFill>
                <a:latin typeface="Arial"/>
              </a:rPr>
              <a:t>Worksheets</a:t>
            </a:r>
          </a:p>
          <a:p>
            <a:pPr algn="ctr" defTabSz="457200">
              <a:defRPr/>
            </a:pPr>
            <a:r>
              <a:rPr lang="en-US" sz="1200" dirty="0">
                <a:solidFill>
                  <a:prstClr val="white"/>
                </a:solidFill>
                <a:latin typeface="Arial"/>
              </a:rPr>
              <a:t>(n = 57)</a:t>
            </a:r>
          </a:p>
        </p:txBody>
      </p:sp>
    </p:spTree>
    <p:extLst>
      <p:ext uri="{BB962C8B-B14F-4D97-AF65-F5344CB8AC3E}">
        <p14:creationId xmlns:p14="http://schemas.microsoft.com/office/powerpoint/2010/main" val="3812681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BB260-6A42-38FA-F7EE-9FDF8B382A03}"/>
            </a:ext>
          </a:extLst>
        </p:cNvPr>
        <p:cNvGrpSpPr/>
        <p:nvPr/>
      </p:nvGrpSpPr>
      <p:grpSpPr>
        <a:xfrm>
          <a:off x="0" y="0"/>
          <a:ext cx="0" cy="0"/>
          <a:chOff x="0" y="0"/>
          <a:chExt cx="0" cy="0"/>
        </a:xfrm>
      </p:grpSpPr>
      <p:pic>
        <p:nvPicPr>
          <p:cNvPr id="12" name="Graphic 11">
            <a:extLst>
              <a:ext uri="{FF2B5EF4-FFF2-40B4-BE49-F238E27FC236}">
                <a16:creationId xmlns:a16="http://schemas.microsoft.com/office/drawing/2014/main" id="{D981BE2A-A11D-37EE-E755-247351817E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32371" y="3001474"/>
            <a:ext cx="1220667" cy="1220667"/>
          </a:xfrm>
          <a:prstGeom prst="rect">
            <a:avLst/>
          </a:prstGeom>
        </p:spPr>
      </p:pic>
      <p:sp>
        <p:nvSpPr>
          <p:cNvPr id="14" name="TextBox 13">
            <a:extLst>
              <a:ext uri="{FF2B5EF4-FFF2-40B4-BE49-F238E27FC236}">
                <a16:creationId xmlns:a16="http://schemas.microsoft.com/office/drawing/2014/main" id="{92EE5605-7F2B-BD1D-0349-5BF4E65BE65E}"/>
              </a:ext>
            </a:extLst>
          </p:cNvPr>
          <p:cNvSpPr txBox="1"/>
          <p:nvPr/>
        </p:nvSpPr>
        <p:spPr>
          <a:xfrm>
            <a:off x="8924207" y="3706162"/>
            <a:ext cx="1112857" cy="461665"/>
          </a:xfrm>
          <a:prstGeom prst="rect">
            <a:avLst/>
          </a:prstGeom>
          <a:noFill/>
        </p:spPr>
        <p:txBody>
          <a:bodyPr wrap="square" rtlCol="0">
            <a:spAutoFit/>
          </a:bodyPr>
          <a:lstStyle/>
          <a:p>
            <a:pPr algn="ctr" defTabSz="457200">
              <a:defRPr/>
            </a:pPr>
            <a:r>
              <a:rPr lang="en-US" sz="1200" dirty="0">
                <a:solidFill>
                  <a:prstClr val="white"/>
                </a:solidFill>
                <a:latin typeface="Arial"/>
              </a:rPr>
              <a:t>Worksheets</a:t>
            </a:r>
          </a:p>
          <a:p>
            <a:pPr algn="ctr" defTabSz="457200">
              <a:defRPr/>
            </a:pPr>
            <a:r>
              <a:rPr lang="en-US" sz="1200" dirty="0">
                <a:solidFill>
                  <a:prstClr val="white"/>
                </a:solidFill>
                <a:latin typeface="Arial"/>
              </a:rPr>
              <a:t>(n = 57)</a:t>
            </a:r>
          </a:p>
        </p:txBody>
      </p:sp>
      <p:sp>
        <p:nvSpPr>
          <p:cNvPr id="4" name="TextBox 3">
            <a:extLst>
              <a:ext uri="{FF2B5EF4-FFF2-40B4-BE49-F238E27FC236}">
                <a16:creationId xmlns:a16="http://schemas.microsoft.com/office/drawing/2014/main" id="{AE827372-BA3A-93A5-C373-7EBA138DEA59}"/>
              </a:ext>
            </a:extLst>
          </p:cNvPr>
          <p:cNvSpPr txBox="1"/>
          <p:nvPr/>
        </p:nvSpPr>
        <p:spPr>
          <a:xfrm>
            <a:off x="1593722" y="5954386"/>
            <a:ext cx="9004554" cy="461665"/>
          </a:xfrm>
          <a:prstGeom prst="rect">
            <a:avLst/>
          </a:prstGeom>
          <a:noFill/>
        </p:spPr>
        <p:txBody>
          <a:bodyPr wrap="square">
            <a:spAutoFit/>
          </a:bodyPr>
          <a:lstStyle/>
          <a:p>
            <a:pPr algn="ctr" defTabSz="685800">
              <a:defRPr/>
            </a:pPr>
            <a:r>
              <a:rPr lang="en-US" sz="2400" b="1" dirty="0">
                <a:solidFill>
                  <a:srgbClr val="4EA72E">
                    <a:lumMod val="40000"/>
                    <a:lumOff val="60000"/>
                  </a:srgbClr>
                </a:solidFill>
                <a:latin typeface="Calibri" panose="020F0502020204030204"/>
                <a:ea typeface="Calibri"/>
                <a:cs typeface="Calibri"/>
              </a:rPr>
              <a:t>Few students used effective communication approaches</a:t>
            </a:r>
          </a:p>
        </p:txBody>
      </p:sp>
      <p:grpSp>
        <p:nvGrpSpPr>
          <p:cNvPr id="39" name="Group 38">
            <a:extLst>
              <a:ext uri="{FF2B5EF4-FFF2-40B4-BE49-F238E27FC236}">
                <a16:creationId xmlns:a16="http://schemas.microsoft.com/office/drawing/2014/main" id="{919F4998-BAD9-C34A-6345-761AFFAFA8B1}"/>
              </a:ext>
            </a:extLst>
          </p:cNvPr>
          <p:cNvGrpSpPr/>
          <p:nvPr/>
        </p:nvGrpSpPr>
        <p:grpSpPr>
          <a:xfrm>
            <a:off x="2373086" y="304801"/>
            <a:ext cx="6251230" cy="5318760"/>
            <a:chOff x="849086" y="304801"/>
            <a:chExt cx="6251230" cy="5318760"/>
          </a:xfrm>
        </p:grpSpPr>
        <p:grpSp>
          <p:nvGrpSpPr>
            <p:cNvPr id="6" name="Group 5">
              <a:extLst>
                <a:ext uri="{FF2B5EF4-FFF2-40B4-BE49-F238E27FC236}">
                  <a16:creationId xmlns:a16="http://schemas.microsoft.com/office/drawing/2014/main" id="{57987C22-9464-7E6C-B61D-B5E594C0D544}"/>
                </a:ext>
              </a:extLst>
            </p:cNvPr>
            <p:cNvGrpSpPr/>
            <p:nvPr/>
          </p:nvGrpSpPr>
          <p:grpSpPr>
            <a:xfrm>
              <a:off x="849086" y="304801"/>
              <a:ext cx="6251230" cy="5318760"/>
              <a:chOff x="849086" y="304801"/>
              <a:chExt cx="6251230" cy="5318760"/>
            </a:xfrm>
          </p:grpSpPr>
          <p:pic>
            <p:nvPicPr>
              <p:cNvPr id="16" name="Picture 15">
                <a:extLst>
                  <a:ext uri="{FF2B5EF4-FFF2-40B4-BE49-F238E27FC236}">
                    <a16:creationId xmlns:a16="http://schemas.microsoft.com/office/drawing/2014/main" id="{220B7454-C60C-F3FF-8823-3A01B615E025}"/>
                  </a:ext>
                </a:extLst>
              </p:cNvPr>
              <p:cNvPicPr>
                <a:picLocks noChangeAspect="1"/>
              </p:cNvPicPr>
              <p:nvPr/>
            </p:nvPicPr>
            <p:blipFill>
              <a:blip r:embed="rId4"/>
              <a:srcRect l="5095" t="17096" r="10730"/>
              <a:stretch>
                <a:fillRect/>
              </a:stretch>
            </p:blipFill>
            <p:spPr>
              <a:xfrm>
                <a:off x="849086" y="304801"/>
                <a:ext cx="6251230" cy="5318760"/>
              </a:xfrm>
              <a:prstGeom prst="rect">
                <a:avLst/>
              </a:prstGeom>
              <a:ln w="57150">
                <a:solidFill>
                  <a:srgbClr val="010101"/>
                </a:solidFill>
              </a:ln>
            </p:spPr>
          </p:pic>
          <p:sp>
            <p:nvSpPr>
              <p:cNvPr id="24" name="Oval 23">
                <a:extLst>
                  <a:ext uri="{FF2B5EF4-FFF2-40B4-BE49-F238E27FC236}">
                    <a16:creationId xmlns:a16="http://schemas.microsoft.com/office/drawing/2014/main" id="{3DE8C119-4291-A2A6-7892-7DA7248FD8A0}"/>
                  </a:ext>
                </a:extLst>
              </p:cNvPr>
              <p:cNvSpPr/>
              <p:nvPr/>
            </p:nvSpPr>
            <p:spPr>
              <a:xfrm>
                <a:off x="2498257" y="536396"/>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5" name="Oval 24">
                <a:extLst>
                  <a:ext uri="{FF2B5EF4-FFF2-40B4-BE49-F238E27FC236}">
                    <a16:creationId xmlns:a16="http://schemas.microsoft.com/office/drawing/2014/main" id="{BDA58C55-8530-FA7B-5E8F-E6DD2A95FD63}"/>
                  </a:ext>
                </a:extLst>
              </p:cNvPr>
              <p:cNvSpPr/>
              <p:nvPr/>
            </p:nvSpPr>
            <p:spPr>
              <a:xfrm>
                <a:off x="2491613" y="796198"/>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6" name="Rectangle 25">
                <a:extLst>
                  <a:ext uri="{FF2B5EF4-FFF2-40B4-BE49-F238E27FC236}">
                    <a16:creationId xmlns:a16="http://schemas.microsoft.com/office/drawing/2014/main" id="{5F087ACD-72A8-C0F5-ECA6-CEEF3098E98F}"/>
                  </a:ext>
                </a:extLst>
              </p:cNvPr>
              <p:cNvSpPr/>
              <p:nvPr/>
            </p:nvSpPr>
            <p:spPr>
              <a:xfrm>
                <a:off x="3881756" y="1529167"/>
                <a:ext cx="2614093"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7" name="TextBox 26">
                <a:extLst>
                  <a:ext uri="{FF2B5EF4-FFF2-40B4-BE49-F238E27FC236}">
                    <a16:creationId xmlns:a16="http://schemas.microsoft.com/office/drawing/2014/main" id="{5447D201-A9C3-E1D9-30A2-8C08E8055421}"/>
                  </a:ext>
                </a:extLst>
              </p:cNvPr>
              <p:cNvSpPr txBox="1"/>
              <p:nvPr/>
            </p:nvSpPr>
            <p:spPr>
              <a:xfrm>
                <a:off x="1861457"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Pre</a:t>
                </a:r>
              </a:p>
              <a:p>
                <a:pPr algn="ctr" defTabSz="457200"/>
                <a:endParaRPr lang="en-US" sz="1000" b="1" dirty="0">
                  <a:solidFill>
                    <a:srgbClr val="010101"/>
                  </a:solidFill>
                  <a:latin typeface="Arial"/>
                </a:endParaRPr>
              </a:p>
            </p:txBody>
          </p:sp>
          <p:sp>
            <p:nvSpPr>
              <p:cNvPr id="28" name="TextBox 27">
                <a:extLst>
                  <a:ext uri="{FF2B5EF4-FFF2-40B4-BE49-F238E27FC236}">
                    <a16:creationId xmlns:a16="http://schemas.microsoft.com/office/drawing/2014/main" id="{9480AC87-B054-0BD4-C3F3-86523B9734CD}"/>
                  </a:ext>
                </a:extLst>
              </p:cNvPr>
              <p:cNvSpPr txBox="1"/>
              <p:nvPr/>
            </p:nvSpPr>
            <p:spPr>
              <a:xfrm>
                <a:off x="3668485"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Post</a:t>
                </a:r>
              </a:p>
              <a:p>
                <a:pPr algn="ctr" defTabSz="457200"/>
                <a:endParaRPr lang="en-US" sz="1000" b="1" dirty="0">
                  <a:solidFill>
                    <a:srgbClr val="010101"/>
                  </a:solidFill>
                  <a:latin typeface="Arial"/>
                </a:endParaRPr>
              </a:p>
            </p:txBody>
          </p:sp>
          <p:sp>
            <p:nvSpPr>
              <p:cNvPr id="29" name="TextBox 28">
                <a:extLst>
                  <a:ext uri="{FF2B5EF4-FFF2-40B4-BE49-F238E27FC236}">
                    <a16:creationId xmlns:a16="http://schemas.microsoft.com/office/drawing/2014/main" id="{16CE6132-1F96-8EB2-D9AC-F87CE1380F59}"/>
                  </a:ext>
                </a:extLst>
              </p:cNvPr>
              <p:cNvSpPr txBox="1"/>
              <p:nvPr/>
            </p:nvSpPr>
            <p:spPr>
              <a:xfrm>
                <a:off x="5384400" y="5024709"/>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Vaccines</a:t>
                </a:r>
              </a:p>
              <a:p>
                <a:pPr algn="ctr" defTabSz="457200"/>
                <a:endParaRPr lang="en-US" sz="1000" b="1" dirty="0">
                  <a:solidFill>
                    <a:srgbClr val="010101"/>
                  </a:solidFill>
                  <a:latin typeface="Arial"/>
                </a:endParaRPr>
              </a:p>
            </p:txBody>
          </p:sp>
          <p:sp>
            <p:nvSpPr>
              <p:cNvPr id="30" name="Rectangle 29">
                <a:extLst>
                  <a:ext uri="{FF2B5EF4-FFF2-40B4-BE49-F238E27FC236}">
                    <a16:creationId xmlns:a16="http://schemas.microsoft.com/office/drawing/2014/main" id="{4709ED1F-6A8E-A12D-62FD-8D2C842412D1}"/>
                  </a:ext>
                </a:extLst>
              </p:cNvPr>
              <p:cNvSpPr/>
              <p:nvPr/>
            </p:nvSpPr>
            <p:spPr>
              <a:xfrm>
                <a:off x="1752599" y="4887913"/>
                <a:ext cx="717240" cy="12526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1" name="Rectangle 30">
                <a:extLst>
                  <a:ext uri="{FF2B5EF4-FFF2-40B4-BE49-F238E27FC236}">
                    <a16:creationId xmlns:a16="http://schemas.microsoft.com/office/drawing/2014/main" id="{F949F66F-F365-1CC4-0460-84B80E1C15C7}"/>
                  </a:ext>
                </a:extLst>
              </p:cNvPr>
              <p:cNvSpPr/>
              <p:nvPr/>
            </p:nvSpPr>
            <p:spPr>
              <a:xfrm>
                <a:off x="2778067" y="4874343"/>
                <a:ext cx="3500068" cy="18799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2" name="Rectangle 31">
                <a:extLst>
                  <a:ext uri="{FF2B5EF4-FFF2-40B4-BE49-F238E27FC236}">
                    <a16:creationId xmlns:a16="http://schemas.microsoft.com/office/drawing/2014/main" id="{D4E10CE4-4FD7-98DA-E334-BDA03CE7F400}"/>
                  </a:ext>
                </a:extLst>
              </p:cNvPr>
              <p:cNvSpPr/>
              <p:nvPr/>
            </p:nvSpPr>
            <p:spPr>
              <a:xfrm>
                <a:off x="6303026" y="4847496"/>
                <a:ext cx="786403" cy="18799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3" name="Rectangle 32">
                <a:extLst>
                  <a:ext uri="{FF2B5EF4-FFF2-40B4-BE49-F238E27FC236}">
                    <a16:creationId xmlns:a16="http://schemas.microsoft.com/office/drawing/2014/main" id="{F12F9CC0-981A-FB26-AB10-970E113A6B64}"/>
                  </a:ext>
                </a:extLst>
              </p:cNvPr>
              <p:cNvSpPr/>
              <p:nvPr/>
            </p:nvSpPr>
            <p:spPr>
              <a:xfrm>
                <a:off x="2382657" y="1542911"/>
                <a:ext cx="2614093"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5" name="Oval 34">
                <a:extLst>
                  <a:ext uri="{FF2B5EF4-FFF2-40B4-BE49-F238E27FC236}">
                    <a16:creationId xmlns:a16="http://schemas.microsoft.com/office/drawing/2014/main" id="{5820F221-59A3-6047-92F3-E78719C4E3CD}"/>
                  </a:ext>
                </a:extLst>
              </p:cNvPr>
              <p:cNvSpPr/>
              <p:nvPr/>
            </p:nvSpPr>
            <p:spPr>
              <a:xfrm>
                <a:off x="2491611" y="4052858"/>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6" name="Oval 35">
                <a:extLst>
                  <a:ext uri="{FF2B5EF4-FFF2-40B4-BE49-F238E27FC236}">
                    <a16:creationId xmlns:a16="http://schemas.microsoft.com/office/drawing/2014/main" id="{0BA06CE4-FDBC-D020-C43E-AFF7B2E932E1}"/>
                  </a:ext>
                </a:extLst>
              </p:cNvPr>
              <p:cNvSpPr/>
              <p:nvPr/>
            </p:nvSpPr>
            <p:spPr>
              <a:xfrm>
                <a:off x="2491611" y="4786913"/>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grpSp>
        <p:sp>
          <p:nvSpPr>
            <p:cNvPr id="38" name="Rectangle 37">
              <a:extLst>
                <a:ext uri="{FF2B5EF4-FFF2-40B4-BE49-F238E27FC236}">
                  <a16:creationId xmlns:a16="http://schemas.microsoft.com/office/drawing/2014/main" id="{38E1D524-D1EE-7F2E-495E-738F9658A4F4}"/>
                </a:ext>
              </a:extLst>
            </p:cNvPr>
            <p:cNvSpPr/>
            <p:nvPr/>
          </p:nvSpPr>
          <p:spPr>
            <a:xfrm>
              <a:off x="2656114" y="1099457"/>
              <a:ext cx="2340636" cy="39969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grpSp>
    </p:spTree>
    <p:extLst>
      <p:ext uri="{BB962C8B-B14F-4D97-AF65-F5344CB8AC3E}">
        <p14:creationId xmlns:p14="http://schemas.microsoft.com/office/powerpoint/2010/main" val="1247678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10FAE-3703-43AB-45F4-04B0544B8537}"/>
            </a:ext>
          </a:extLst>
        </p:cNvPr>
        <p:cNvGrpSpPr/>
        <p:nvPr/>
      </p:nvGrpSpPr>
      <p:grpSpPr>
        <a:xfrm>
          <a:off x="0" y="0"/>
          <a:ext cx="0" cy="0"/>
          <a:chOff x="0" y="0"/>
          <a:chExt cx="0" cy="0"/>
        </a:xfrm>
      </p:grpSpPr>
      <p:pic>
        <p:nvPicPr>
          <p:cNvPr id="12" name="Graphic 11">
            <a:extLst>
              <a:ext uri="{FF2B5EF4-FFF2-40B4-BE49-F238E27FC236}">
                <a16:creationId xmlns:a16="http://schemas.microsoft.com/office/drawing/2014/main" id="{9515BA67-48F3-BE1C-85F4-5077058980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32371" y="3001474"/>
            <a:ext cx="1220667" cy="1220667"/>
          </a:xfrm>
          <a:prstGeom prst="rect">
            <a:avLst/>
          </a:prstGeom>
        </p:spPr>
      </p:pic>
      <p:sp>
        <p:nvSpPr>
          <p:cNvPr id="14" name="TextBox 13">
            <a:extLst>
              <a:ext uri="{FF2B5EF4-FFF2-40B4-BE49-F238E27FC236}">
                <a16:creationId xmlns:a16="http://schemas.microsoft.com/office/drawing/2014/main" id="{B1834853-3A80-F239-F3CA-7A252CDB2DD0}"/>
              </a:ext>
            </a:extLst>
          </p:cNvPr>
          <p:cNvSpPr txBox="1"/>
          <p:nvPr/>
        </p:nvSpPr>
        <p:spPr>
          <a:xfrm>
            <a:off x="8924207" y="3706162"/>
            <a:ext cx="1112857" cy="461665"/>
          </a:xfrm>
          <a:prstGeom prst="rect">
            <a:avLst/>
          </a:prstGeom>
          <a:noFill/>
        </p:spPr>
        <p:txBody>
          <a:bodyPr wrap="square" rtlCol="0">
            <a:spAutoFit/>
          </a:bodyPr>
          <a:lstStyle/>
          <a:p>
            <a:pPr algn="ctr" defTabSz="457200">
              <a:defRPr/>
            </a:pPr>
            <a:r>
              <a:rPr lang="en-US" sz="1200" dirty="0">
                <a:solidFill>
                  <a:prstClr val="white"/>
                </a:solidFill>
                <a:latin typeface="Arial"/>
              </a:rPr>
              <a:t>Worksheets</a:t>
            </a:r>
          </a:p>
          <a:p>
            <a:pPr algn="ctr" defTabSz="457200">
              <a:defRPr/>
            </a:pPr>
            <a:r>
              <a:rPr lang="en-US" sz="1200" dirty="0">
                <a:solidFill>
                  <a:prstClr val="white"/>
                </a:solidFill>
                <a:latin typeface="Arial"/>
              </a:rPr>
              <a:t>(n = 57)</a:t>
            </a:r>
          </a:p>
        </p:txBody>
      </p:sp>
      <p:grpSp>
        <p:nvGrpSpPr>
          <p:cNvPr id="2" name="Group 1">
            <a:extLst>
              <a:ext uri="{FF2B5EF4-FFF2-40B4-BE49-F238E27FC236}">
                <a16:creationId xmlns:a16="http://schemas.microsoft.com/office/drawing/2014/main" id="{4EFA53DF-43CE-1ABE-4A4F-CDDD7EC37D3A}"/>
              </a:ext>
            </a:extLst>
          </p:cNvPr>
          <p:cNvGrpSpPr/>
          <p:nvPr/>
        </p:nvGrpSpPr>
        <p:grpSpPr>
          <a:xfrm>
            <a:off x="2373086" y="304801"/>
            <a:ext cx="6251230" cy="5318760"/>
            <a:chOff x="849086" y="304801"/>
            <a:chExt cx="6251230" cy="5318760"/>
          </a:xfrm>
        </p:grpSpPr>
        <p:pic>
          <p:nvPicPr>
            <p:cNvPr id="3" name="Picture 2">
              <a:extLst>
                <a:ext uri="{FF2B5EF4-FFF2-40B4-BE49-F238E27FC236}">
                  <a16:creationId xmlns:a16="http://schemas.microsoft.com/office/drawing/2014/main" id="{6DA72EFD-4586-BE0B-8412-DE061C446942}"/>
                </a:ext>
              </a:extLst>
            </p:cNvPr>
            <p:cNvPicPr>
              <a:picLocks noChangeAspect="1"/>
            </p:cNvPicPr>
            <p:nvPr/>
          </p:nvPicPr>
          <p:blipFill>
            <a:blip r:embed="rId4"/>
            <a:srcRect l="5095" t="17096" r="10730"/>
            <a:stretch>
              <a:fillRect/>
            </a:stretch>
          </p:blipFill>
          <p:spPr>
            <a:xfrm>
              <a:off x="849086" y="304801"/>
              <a:ext cx="6251230" cy="5318760"/>
            </a:xfrm>
            <a:prstGeom prst="rect">
              <a:avLst/>
            </a:prstGeom>
            <a:ln w="57150">
              <a:solidFill>
                <a:srgbClr val="010101"/>
              </a:solidFill>
            </a:ln>
          </p:spPr>
        </p:pic>
        <p:sp>
          <p:nvSpPr>
            <p:cNvPr id="4" name="Oval 3">
              <a:extLst>
                <a:ext uri="{FF2B5EF4-FFF2-40B4-BE49-F238E27FC236}">
                  <a16:creationId xmlns:a16="http://schemas.microsoft.com/office/drawing/2014/main" id="{7DB9C020-D984-C651-A327-DFF91DDDF5E8}"/>
                </a:ext>
              </a:extLst>
            </p:cNvPr>
            <p:cNvSpPr/>
            <p:nvPr/>
          </p:nvSpPr>
          <p:spPr>
            <a:xfrm>
              <a:off x="2491612" y="1316476"/>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6" name="Oval 5">
              <a:extLst>
                <a:ext uri="{FF2B5EF4-FFF2-40B4-BE49-F238E27FC236}">
                  <a16:creationId xmlns:a16="http://schemas.microsoft.com/office/drawing/2014/main" id="{6AF9C386-7480-4F44-D278-F5C1E4D75E1A}"/>
                </a:ext>
              </a:extLst>
            </p:cNvPr>
            <p:cNvSpPr/>
            <p:nvPr/>
          </p:nvSpPr>
          <p:spPr>
            <a:xfrm>
              <a:off x="2492615" y="1053224"/>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16" name="Oval 15">
              <a:extLst>
                <a:ext uri="{FF2B5EF4-FFF2-40B4-BE49-F238E27FC236}">
                  <a16:creationId xmlns:a16="http://schemas.microsoft.com/office/drawing/2014/main" id="{731CE0D3-0FB0-05B9-0EEC-52B4DFC587F9}"/>
                </a:ext>
              </a:extLst>
            </p:cNvPr>
            <p:cNvSpPr/>
            <p:nvPr/>
          </p:nvSpPr>
          <p:spPr>
            <a:xfrm>
              <a:off x="2498257" y="536396"/>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2" name="Oval 21">
              <a:extLst>
                <a:ext uri="{FF2B5EF4-FFF2-40B4-BE49-F238E27FC236}">
                  <a16:creationId xmlns:a16="http://schemas.microsoft.com/office/drawing/2014/main" id="{68EED7C3-B207-DF18-3737-7C649D0DC986}"/>
                </a:ext>
              </a:extLst>
            </p:cNvPr>
            <p:cNvSpPr/>
            <p:nvPr/>
          </p:nvSpPr>
          <p:spPr>
            <a:xfrm>
              <a:off x="2491613" y="796198"/>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3" name="Rectangle 22">
              <a:extLst>
                <a:ext uri="{FF2B5EF4-FFF2-40B4-BE49-F238E27FC236}">
                  <a16:creationId xmlns:a16="http://schemas.microsoft.com/office/drawing/2014/main" id="{1EBEBBA7-6883-2964-5AF9-AE0E9388D956}"/>
                </a:ext>
              </a:extLst>
            </p:cNvPr>
            <p:cNvSpPr/>
            <p:nvPr/>
          </p:nvSpPr>
          <p:spPr>
            <a:xfrm>
              <a:off x="3881756" y="1529167"/>
              <a:ext cx="2614093"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4" name="TextBox 23">
              <a:extLst>
                <a:ext uri="{FF2B5EF4-FFF2-40B4-BE49-F238E27FC236}">
                  <a16:creationId xmlns:a16="http://schemas.microsoft.com/office/drawing/2014/main" id="{7E067F2C-057E-B851-69C2-4CC30CA85A69}"/>
                </a:ext>
              </a:extLst>
            </p:cNvPr>
            <p:cNvSpPr txBox="1"/>
            <p:nvPr/>
          </p:nvSpPr>
          <p:spPr>
            <a:xfrm>
              <a:off x="1861457"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Pre</a:t>
              </a:r>
            </a:p>
            <a:p>
              <a:pPr algn="ctr" defTabSz="457200"/>
              <a:endParaRPr lang="en-US" sz="1000" b="1" dirty="0">
                <a:solidFill>
                  <a:srgbClr val="010101"/>
                </a:solidFill>
                <a:latin typeface="Arial"/>
              </a:endParaRPr>
            </a:p>
          </p:txBody>
        </p:sp>
        <p:sp>
          <p:nvSpPr>
            <p:cNvPr id="25" name="TextBox 24">
              <a:extLst>
                <a:ext uri="{FF2B5EF4-FFF2-40B4-BE49-F238E27FC236}">
                  <a16:creationId xmlns:a16="http://schemas.microsoft.com/office/drawing/2014/main" id="{7FC7D25A-7008-A5E7-B208-90D1F8CF7525}"/>
                </a:ext>
              </a:extLst>
            </p:cNvPr>
            <p:cNvSpPr txBox="1"/>
            <p:nvPr/>
          </p:nvSpPr>
          <p:spPr>
            <a:xfrm>
              <a:off x="3668485"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Post</a:t>
              </a:r>
            </a:p>
            <a:p>
              <a:pPr algn="ctr" defTabSz="457200"/>
              <a:endParaRPr lang="en-US" sz="1000" b="1" dirty="0">
                <a:solidFill>
                  <a:srgbClr val="010101"/>
                </a:solidFill>
                <a:latin typeface="Arial"/>
              </a:endParaRPr>
            </a:p>
          </p:txBody>
        </p:sp>
        <p:sp>
          <p:nvSpPr>
            <p:cNvPr id="26" name="TextBox 25">
              <a:extLst>
                <a:ext uri="{FF2B5EF4-FFF2-40B4-BE49-F238E27FC236}">
                  <a16:creationId xmlns:a16="http://schemas.microsoft.com/office/drawing/2014/main" id="{3068B981-1184-50EA-0960-777EB6572C57}"/>
                </a:ext>
              </a:extLst>
            </p:cNvPr>
            <p:cNvSpPr txBox="1"/>
            <p:nvPr/>
          </p:nvSpPr>
          <p:spPr>
            <a:xfrm>
              <a:off x="5384400" y="5024709"/>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Vaccines</a:t>
              </a:r>
            </a:p>
            <a:p>
              <a:pPr algn="ctr" defTabSz="457200"/>
              <a:endParaRPr lang="en-US" sz="1000" b="1" dirty="0">
                <a:solidFill>
                  <a:srgbClr val="010101"/>
                </a:solidFill>
                <a:latin typeface="Arial"/>
              </a:endParaRPr>
            </a:p>
          </p:txBody>
        </p:sp>
        <p:sp>
          <p:nvSpPr>
            <p:cNvPr id="28" name="Rectangle 27">
              <a:extLst>
                <a:ext uri="{FF2B5EF4-FFF2-40B4-BE49-F238E27FC236}">
                  <a16:creationId xmlns:a16="http://schemas.microsoft.com/office/drawing/2014/main" id="{68C9BBAE-9353-466C-59C1-F7F4343FB8F7}"/>
                </a:ext>
              </a:extLst>
            </p:cNvPr>
            <p:cNvSpPr/>
            <p:nvPr/>
          </p:nvSpPr>
          <p:spPr>
            <a:xfrm>
              <a:off x="1752599" y="4887913"/>
              <a:ext cx="717240" cy="12526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9" name="Rectangle 28">
              <a:extLst>
                <a:ext uri="{FF2B5EF4-FFF2-40B4-BE49-F238E27FC236}">
                  <a16:creationId xmlns:a16="http://schemas.microsoft.com/office/drawing/2014/main" id="{3F2BDC91-7EF1-EF4F-7F2B-C7BF903707BC}"/>
                </a:ext>
              </a:extLst>
            </p:cNvPr>
            <p:cNvSpPr/>
            <p:nvPr/>
          </p:nvSpPr>
          <p:spPr>
            <a:xfrm>
              <a:off x="2778067" y="4874343"/>
              <a:ext cx="3500068" cy="18799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0" name="Rectangle 29">
              <a:extLst>
                <a:ext uri="{FF2B5EF4-FFF2-40B4-BE49-F238E27FC236}">
                  <a16:creationId xmlns:a16="http://schemas.microsoft.com/office/drawing/2014/main" id="{6F969C1D-0BE0-E8CC-FEF8-ABD46DF122E4}"/>
                </a:ext>
              </a:extLst>
            </p:cNvPr>
            <p:cNvSpPr/>
            <p:nvPr/>
          </p:nvSpPr>
          <p:spPr>
            <a:xfrm>
              <a:off x="6303026" y="4847496"/>
              <a:ext cx="786403" cy="18799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1" name="Rectangle 30">
              <a:extLst>
                <a:ext uri="{FF2B5EF4-FFF2-40B4-BE49-F238E27FC236}">
                  <a16:creationId xmlns:a16="http://schemas.microsoft.com/office/drawing/2014/main" id="{D37A624B-0385-7A6B-025C-04DF73DB1E45}"/>
                </a:ext>
              </a:extLst>
            </p:cNvPr>
            <p:cNvSpPr/>
            <p:nvPr/>
          </p:nvSpPr>
          <p:spPr>
            <a:xfrm>
              <a:off x="2382657" y="1542911"/>
              <a:ext cx="2614093"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3" name="Oval 32">
              <a:extLst>
                <a:ext uri="{FF2B5EF4-FFF2-40B4-BE49-F238E27FC236}">
                  <a16:creationId xmlns:a16="http://schemas.microsoft.com/office/drawing/2014/main" id="{22098C6A-299D-2B9B-E354-C87DBD0F09FF}"/>
                </a:ext>
              </a:extLst>
            </p:cNvPr>
            <p:cNvSpPr/>
            <p:nvPr/>
          </p:nvSpPr>
          <p:spPr>
            <a:xfrm>
              <a:off x="2491611" y="4052858"/>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4" name="Oval 33">
              <a:extLst>
                <a:ext uri="{FF2B5EF4-FFF2-40B4-BE49-F238E27FC236}">
                  <a16:creationId xmlns:a16="http://schemas.microsoft.com/office/drawing/2014/main" id="{F16173A9-4191-0A4F-0AA8-7E76EB42CBF7}"/>
                </a:ext>
              </a:extLst>
            </p:cNvPr>
            <p:cNvSpPr/>
            <p:nvPr/>
          </p:nvSpPr>
          <p:spPr>
            <a:xfrm>
              <a:off x="2491611" y="4786913"/>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grpSp>
    </p:spTree>
    <p:extLst>
      <p:ext uri="{BB962C8B-B14F-4D97-AF65-F5344CB8AC3E}">
        <p14:creationId xmlns:p14="http://schemas.microsoft.com/office/powerpoint/2010/main" val="3840264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A5BCA-D4CD-FEE0-FA6D-0D301729BE96}"/>
            </a:ext>
          </a:extLst>
        </p:cNvPr>
        <p:cNvGrpSpPr/>
        <p:nvPr/>
      </p:nvGrpSpPr>
      <p:grpSpPr>
        <a:xfrm>
          <a:off x="0" y="0"/>
          <a:ext cx="0" cy="0"/>
          <a:chOff x="0" y="0"/>
          <a:chExt cx="0" cy="0"/>
        </a:xfrm>
      </p:grpSpPr>
      <p:pic>
        <p:nvPicPr>
          <p:cNvPr id="12" name="Graphic 11">
            <a:extLst>
              <a:ext uri="{FF2B5EF4-FFF2-40B4-BE49-F238E27FC236}">
                <a16:creationId xmlns:a16="http://schemas.microsoft.com/office/drawing/2014/main" id="{4E4C2B4E-8767-DF14-4D1E-7723D1DA92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32371" y="3001474"/>
            <a:ext cx="1220667" cy="1220667"/>
          </a:xfrm>
          <a:prstGeom prst="rect">
            <a:avLst/>
          </a:prstGeom>
        </p:spPr>
      </p:pic>
      <p:sp>
        <p:nvSpPr>
          <p:cNvPr id="14" name="TextBox 13">
            <a:extLst>
              <a:ext uri="{FF2B5EF4-FFF2-40B4-BE49-F238E27FC236}">
                <a16:creationId xmlns:a16="http://schemas.microsoft.com/office/drawing/2014/main" id="{97E6BF0B-0EE2-BDC6-8E86-E9B2E8DC1227}"/>
              </a:ext>
            </a:extLst>
          </p:cNvPr>
          <p:cNvSpPr txBox="1"/>
          <p:nvPr/>
        </p:nvSpPr>
        <p:spPr>
          <a:xfrm>
            <a:off x="8924207" y="3706162"/>
            <a:ext cx="1112857" cy="461665"/>
          </a:xfrm>
          <a:prstGeom prst="rect">
            <a:avLst/>
          </a:prstGeom>
          <a:noFill/>
        </p:spPr>
        <p:txBody>
          <a:bodyPr wrap="square" rtlCol="0">
            <a:spAutoFit/>
          </a:bodyPr>
          <a:lstStyle/>
          <a:p>
            <a:pPr algn="ctr" defTabSz="457200">
              <a:defRPr/>
            </a:pPr>
            <a:r>
              <a:rPr lang="en-US" sz="1200" dirty="0">
                <a:solidFill>
                  <a:prstClr val="white"/>
                </a:solidFill>
                <a:latin typeface="Arial"/>
              </a:rPr>
              <a:t>Worksheets</a:t>
            </a:r>
          </a:p>
          <a:p>
            <a:pPr algn="ctr" defTabSz="457200">
              <a:defRPr/>
            </a:pPr>
            <a:r>
              <a:rPr lang="en-US" sz="1200" dirty="0">
                <a:solidFill>
                  <a:prstClr val="white"/>
                </a:solidFill>
                <a:latin typeface="Arial"/>
              </a:rPr>
              <a:t>(n = 57)</a:t>
            </a:r>
          </a:p>
        </p:txBody>
      </p:sp>
      <p:sp>
        <p:nvSpPr>
          <p:cNvPr id="26" name="TextBox 25">
            <a:extLst>
              <a:ext uri="{FF2B5EF4-FFF2-40B4-BE49-F238E27FC236}">
                <a16:creationId xmlns:a16="http://schemas.microsoft.com/office/drawing/2014/main" id="{C44B2534-54EF-8FE3-4652-3DFE27162CC3}"/>
              </a:ext>
            </a:extLst>
          </p:cNvPr>
          <p:cNvSpPr txBox="1"/>
          <p:nvPr/>
        </p:nvSpPr>
        <p:spPr>
          <a:xfrm>
            <a:off x="1593722" y="6091699"/>
            <a:ext cx="9004554" cy="461665"/>
          </a:xfrm>
          <a:prstGeom prst="rect">
            <a:avLst/>
          </a:prstGeom>
          <a:noFill/>
        </p:spPr>
        <p:txBody>
          <a:bodyPr wrap="square">
            <a:spAutoFit/>
          </a:bodyPr>
          <a:lstStyle/>
          <a:p>
            <a:pPr algn="ctr" defTabSz="685800">
              <a:defRPr/>
            </a:pPr>
            <a:r>
              <a:rPr lang="en-US" sz="2400" b="1" dirty="0">
                <a:solidFill>
                  <a:srgbClr val="4EA72E">
                    <a:lumMod val="40000"/>
                    <a:lumOff val="60000"/>
                  </a:srgbClr>
                </a:solidFill>
                <a:latin typeface="Calibri" panose="020F0502020204030204"/>
                <a:ea typeface="Calibri"/>
                <a:cs typeface="Calibri"/>
              </a:rPr>
              <a:t>More students used ineffective communication than effective</a:t>
            </a:r>
          </a:p>
        </p:txBody>
      </p:sp>
      <p:grpSp>
        <p:nvGrpSpPr>
          <p:cNvPr id="48" name="Group 47">
            <a:extLst>
              <a:ext uri="{FF2B5EF4-FFF2-40B4-BE49-F238E27FC236}">
                <a16:creationId xmlns:a16="http://schemas.microsoft.com/office/drawing/2014/main" id="{41630195-6892-738B-599C-67C755F3F900}"/>
              </a:ext>
            </a:extLst>
          </p:cNvPr>
          <p:cNvGrpSpPr/>
          <p:nvPr/>
        </p:nvGrpSpPr>
        <p:grpSpPr>
          <a:xfrm>
            <a:off x="2373086" y="304801"/>
            <a:ext cx="6251230" cy="5318760"/>
            <a:chOff x="849086" y="304801"/>
            <a:chExt cx="6251230" cy="5318760"/>
          </a:xfrm>
        </p:grpSpPr>
        <p:pic>
          <p:nvPicPr>
            <p:cNvPr id="4" name="Picture 3">
              <a:extLst>
                <a:ext uri="{FF2B5EF4-FFF2-40B4-BE49-F238E27FC236}">
                  <a16:creationId xmlns:a16="http://schemas.microsoft.com/office/drawing/2014/main" id="{4EE2779B-C641-B821-ED7A-3A3A86AF9628}"/>
                </a:ext>
              </a:extLst>
            </p:cNvPr>
            <p:cNvPicPr>
              <a:picLocks noChangeAspect="1"/>
            </p:cNvPicPr>
            <p:nvPr/>
          </p:nvPicPr>
          <p:blipFill>
            <a:blip r:embed="rId4"/>
            <a:srcRect l="5095" t="17096" r="10730"/>
            <a:stretch>
              <a:fillRect/>
            </a:stretch>
          </p:blipFill>
          <p:spPr>
            <a:xfrm>
              <a:off x="849086" y="304801"/>
              <a:ext cx="6251230" cy="5318760"/>
            </a:xfrm>
            <a:prstGeom prst="rect">
              <a:avLst/>
            </a:prstGeom>
            <a:ln w="57150">
              <a:solidFill>
                <a:srgbClr val="010101"/>
              </a:solidFill>
            </a:ln>
          </p:spPr>
        </p:pic>
        <p:sp>
          <p:nvSpPr>
            <p:cNvPr id="5" name="Oval 4">
              <a:extLst>
                <a:ext uri="{FF2B5EF4-FFF2-40B4-BE49-F238E27FC236}">
                  <a16:creationId xmlns:a16="http://schemas.microsoft.com/office/drawing/2014/main" id="{2BD8A7C4-6EC0-D8D6-31D7-7D43932A8714}"/>
                </a:ext>
              </a:extLst>
            </p:cNvPr>
            <p:cNvSpPr/>
            <p:nvPr/>
          </p:nvSpPr>
          <p:spPr>
            <a:xfrm>
              <a:off x="2491612" y="1316476"/>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6" name="Oval 5">
              <a:extLst>
                <a:ext uri="{FF2B5EF4-FFF2-40B4-BE49-F238E27FC236}">
                  <a16:creationId xmlns:a16="http://schemas.microsoft.com/office/drawing/2014/main" id="{E651B227-5402-3B3B-FEE6-B13E418BC77D}"/>
                </a:ext>
              </a:extLst>
            </p:cNvPr>
            <p:cNvSpPr/>
            <p:nvPr/>
          </p:nvSpPr>
          <p:spPr>
            <a:xfrm>
              <a:off x="2492615" y="1053224"/>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16" name="Oval 15">
              <a:extLst>
                <a:ext uri="{FF2B5EF4-FFF2-40B4-BE49-F238E27FC236}">
                  <a16:creationId xmlns:a16="http://schemas.microsoft.com/office/drawing/2014/main" id="{A2B7816F-D66B-B856-D21D-813F8D0B0105}"/>
                </a:ext>
              </a:extLst>
            </p:cNvPr>
            <p:cNvSpPr/>
            <p:nvPr/>
          </p:nvSpPr>
          <p:spPr>
            <a:xfrm>
              <a:off x="2498257" y="536396"/>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2" name="Oval 21">
              <a:extLst>
                <a:ext uri="{FF2B5EF4-FFF2-40B4-BE49-F238E27FC236}">
                  <a16:creationId xmlns:a16="http://schemas.microsoft.com/office/drawing/2014/main" id="{4624290F-20AF-6B2B-C074-1B38799BB77C}"/>
                </a:ext>
              </a:extLst>
            </p:cNvPr>
            <p:cNvSpPr/>
            <p:nvPr/>
          </p:nvSpPr>
          <p:spPr>
            <a:xfrm>
              <a:off x="2491613" y="796198"/>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7" name="Rectangle 26">
              <a:extLst>
                <a:ext uri="{FF2B5EF4-FFF2-40B4-BE49-F238E27FC236}">
                  <a16:creationId xmlns:a16="http://schemas.microsoft.com/office/drawing/2014/main" id="{3659BE6D-16BA-CD6F-65F2-F8600B57D823}"/>
                </a:ext>
              </a:extLst>
            </p:cNvPr>
            <p:cNvSpPr/>
            <p:nvPr/>
          </p:nvSpPr>
          <p:spPr>
            <a:xfrm>
              <a:off x="3881756" y="1529167"/>
              <a:ext cx="2614093"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5" name="TextBox 34">
              <a:extLst>
                <a:ext uri="{FF2B5EF4-FFF2-40B4-BE49-F238E27FC236}">
                  <a16:creationId xmlns:a16="http://schemas.microsoft.com/office/drawing/2014/main" id="{C17ED044-B801-E226-67D6-F108F5CB7EB8}"/>
                </a:ext>
              </a:extLst>
            </p:cNvPr>
            <p:cNvSpPr txBox="1"/>
            <p:nvPr/>
          </p:nvSpPr>
          <p:spPr>
            <a:xfrm>
              <a:off x="1861457"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Pre</a:t>
              </a:r>
            </a:p>
            <a:p>
              <a:pPr algn="ctr" defTabSz="457200"/>
              <a:endParaRPr lang="en-US" sz="1000" b="1" dirty="0">
                <a:solidFill>
                  <a:srgbClr val="010101"/>
                </a:solidFill>
                <a:latin typeface="Arial"/>
              </a:endParaRPr>
            </a:p>
          </p:txBody>
        </p:sp>
        <p:sp>
          <p:nvSpPr>
            <p:cNvPr id="36" name="TextBox 35">
              <a:extLst>
                <a:ext uri="{FF2B5EF4-FFF2-40B4-BE49-F238E27FC236}">
                  <a16:creationId xmlns:a16="http://schemas.microsoft.com/office/drawing/2014/main" id="{C935AC51-8F1B-F9D9-287F-224A97728A8E}"/>
                </a:ext>
              </a:extLst>
            </p:cNvPr>
            <p:cNvSpPr txBox="1"/>
            <p:nvPr/>
          </p:nvSpPr>
          <p:spPr>
            <a:xfrm>
              <a:off x="3668485"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Post</a:t>
              </a:r>
            </a:p>
            <a:p>
              <a:pPr algn="ctr" defTabSz="457200"/>
              <a:endParaRPr lang="en-US" sz="1000" b="1" dirty="0">
                <a:solidFill>
                  <a:srgbClr val="010101"/>
                </a:solidFill>
                <a:latin typeface="Arial"/>
              </a:endParaRPr>
            </a:p>
          </p:txBody>
        </p:sp>
        <p:sp>
          <p:nvSpPr>
            <p:cNvPr id="37" name="TextBox 36">
              <a:extLst>
                <a:ext uri="{FF2B5EF4-FFF2-40B4-BE49-F238E27FC236}">
                  <a16:creationId xmlns:a16="http://schemas.microsoft.com/office/drawing/2014/main" id="{2ED13FF8-7268-9F32-2300-B16E318DDE3C}"/>
                </a:ext>
              </a:extLst>
            </p:cNvPr>
            <p:cNvSpPr txBox="1"/>
            <p:nvPr/>
          </p:nvSpPr>
          <p:spPr>
            <a:xfrm>
              <a:off x="5384400" y="5024709"/>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Vaccines</a:t>
              </a:r>
            </a:p>
            <a:p>
              <a:pPr algn="ctr" defTabSz="457200"/>
              <a:endParaRPr lang="en-US" sz="1000" b="1" dirty="0">
                <a:solidFill>
                  <a:srgbClr val="010101"/>
                </a:solidFill>
                <a:latin typeface="Arial"/>
              </a:endParaRPr>
            </a:p>
          </p:txBody>
        </p:sp>
        <p:sp>
          <p:nvSpPr>
            <p:cNvPr id="38" name="Rectangle 37">
              <a:extLst>
                <a:ext uri="{FF2B5EF4-FFF2-40B4-BE49-F238E27FC236}">
                  <a16:creationId xmlns:a16="http://schemas.microsoft.com/office/drawing/2014/main" id="{00E1DA79-1913-DF8D-B671-99B9BC2FA952}"/>
                </a:ext>
              </a:extLst>
            </p:cNvPr>
            <p:cNvSpPr/>
            <p:nvPr/>
          </p:nvSpPr>
          <p:spPr>
            <a:xfrm>
              <a:off x="1752599" y="4887913"/>
              <a:ext cx="717240" cy="12526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9" name="Rectangle 38">
              <a:extLst>
                <a:ext uri="{FF2B5EF4-FFF2-40B4-BE49-F238E27FC236}">
                  <a16:creationId xmlns:a16="http://schemas.microsoft.com/office/drawing/2014/main" id="{7C64C421-44F8-CDB8-73EF-63B47C53EF1E}"/>
                </a:ext>
              </a:extLst>
            </p:cNvPr>
            <p:cNvSpPr/>
            <p:nvPr/>
          </p:nvSpPr>
          <p:spPr>
            <a:xfrm>
              <a:off x="2778067" y="4874343"/>
              <a:ext cx="3500068" cy="18799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40" name="Rectangle 39">
              <a:extLst>
                <a:ext uri="{FF2B5EF4-FFF2-40B4-BE49-F238E27FC236}">
                  <a16:creationId xmlns:a16="http://schemas.microsoft.com/office/drawing/2014/main" id="{AA2BC524-4A70-6528-C14A-DA7E583A357D}"/>
                </a:ext>
              </a:extLst>
            </p:cNvPr>
            <p:cNvSpPr/>
            <p:nvPr/>
          </p:nvSpPr>
          <p:spPr>
            <a:xfrm>
              <a:off x="6303026" y="4847496"/>
              <a:ext cx="786403" cy="18799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47" name="Rectangle 46">
              <a:extLst>
                <a:ext uri="{FF2B5EF4-FFF2-40B4-BE49-F238E27FC236}">
                  <a16:creationId xmlns:a16="http://schemas.microsoft.com/office/drawing/2014/main" id="{31EE4A35-06CB-B75A-C76C-8276CD7F1382}"/>
                </a:ext>
              </a:extLst>
            </p:cNvPr>
            <p:cNvSpPr/>
            <p:nvPr/>
          </p:nvSpPr>
          <p:spPr>
            <a:xfrm>
              <a:off x="2382657" y="1542911"/>
              <a:ext cx="2614093"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5" name="Oval 24">
              <a:extLst>
                <a:ext uri="{FF2B5EF4-FFF2-40B4-BE49-F238E27FC236}">
                  <a16:creationId xmlns:a16="http://schemas.microsoft.com/office/drawing/2014/main" id="{DFD07065-2DEC-196E-64E4-3BA9015770CF}"/>
                </a:ext>
              </a:extLst>
            </p:cNvPr>
            <p:cNvSpPr/>
            <p:nvPr/>
          </p:nvSpPr>
          <p:spPr>
            <a:xfrm>
              <a:off x="2491611" y="2742120"/>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3" name="Oval 22">
              <a:extLst>
                <a:ext uri="{FF2B5EF4-FFF2-40B4-BE49-F238E27FC236}">
                  <a16:creationId xmlns:a16="http://schemas.microsoft.com/office/drawing/2014/main" id="{AC04D74B-9C1E-CAA0-45EB-6655AF03B73C}"/>
                </a:ext>
              </a:extLst>
            </p:cNvPr>
            <p:cNvSpPr/>
            <p:nvPr/>
          </p:nvSpPr>
          <p:spPr>
            <a:xfrm>
              <a:off x="2491611" y="4052858"/>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42" name="Oval 41">
              <a:extLst>
                <a:ext uri="{FF2B5EF4-FFF2-40B4-BE49-F238E27FC236}">
                  <a16:creationId xmlns:a16="http://schemas.microsoft.com/office/drawing/2014/main" id="{BBFF39EF-B9D2-569A-897D-F57CF8F4E863}"/>
                </a:ext>
              </a:extLst>
            </p:cNvPr>
            <p:cNvSpPr/>
            <p:nvPr/>
          </p:nvSpPr>
          <p:spPr>
            <a:xfrm>
              <a:off x="2491611" y="4786913"/>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4" name="Oval 23">
              <a:extLst>
                <a:ext uri="{FF2B5EF4-FFF2-40B4-BE49-F238E27FC236}">
                  <a16:creationId xmlns:a16="http://schemas.microsoft.com/office/drawing/2014/main" id="{E43FAA92-148F-69B1-BDC3-649A797974D1}"/>
                </a:ext>
              </a:extLst>
            </p:cNvPr>
            <p:cNvSpPr/>
            <p:nvPr/>
          </p:nvSpPr>
          <p:spPr>
            <a:xfrm>
              <a:off x="2491611" y="3655659"/>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grpSp>
    </p:spTree>
    <p:extLst>
      <p:ext uri="{BB962C8B-B14F-4D97-AF65-F5344CB8AC3E}">
        <p14:creationId xmlns:p14="http://schemas.microsoft.com/office/powerpoint/2010/main" val="4060358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AEE79-8D2A-1C54-1126-29B9EE62EEF4}"/>
            </a:ext>
          </a:extLst>
        </p:cNvPr>
        <p:cNvGrpSpPr/>
        <p:nvPr/>
      </p:nvGrpSpPr>
      <p:grpSpPr>
        <a:xfrm>
          <a:off x="0" y="0"/>
          <a:ext cx="0" cy="0"/>
          <a:chOff x="0" y="0"/>
          <a:chExt cx="0" cy="0"/>
        </a:xfrm>
      </p:grpSpPr>
      <p:pic>
        <p:nvPicPr>
          <p:cNvPr id="12" name="Graphic 11">
            <a:extLst>
              <a:ext uri="{FF2B5EF4-FFF2-40B4-BE49-F238E27FC236}">
                <a16:creationId xmlns:a16="http://schemas.microsoft.com/office/drawing/2014/main" id="{986F8884-9A62-0453-891E-552CBC17A6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94162" y="2615110"/>
            <a:ext cx="986544" cy="986544"/>
          </a:xfrm>
          <a:prstGeom prst="rect">
            <a:avLst/>
          </a:prstGeom>
        </p:spPr>
      </p:pic>
      <p:sp>
        <p:nvSpPr>
          <p:cNvPr id="14" name="TextBox 13">
            <a:extLst>
              <a:ext uri="{FF2B5EF4-FFF2-40B4-BE49-F238E27FC236}">
                <a16:creationId xmlns:a16="http://schemas.microsoft.com/office/drawing/2014/main" id="{0BBB8698-E0F0-5761-9C5E-BC640DEC9AD4}"/>
              </a:ext>
            </a:extLst>
          </p:cNvPr>
          <p:cNvSpPr txBox="1"/>
          <p:nvPr/>
        </p:nvSpPr>
        <p:spPr>
          <a:xfrm>
            <a:off x="9431006" y="3170768"/>
            <a:ext cx="1112857" cy="430887"/>
          </a:xfrm>
          <a:prstGeom prst="rect">
            <a:avLst/>
          </a:prstGeom>
          <a:noFill/>
        </p:spPr>
        <p:txBody>
          <a:bodyPr wrap="square" rtlCol="0">
            <a:spAutoFit/>
          </a:bodyPr>
          <a:lstStyle/>
          <a:p>
            <a:pPr algn="ctr" defTabSz="457200">
              <a:defRPr/>
            </a:pPr>
            <a:r>
              <a:rPr lang="en-US" sz="1050" dirty="0">
                <a:solidFill>
                  <a:prstClr val="white"/>
                </a:solidFill>
                <a:latin typeface="Arial"/>
              </a:rPr>
              <a:t>Worksheets</a:t>
            </a:r>
          </a:p>
          <a:p>
            <a:pPr algn="ctr" defTabSz="457200">
              <a:defRPr/>
            </a:pPr>
            <a:r>
              <a:rPr lang="en-US" sz="1050" dirty="0">
                <a:solidFill>
                  <a:prstClr val="white"/>
                </a:solidFill>
                <a:latin typeface="Arial"/>
              </a:rPr>
              <a:t>(n = 57)</a:t>
            </a:r>
          </a:p>
        </p:txBody>
      </p:sp>
      <p:sp>
        <p:nvSpPr>
          <p:cNvPr id="17" name="TextBox 16">
            <a:extLst>
              <a:ext uri="{FF2B5EF4-FFF2-40B4-BE49-F238E27FC236}">
                <a16:creationId xmlns:a16="http://schemas.microsoft.com/office/drawing/2014/main" id="{AC93172A-88D1-4A63-098A-EB9FBF79930C}"/>
              </a:ext>
            </a:extLst>
          </p:cNvPr>
          <p:cNvSpPr txBox="1"/>
          <p:nvPr/>
        </p:nvSpPr>
        <p:spPr>
          <a:xfrm>
            <a:off x="2278321" y="5637131"/>
            <a:ext cx="3474580" cy="276999"/>
          </a:xfrm>
          <a:prstGeom prst="rect">
            <a:avLst/>
          </a:prstGeom>
          <a:noFill/>
        </p:spPr>
        <p:txBody>
          <a:bodyPr wrap="square" rtlCol="0">
            <a:spAutoFit/>
          </a:bodyPr>
          <a:lstStyle/>
          <a:p>
            <a:pPr defTabSz="457200"/>
            <a:r>
              <a:rPr lang="en-US" sz="1200" dirty="0">
                <a:solidFill>
                  <a:prstClr val="white"/>
                </a:solidFill>
                <a:latin typeface="Arial"/>
              </a:rPr>
              <a:t>*all pre-post differences, p &lt; .05</a:t>
            </a:r>
          </a:p>
        </p:txBody>
      </p:sp>
      <p:sp>
        <p:nvSpPr>
          <p:cNvPr id="2" name="TextBox 1">
            <a:extLst>
              <a:ext uri="{FF2B5EF4-FFF2-40B4-BE49-F238E27FC236}">
                <a16:creationId xmlns:a16="http://schemas.microsoft.com/office/drawing/2014/main" id="{D04B3466-C024-6047-A043-60364D8C96EA}"/>
              </a:ext>
            </a:extLst>
          </p:cNvPr>
          <p:cNvSpPr txBox="1"/>
          <p:nvPr/>
        </p:nvSpPr>
        <p:spPr>
          <a:xfrm>
            <a:off x="1593722" y="5954386"/>
            <a:ext cx="9004554" cy="461665"/>
          </a:xfrm>
          <a:prstGeom prst="rect">
            <a:avLst/>
          </a:prstGeom>
          <a:noFill/>
        </p:spPr>
        <p:txBody>
          <a:bodyPr wrap="square">
            <a:spAutoFit/>
          </a:bodyPr>
          <a:lstStyle/>
          <a:p>
            <a:pPr algn="ctr" defTabSz="685800">
              <a:defRPr/>
            </a:pPr>
            <a:r>
              <a:rPr lang="en-US" sz="2400" b="1" dirty="0">
                <a:solidFill>
                  <a:srgbClr val="4EA72E">
                    <a:lumMod val="40000"/>
                    <a:lumOff val="60000"/>
                  </a:srgbClr>
                </a:solidFill>
                <a:latin typeface="Calibri" panose="020F0502020204030204"/>
                <a:ea typeface="Calibri"/>
                <a:cs typeface="Calibri"/>
              </a:rPr>
              <a:t>Effective strategies increased, ineffective decreased</a:t>
            </a:r>
          </a:p>
        </p:txBody>
      </p:sp>
      <p:grpSp>
        <p:nvGrpSpPr>
          <p:cNvPr id="45" name="Group 44">
            <a:extLst>
              <a:ext uri="{FF2B5EF4-FFF2-40B4-BE49-F238E27FC236}">
                <a16:creationId xmlns:a16="http://schemas.microsoft.com/office/drawing/2014/main" id="{4C483B6B-1DDB-6418-A466-B7839386AD13}"/>
              </a:ext>
            </a:extLst>
          </p:cNvPr>
          <p:cNvGrpSpPr/>
          <p:nvPr/>
        </p:nvGrpSpPr>
        <p:grpSpPr>
          <a:xfrm>
            <a:off x="2373086" y="304801"/>
            <a:ext cx="6251230" cy="5318760"/>
            <a:chOff x="849086" y="304801"/>
            <a:chExt cx="6251230" cy="5318760"/>
          </a:xfrm>
        </p:grpSpPr>
        <p:pic>
          <p:nvPicPr>
            <p:cNvPr id="7" name="Picture 6">
              <a:extLst>
                <a:ext uri="{FF2B5EF4-FFF2-40B4-BE49-F238E27FC236}">
                  <a16:creationId xmlns:a16="http://schemas.microsoft.com/office/drawing/2014/main" id="{3743583A-1078-0EED-F2E7-26195588A5A6}"/>
                </a:ext>
              </a:extLst>
            </p:cNvPr>
            <p:cNvPicPr>
              <a:picLocks noChangeAspect="1"/>
            </p:cNvPicPr>
            <p:nvPr/>
          </p:nvPicPr>
          <p:blipFill>
            <a:blip r:embed="rId4"/>
            <a:srcRect l="5095" t="17096" r="10730"/>
            <a:stretch>
              <a:fillRect/>
            </a:stretch>
          </p:blipFill>
          <p:spPr>
            <a:xfrm>
              <a:off x="849086" y="304801"/>
              <a:ext cx="6251230" cy="5318760"/>
            </a:xfrm>
            <a:prstGeom prst="rect">
              <a:avLst/>
            </a:prstGeom>
            <a:ln w="57150">
              <a:solidFill>
                <a:srgbClr val="010101"/>
              </a:solidFill>
            </a:ln>
          </p:spPr>
        </p:pic>
        <p:sp>
          <p:nvSpPr>
            <p:cNvPr id="22" name="Oval 21">
              <a:extLst>
                <a:ext uri="{FF2B5EF4-FFF2-40B4-BE49-F238E27FC236}">
                  <a16:creationId xmlns:a16="http://schemas.microsoft.com/office/drawing/2014/main" id="{815000D9-1881-8CEA-BC1B-D4DDD7B07AAD}"/>
                </a:ext>
              </a:extLst>
            </p:cNvPr>
            <p:cNvSpPr/>
            <p:nvPr/>
          </p:nvSpPr>
          <p:spPr>
            <a:xfrm>
              <a:off x="2491612" y="1316476"/>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3" name="Oval 22">
              <a:extLst>
                <a:ext uri="{FF2B5EF4-FFF2-40B4-BE49-F238E27FC236}">
                  <a16:creationId xmlns:a16="http://schemas.microsoft.com/office/drawing/2014/main" id="{2404D214-5F12-08C3-710F-4F1A5ECC36B2}"/>
                </a:ext>
              </a:extLst>
            </p:cNvPr>
            <p:cNvSpPr/>
            <p:nvPr/>
          </p:nvSpPr>
          <p:spPr>
            <a:xfrm>
              <a:off x="2492615" y="1053224"/>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4" name="Oval 23">
              <a:extLst>
                <a:ext uri="{FF2B5EF4-FFF2-40B4-BE49-F238E27FC236}">
                  <a16:creationId xmlns:a16="http://schemas.microsoft.com/office/drawing/2014/main" id="{12B04E5D-9356-1456-E265-0233A56641B4}"/>
                </a:ext>
              </a:extLst>
            </p:cNvPr>
            <p:cNvSpPr/>
            <p:nvPr/>
          </p:nvSpPr>
          <p:spPr>
            <a:xfrm>
              <a:off x="2498257" y="536396"/>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5" name="Oval 24">
              <a:extLst>
                <a:ext uri="{FF2B5EF4-FFF2-40B4-BE49-F238E27FC236}">
                  <a16:creationId xmlns:a16="http://schemas.microsoft.com/office/drawing/2014/main" id="{D45A4911-F707-BE30-BB4F-774B411793DD}"/>
                </a:ext>
              </a:extLst>
            </p:cNvPr>
            <p:cNvSpPr/>
            <p:nvPr/>
          </p:nvSpPr>
          <p:spPr>
            <a:xfrm>
              <a:off x="2491613" y="796198"/>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6" name="Oval 25">
              <a:extLst>
                <a:ext uri="{FF2B5EF4-FFF2-40B4-BE49-F238E27FC236}">
                  <a16:creationId xmlns:a16="http://schemas.microsoft.com/office/drawing/2014/main" id="{213A777C-3649-5CA7-3EC1-F41FC7B8628D}"/>
                </a:ext>
              </a:extLst>
            </p:cNvPr>
            <p:cNvSpPr/>
            <p:nvPr/>
          </p:nvSpPr>
          <p:spPr>
            <a:xfrm>
              <a:off x="2491611" y="4052858"/>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8" name="Oval 27">
              <a:extLst>
                <a:ext uri="{FF2B5EF4-FFF2-40B4-BE49-F238E27FC236}">
                  <a16:creationId xmlns:a16="http://schemas.microsoft.com/office/drawing/2014/main" id="{15A766B8-0381-6FEB-9208-0A0597A59853}"/>
                </a:ext>
              </a:extLst>
            </p:cNvPr>
            <p:cNvSpPr/>
            <p:nvPr/>
          </p:nvSpPr>
          <p:spPr>
            <a:xfrm>
              <a:off x="2491611" y="3655659"/>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9" name="Oval 28">
              <a:extLst>
                <a:ext uri="{FF2B5EF4-FFF2-40B4-BE49-F238E27FC236}">
                  <a16:creationId xmlns:a16="http://schemas.microsoft.com/office/drawing/2014/main" id="{FE525A24-6688-3F1C-D400-4D181C44D10C}"/>
                </a:ext>
              </a:extLst>
            </p:cNvPr>
            <p:cNvSpPr/>
            <p:nvPr/>
          </p:nvSpPr>
          <p:spPr>
            <a:xfrm>
              <a:off x="2491611" y="2742120"/>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0" name="Rectangle 29">
              <a:extLst>
                <a:ext uri="{FF2B5EF4-FFF2-40B4-BE49-F238E27FC236}">
                  <a16:creationId xmlns:a16="http://schemas.microsoft.com/office/drawing/2014/main" id="{5FD18D59-37B0-2493-F5C8-6853C6EE878F}"/>
                </a:ext>
              </a:extLst>
            </p:cNvPr>
            <p:cNvSpPr/>
            <p:nvPr/>
          </p:nvSpPr>
          <p:spPr>
            <a:xfrm>
              <a:off x="4657382" y="1338475"/>
              <a:ext cx="1821140"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1" name="Oval 30">
              <a:extLst>
                <a:ext uri="{FF2B5EF4-FFF2-40B4-BE49-F238E27FC236}">
                  <a16:creationId xmlns:a16="http://schemas.microsoft.com/office/drawing/2014/main" id="{4D648892-1F56-40AF-5A5B-7E5CD48410E4}"/>
                </a:ext>
              </a:extLst>
            </p:cNvPr>
            <p:cNvSpPr/>
            <p:nvPr/>
          </p:nvSpPr>
          <p:spPr>
            <a:xfrm>
              <a:off x="4387942" y="4628620"/>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2" name="Oval 31">
              <a:extLst>
                <a:ext uri="{FF2B5EF4-FFF2-40B4-BE49-F238E27FC236}">
                  <a16:creationId xmlns:a16="http://schemas.microsoft.com/office/drawing/2014/main" id="{B3769A76-805B-CAB9-E6BE-B1A877222160}"/>
                </a:ext>
              </a:extLst>
            </p:cNvPr>
            <p:cNvSpPr/>
            <p:nvPr/>
          </p:nvSpPr>
          <p:spPr>
            <a:xfrm>
              <a:off x="4442373" y="4538802"/>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3" name="Oval 32">
              <a:extLst>
                <a:ext uri="{FF2B5EF4-FFF2-40B4-BE49-F238E27FC236}">
                  <a16:creationId xmlns:a16="http://schemas.microsoft.com/office/drawing/2014/main" id="{97318EEA-A394-D2B6-CA53-F9035DB3E7A0}"/>
                </a:ext>
              </a:extLst>
            </p:cNvPr>
            <p:cNvSpPr/>
            <p:nvPr/>
          </p:nvSpPr>
          <p:spPr>
            <a:xfrm>
              <a:off x="4387941" y="1661194"/>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4" name="Oval 33">
              <a:extLst>
                <a:ext uri="{FF2B5EF4-FFF2-40B4-BE49-F238E27FC236}">
                  <a16:creationId xmlns:a16="http://schemas.microsoft.com/office/drawing/2014/main" id="{FCF69C9B-53DF-3EA5-6E93-AF49B71462C7}"/>
                </a:ext>
              </a:extLst>
            </p:cNvPr>
            <p:cNvSpPr/>
            <p:nvPr/>
          </p:nvSpPr>
          <p:spPr>
            <a:xfrm>
              <a:off x="4387940" y="2689237"/>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9" name="TextBox 38">
              <a:extLst>
                <a:ext uri="{FF2B5EF4-FFF2-40B4-BE49-F238E27FC236}">
                  <a16:creationId xmlns:a16="http://schemas.microsoft.com/office/drawing/2014/main" id="{CE72B0C9-865C-5769-1389-70BFACA79D9F}"/>
                </a:ext>
              </a:extLst>
            </p:cNvPr>
            <p:cNvSpPr txBox="1"/>
            <p:nvPr/>
          </p:nvSpPr>
          <p:spPr>
            <a:xfrm>
              <a:off x="1861457"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Pre</a:t>
              </a:r>
            </a:p>
            <a:p>
              <a:pPr algn="ctr" defTabSz="457200"/>
              <a:endParaRPr lang="en-US" sz="1000" b="1" dirty="0">
                <a:solidFill>
                  <a:srgbClr val="010101"/>
                </a:solidFill>
                <a:latin typeface="Arial"/>
              </a:endParaRPr>
            </a:p>
          </p:txBody>
        </p:sp>
        <p:sp>
          <p:nvSpPr>
            <p:cNvPr id="40" name="TextBox 39">
              <a:extLst>
                <a:ext uri="{FF2B5EF4-FFF2-40B4-BE49-F238E27FC236}">
                  <a16:creationId xmlns:a16="http://schemas.microsoft.com/office/drawing/2014/main" id="{163CC461-882D-A040-7CFD-1556FAFD0837}"/>
                </a:ext>
              </a:extLst>
            </p:cNvPr>
            <p:cNvSpPr txBox="1"/>
            <p:nvPr/>
          </p:nvSpPr>
          <p:spPr>
            <a:xfrm>
              <a:off x="3668485"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Post</a:t>
              </a:r>
            </a:p>
            <a:p>
              <a:pPr algn="ctr" defTabSz="457200"/>
              <a:endParaRPr lang="en-US" sz="1000" b="1" dirty="0">
                <a:solidFill>
                  <a:srgbClr val="010101"/>
                </a:solidFill>
                <a:latin typeface="Arial"/>
              </a:endParaRPr>
            </a:p>
          </p:txBody>
        </p:sp>
        <p:sp>
          <p:nvSpPr>
            <p:cNvPr id="41" name="TextBox 40">
              <a:extLst>
                <a:ext uri="{FF2B5EF4-FFF2-40B4-BE49-F238E27FC236}">
                  <a16:creationId xmlns:a16="http://schemas.microsoft.com/office/drawing/2014/main" id="{ABEE348B-1F35-EC64-3880-6EB6904A2109}"/>
                </a:ext>
              </a:extLst>
            </p:cNvPr>
            <p:cNvSpPr txBox="1"/>
            <p:nvPr/>
          </p:nvSpPr>
          <p:spPr>
            <a:xfrm>
              <a:off x="5384400" y="5024709"/>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Vaccines</a:t>
              </a:r>
            </a:p>
            <a:p>
              <a:pPr algn="ctr" defTabSz="457200"/>
              <a:endParaRPr lang="en-US" sz="1000" b="1" dirty="0">
                <a:solidFill>
                  <a:srgbClr val="010101"/>
                </a:solidFill>
                <a:latin typeface="Arial"/>
              </a:endParaRPr>
            </a:p>
          </p:txBody>
        </p:sp>
        <p:sp>
          <p:nvSpPr>
            <p:cNvPr id="42" name="Rectangle 41">
              <a:extLst>
                <a:ext uri="{FF2B5EF4-FFF2-40B4-BE49-F238E27FC236}">
                  <a16:creationId xmlns:a16="http://schemas.microsoft.com/office/drawing/2014/main" id="{9973168E-EF6F-07C4-E6E6-69DD7FCE468D}"/>
                </a:ext>
              </a:extLst>
            </p:cNvPr>
            <p:cNvSpPr/>
            <p:nvPr/>
          </p:nvSpPr>
          <p:spPr>
            <a:xfrm>
              <a:off x="1752599" y="4887913"/>
              <a:ext cx="717240" cy="12526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43" name="Rectangle 42">
              <a:extLst>
                <a:ext uri="{FF2B5EF4-FFF2-40B4-BE49-F238E27FC236}">
                  <a16:creationId xmlns:a16="http://schemas.microsoft.com/office/drawing/2014/main" id="{B7742A58-4731-870E-67BF-B8FF6EBEAD46}"/>
                </a:ext>
              </a:extLst>
            </p:cNvPr>
            <p:cNvSpPr/>
            <p:nvPr/>
          </p:nvSpPr>
          <p:spPr>
            <a:xfrm>
              <a:off x="2778067" y="4874343"/>
              <a:ext cx="3500068" cy="18799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44" name="Rectangle 43">
              <a:extLst>
                <a:ext uri="{FF2B5EF4-FFF2-40B4-BE49-F238E27FC236}">
                  <a16:creationId xmlns:a16="http://schemas.microsoft.com/office/drawing/2014/main" id="{3544C258-F692-85BE-ADA7-A9D4CFCBD20F}"/>
                </a:ext>
              </a:extLst>
            </p:cNvPr>
            <p:cNvSpPr/>
            <p:nvPr/>
          </p:nvSpPr>
          <p:spPr>
            <a:xfrm>
              <a:off x="6303026" y="4847496"/>
              <a:ext cx="786403" cy="18799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7" name="Oval 26">
              <a:extLst>
                <a:ext uri="{FF2B5EF4-FFF2-40B4-BE49-F238E27FC236}">
                  <a16:creationId xmlns:a16="http://schemas.microsoft.com/office/drawing/2014/main" id="{6F3B950F-D6EE-8B8A-4305-2E5BDBCAABC9}"/>
                </a:ext>
              </a:extLst>
            </p:cNvPr>
            <p:cNvSpPr/>
            <p:nvPr/>
          </p:nvSpPr>
          <p:spPr>
            <a:xfrm>
              <a:off x="2491611" y="4786913"/>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grpSp>
    </p:spTree>
    <p:extLst>
      <p:ext uri="{BB962C8B-B14F-4D97-AF65-F5344CB8AC3E}">
        <p14:creationId xmlns:p14="http://schemas.microsoft.com/office/powerpoint/2010/main" val="1395241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BF2CB-1625-5FB0-AACF-E2B7A67BD99A}"/>
            </a:ext>
          </a:extLst>
        </p:cNvPr>
        <p:cNvGrpSpPr/>
        <p:nvPr/>
      </p:nvGrpSpPr>
      <p:grpSpPr>
        <a:xfrm>
          <a:off x="0" y="0"/>
          <a:ext cx="0" cy="0"/>
          <a:chOff x="0" y="0"/>
          <a:chExt cx="0" cy="0"/>
        </a:xfrm>
      </p:grpSpPr>
      <p:pic>
        <p:nvPicPr>
          <p:cNvPr id="12" name="Graphic 11">
            <a:extLst>
              <a:ext uri="{FF2B5EF4-FFF2-40B4-BE49-F238E27FC236}">
                <a16:creationId xmlns:a16="http://schemas.microsoft.com/office/drawing/2014/main" id="{E0E8A3C5-A8E4-1789-4D4E-ACAA180DB9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94162" y="2615110"/>
            <a:ext cx="986544" cy="986544"/>
          </a:xfrm>
          <a:prstGeom prst="rect">
            <a:avLst/>
          </a:prstGeom>
        </p:spPr>
      </p:pic>
      <p:sp>
        <p:nvSpPr>
          <p:cNvPr id="14" name="TextBox 13">
            <a:extLst>
              <a:ext uri="{FF2B5EF4-FFF2-40B4-BE49-F238E27FC236}">
                <a16:creationId xmlns:a16="http://schemas.microsoft.com/office/drawing/2014/main" id="{CC2F8183-02CE-ED8D-704A-E95D61C4AE8C}"/>
              </a:ext>
            </a:extLst>
          </p:cNvPr>
          <p:cNvSpPr txBox="1"/>
          <p:nvPr/>
        </p:nvSpPr>
        <p:spPr>
          <a:xfrm>
            <a:off x="9431006" y="3170768"/>
            <a:ext cx="1112857" cy="430887"/>
          </a:xfrm>
          <a:prstGeom prst="rect">
            <a:avLst/>
          </a:prstGeom>
          <a:noFill/>
        </p:spPr>
        <p:txBody>
          <a:bodyPr wrap="square" rtlCol="0">
            <a:spAutoFit/>
          </a:bodyPr>
          <a:lstStyle/>
          <a:p>
            <a:pPr algn="ctr" defTabSz="457200">
              <a:defRPr/>
            </a:pPr>
            <a:r>
              <a:rPr lang="en-US" sz="1050" dirty="0">
                <a:solidFill>
                  <a:prstClr val="white"/>
                </a:solidFill>
                <a:latin typeface="Arial"/>
              </a:rPr>
              <a:t>Worksheets</a:t>
            </a:r>
          </a:p>
          <a:p>
            <a:pPr algn="ctr" defTabSz="457200">
              <a:defRPr/>
            </a:pPr>
            <a:r>
              <a:rPr lang="en-US" sz="1050" dirty="0">
                <a:solidFill>
                  <a:prstClr val="white"/>
                </a:solidFill>
                <a:latin typeface="Arial"/>
              </a:rPr>
              <a:t>(n = 57)</a:t>
            </a:r>
          </a:p>
        </p:txBody>
      </p:sp>
      <p:sp>
        <p:nvSpPr>
          <p:cNvPr id="17" name="TextBox 16">
            <a:extLst>
              <a:ext uri="{FF2B5EF4-FFF2-40B4-BE49-F238E27FC236}">
                <a16:creationId xmlns:a16="http://schemas.microsoft.com/office/drawing/2014/main" id="{14FE0645-34F7-D4F7-6892-7A3A69C6B24E}"/>
              </a:ext>
            </a:extLst>
          </p:cNvPr>
          <p:cNvSpPr txBox="1"/>
          <p:nvPr/>
        </p:nvSpPr>
        <p:spPr>
          <a:xfrm>
            <a:off x="2278321" y="5637131"/>
            <a:ext cx="3474580" cy="276999"/>
          </a:xfrm>
          <a:prstGeom prst="rect">
            <a:avLst/>
          </a:prstGeom>
          <a:noFill/>
        </p:spPr>
        <p:txBody>
          <a:bodyPr wrap="square" rtlCol="0">
            <a:spAutoFit/>
          </a:bodyPr>
          <a:lstStyle/>
          <a:p>
            <a:pPr defTabSz="457200"/>
            <a:r>
              <a:rPr lang="en-US" sz="1200" dirty="0">
                <a:solidFill>
                  <a:prstClr val="white"/>
                </a:solidFill>
                <a:latin typeface="Arial"/>
              </a:rPr>
              <a:t>*all pre-post differences, p &lt; .05</a:t>
            </a:r>
          </a:p>
        </p:txBody>
      </p:sp>
      <p:sp>
        <p:nvSpPr>
          <p:cNvPr id="2" name="TextBox 1">
            <a:extLst>
              <a:ext uri="{FF2B5EF4-FFF2-40B4-BE49-F238E27FC236}">
                <a16:creationId xmlns:a16="http://schemas.microsoft.com/office/drawing/2014/main" id="{EE9F7C7A-BDDE-CB5F-4678-A5B5523B1539}"/>
              </a:ext>
            </a:extLst>
          </p:cNvPr>
          <p:cNvSpPr txBox="1"/>
          <p:nvPr/>
        </p:nvSpPr>
        <p:spPr>
          <a:xfrm>
            <a:off x="1593722" y="5954386"/>
            <a:ext cx="9004554" cy="461665"/>
          </a:xfrm>
          <a:prstGeom prst="rect">
            <a:avLst/>
          </a:prstGeom>
          <a:noFill/>
        </p:spPr>
        <p:txBody>
          <a:bodyPr wrap="square">
            <a:spAutoFit/>
          </a:bodyPr>
          <a:lstStyle/>
          <a:p>
            <a:pPr algn="ctr" defTabSz="685800">
              <a:defRPr/>
            </a:pPr>
            <a:r>
              <a:rPr lang="en-US" sz="2400" b="1" dirty="0">
                <a:solidFill>
                  <a:srgbClr val="4EA72E">
                    <a:lumMod val="40000"/>
                    <a:lumOff val="60000"/>
                  </a:srgbClr>
                </a:solidFill>
                <a:latin typeface="Calibri" panose="020F0502020204030204"/>
                <a:ea typeface="Calibri"/>
                <a:cs typeface="Calibri"/>
              </a:rPr>
              <a:t>Effective strategies increased, ineffective decreased</a:t>
            </a:r>
          </a:p>
        </p:txBody>
      </p:sp>
      <p:sp>
        <p:nvSpPr>
          <p:cNvPr id="5" name="TextBox 4">
            <a:extLst>
              <a:ext uri="{FF2B5EF4-FFF2-40B4-BE49-F238E27FC236}">
                <a16:creationId xmlns:a16="http://schemas.microsoft.com/office/drawing/2014/main" id="{19BB0A25-90D6-A9FB-3751-D67FF0222D6D}"/>
              </a:ext>
            </a:extLst>
          </p:cNvPr>
          <p:cNvSpPr txBox="1"/>
          <p:nvPr/>
        </p:nvSpPr>
        <p:spPr>
          <a:xfrm>
            <a:off x="2697836" y="6396336"/>
            <a:ext cx="6796326" cy="461665"/>
          </a:xfrm>
          <a:prstGeom prst="rect">
            <a:avLst/>
          </a:prstGeom>
          <a:noFill/>
        </p:spPr>
        <p:txBody>
          <a:bodyPr wrap="square">
            <a:spAutoFit/>
          </a:bodyPr>
          <a:lstStyle/>
          <a:p>
            <a:pPr algn="ctr" defTabSz="685800">
              <a:defRPr/>
            </a:pPr>
            <a:r>
              <a:rPr lang="en-US" sz="2400" b="1" dirty="0">
                <a:solidFill>
                  <a:srgbClr val="4EA72E">
                    <a:lumMod val="40000"/>
                    <a:lumOff val="60000"/>
                  </a:srgbClr>
                </a:solidFill>
                <a:latin typeface="Calibri" panose="020F0502020204030204"/>
                <a:ea typeface="Calibri"/>
                <a:cs typeface="Calibri"/>
              </a:rPr>
              <a:t>Effective communication transferred to a new topic</a:t>
            </a:r>
          </a:p>
        </p:txBody>
      </p:sp>
      <p:grpSp>
        <p:nvGrpSpPr>
          <p:cNvPr id="45" name="Group 44">
            <a:extLst>
              <a:ext uri="{FF2B5EF4-FFF2-40B4-BE49-F238E27FC236}">
                <a16:creationId xmlns:a16="http://schemas.microsoft.com/office/drawing/2014/main" id="{6FE3ACAD-9F4B-9E78-333D-6B3938A03ED7}"/>
              </a:ext>
            </a:extLst>
          </p:cNvPr>
          <p:cNvGrpSpPr/>
          <p:nvPr/>
        </p:nvGrpSpPr>
        <p:grpSpPr>
          <a:xfrm>
            <a:off x="2373086" y="304801"/>
            <a:ext cx="6251230" cy="5318760"/>
            <a:chOff x="849086" y="304801"/>
            <a:chExt cx="6251230" cy="5318760"/>
          </a:xfrm>
        </p:grpSpPr>
        <p:pic>
          <p:nvPicPr>
            <p:cNvPr id="7" name="Picture 6">
              <a:extLst>
                <a:ext uri="{FF2B5EF4-FFF2-40B4-BE49-F238E27FC236}">
                  <a16:creationId xmlns:a16="http://schemas.microsoft.com/office/drawing/2014/main" id="{32410256-9809-2D8F-1796-9EB357A2841A}"/>
                </a:ext>
              </a:extLst>
            </p:cNvPr>
            <p:cNvPicPr>
              <a:picLocks noChangeAspect="1"/>
            </p:cNvPicPr>
            <p:nvPr/>
          </p:nvPicPr>
          <p:blipFill>
            <a:blip r:embed="rId4"/>
            <a:srcRect l="5095" t="17096" r="10730"/>
            <a:stretch>
              <a:fillRect/>
            </a:stretch>
          </p:blipFill>
          <p:spPr>
            <a:xfrm>
              <a:off x="849086" y="304801"/>
              <a:ext cx="6251230" cy="5318760"/>
            </a:xfrm>
            <a:prstGeom prst="rect">
              <a:avLst/>
            </a:prstGeom>
            <a:ln w="57150">
              <a:solidFill>
                <a:srgbClr val="010101"/>
              </a:solidFill>
            </a:ln>
          </p:spPr>
        </p:pic>
        <p:sp>
          <p:nvSpPr>
            <p:cNvPr id="22" name="Oval 21">
              <a:extLst>
                <a:ext uri="{FF2B5EF4-FFF2-40B4-BE49-F238E27FC236}">
                  <a16:creationId xmlns:a16="http://schemas.microsoft.com/office/drawing/2014/main" id="{E63F548C-2A2D-044A-F168-437868D18963}"/>
                </a:ext>
              </a:extLst>
            </p:cNvPr>
            <p:cNvSpPr/>
            <p:nvPr/>
          </p:nvSpPr>
          <p:spPr>
            <a:xfrm>
              <a:off x="2491612" y="1316476"/>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3" name="Oval 22">
              <a:extLst>
                <a:ext uri="{FF2B5EF4-FFF2-40B4-BE49-F238E27FC236}">
                  <a16:creationId xmlns:a16="http://schemas.microsoft.com/office/drawing/2014/main" id="{26B56C09-F508-A6EE-906E-0A0A989435BA}"/>
                </a:ext>
              </a:extLst>
            </p:cNvPr>
            <p:cNvSpPr/>
            <p:nvPr/>
          </p:nvSpPr>
          <p:spPr>
            <a:xfrm>
              <a:off x="2492615" y="1053224"/>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4" name="Oval 23">
              <a:extLst>
                <a:ext uri="{FF2B5EF4-FFF2-40B4-BE49-F238E27FC236}">
                  <a16:creationId xmlns:a16="http://schemas.microsoft.com/office/drawing/2014/main" id="{029C9DFA-2AEF-513D-6EE2-2F5A443C8CBE}"/>
                </a:ext>
              </a:extLst>
            </p:cNvPr>
            <p:cNvSpPr/>
            <p:nvPr/>
          </p:nvSpPr>
          <p:spPr>
            <a:xfrm>
              <a:off x="2498257" y="536396"/>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5" name="Oval 24">
              <a:extLst>
                <a:ext uri="{FF2B5EF4-FFF2-40B4-BE49-F238E27FC236}">
                  <a16:creationId xmlns:a16="http://schemas.microsoft.com/office/drawing/2014/main" id="{55274067-F5F4-7B77-4ACC-7CAF5657A0ED}"/>
                </a:ext>
              </a:extLst>
            </p:cNvPr>
            <p:cNvSpPr/>
            <p:nvPr/>
          </p:nvSpPr>
          <p:spPr>
            <a:xfrm>
              <a:off x="2491613" y="796198"/>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6" name="Oval 25">
              <a:extLst>
                <a:ext uri="{FF2B5EF4-FFF2-40B4-BE49-F238E27FC236}">
                  <a16:creationId xmlns:a16="http://schemas.microsoft.com/office/drawing/2014/main" id="{88EFD301-CED5-6163-4FDA-A2541A59A310}"/>
                </a:ext>
              </a:extLst>
            </p:cNvPr>
            <p:cNvSpPr/>
            <p:nvPr/>
          </p:nvSpPr>
          <p:spPr>
            <a:xfrm>
              <a:off x="2491611" y="4052858"/>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8" name="Oval 27">
              <a:extLst>
                <a:ext uri="{FF2B5EF4-FFF2-40B4-BE49-F238E27FC236}">
                  <a16:creationId xmlns:a16="http://schemas.microsoft.com/office/drawing/2014/main" id="{7D16D7FF-A0FA-8B74-3730-16C334CFEC63}"/>
                </a:ext>
              </a:extLst>
            </p:cNvPr>
            <p:cNvSpPr/>
            <p:nvPr/>
          </p:nvSpPr>
          <p:spPr>
            <a:xfrm>
              <a:off x="2491611" y="3655659"/>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9" name="Oval 28">
              <a:extLst>
                <a:ext uri="{FF2B5EF4-FFF2-40B4-BE49-F238E27FC236}">
                  <a16:creationId xmlns:a16="http://schemas.microsoft.com/office/drawing/2014/main" id="{A4112ECE-8AF8-E4D5-0D36-2645CE632E1C}"/>
                </a:ext>
              </a:extLst>
            </p:cNvPr>
            <p:cNvSpPr/>
            <p:nvPr/>
          </p:nvSpPr>
          <p:spPr>
            <a:xfrm>
              <a:off x="2491611" y="2742120"/>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0" name="Rectangle 29">
              <a:extLst>
                <a:ext uri="{FF2B5EF4-FFF2-40B4-BE49-F238E27FC236}">
                  <a16:creationId xmlns:a16="http://schemas.microsoft.com/office/drawing/2014/main" id="{DFDC49C3-C727-868A-0CBA-D6A55FE51FFE}"/>
                </a:ext>
              </a:extLst>
            </p:cNvPr>
            <p:cNvSpPr/>
            <p:nvPr/>
          </p:nvSpPr>
          <p:spPr>
            <a:xfrm>
              <a:off x="4657382" y="1338475"/>
              <a:ext cx="1821140" cy="354943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1" name="Oval 30">
              <a:extLst>
                <a:ext uri="{FF2B5EF4-FFF2-40B4-BE49-F238E27FC236}">
                  <a16:creationId xmlns:a16="http://schemas.microsoft.com/office/drawing/2014/main" id="{4F25FE31-5465-0BC7-A126-8A1F449240EB}"/>
                </a:ext>
              </a:extLst>
            </p:cNvPr>
            <p:cNvSpPr/>
            <p:nvPr/>
          </p:nvSpPr>
          <p:spPr>
            <a:xfrm>
              <a:off x="4387942" y="4628620"/>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2" name="Oval 31">
              <a:extLst>
                <a:ext uri="{FF2B5EF4-FFF2-40B4-BE49-F238E27FC236}">
                  <a16:creationId xmlns:a16="http://schemas.microsoft.com/office/drawing/2014/main" id="{DDE306C0-C2BE-0E56-0D7F-99AB79C04512}"/>
                </a:ext>
              </a:extLst>
            </p:cNvPr>
            <p:cNvSpPr/>
            <p:nvPr/>
          </p:nvSpPr>
          <p:spPr>
            <a:xfrm>
              <a:off x="4442373" y="4538802"/>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3" name="Oval 32">
              <a:extLst>
                <a:ext uri="{FF2B5EF4-FFF2-40B4-BE49-F238E27FC236}">
                  <a16:creationId xmlns:a16="http://schemas.microsoft.com/office/drawing/2014/main" id="{7DA1E1C6-2ACE-73F8-FC4A-99CBCFA4A2F5}"/>
                </a:ext>
              </a:extLst>
            </p:cNvPr>
            <p:cNvSpPr/>
            <p:nvPr/>
          </p:nvSpPr>
          <p:spPr>
            <a:xfrm>
              <a:off x="4387941" y="1661194"/>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4" name="Oval 33">
              <a:extLst>
                <a:ext uri="{FF2B5EF4-FFF2-40B4-BE49-F238E27FC236}">
                  <a16:creationId xmlns:a16="http://schemas.microsoft.com/office/drawing/2014/main" id="{B76C6DF9-ED25-7A9F-A718-45F06221EC8C}"/>
                </a:ext>
              </a:extLst>
            </p:cNvPr>
            <p:cNvSpPr/>
            <p:nvPr/>
          </p:nvSpPr>
          <p:spPr>
            <a:xfrm>
              <a:off x="4387940" y="2689237"/>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5" name="Oval 34">
              <a:extLst>
                <a:ext uri="{FF2B5EF4-FFF2-40B4-BE49-F238E27FC236}">
                  <a16:creationId xmlns:a16="http://schemas.microsoft.com/office/drawing/2014/main" id="{DF625E02-E26E-4A31-C8AA-9A68828DBA56}"/>
                </a:ext>
              </a:extLst>
            </p:cNvPr>
            <p:cNvSpPr/>
            <p:nvPr/>
          </p:nvSpPr>
          <p:spPr>
            <a:xfrm>
              <a:off x="6045793" y="1454509"/>
              <a:ext cx="259251" cy="212691"/>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6" name="Oval 35">
              <a:extLst>
                <a:ext uri="{FF2B5EF4-FFF2-40B4-BE49-F238E27FC236}">
                  <a16:creationId xmlns:a16="http://schemas.microsoft.com/office/drawing/2014/main" id="{6BFD70C8-FE11-1E82-16B6-D9EAC37B2A72}"/>
                </a:ext>
              </a:extLst>
            </p:cNvPr>
            <p:cNvSpPr/>
            <p:nvPr/>
          </p:nvSpPr>
          <p:spPr>
            <a:xfrm>
              <a:off x="6044784" y="2238781"/>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7" name="Oval 36">
              <a:extLst>
                <a:ext uri="{FF2B5EF4-FFF2-40B4-BE49-F238E27FC236}">
                  <a16:creationId xmlns:a16="http://schemas.microsoft.com/office/drawing/2014/main" id="{35ADF967-9799-C6AB-975C-3BC00308B62E}"/>
                </a:ext>
              </a:extLst>
            </p:cNvPr>
            <p:cNvSpPr/>
            <p:nvPr/>
          </p:nvSpPr>
          <p:spPr>
            <a:xfrm>
              <a:off x="6044783" y="4574222"/>
              <a:ext cx="259251" cy="212691"/>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9" name="TextBox 38">
              <a:extLst>
                <a:ext uri="{FF2B5EF4-FFF2-40B4-BE49-F238E27FC236}">
                  <a16:creationId xmlns:a16="http://schemas.microsoft.com/office/drawing/2014/main" id="{3855FA78-BEF9-BAC1-845F-BA60DD3811D9}"/>
                </a:ext>
              </a:extLst>
            </p:cNvPr>
            <p:cNvSpPr txBox="1"/>
            <p:nvPr/>
          </p:nvSpPr>
          <p:spPr>
            <a:xfrm>
              <a:off x="1861457"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Pre</a:t>
              </a:r>
            </a:p>
            <a:p>
              <a:pPr algn="ctr" defTabSz="457200"/>
              <a:endParaRPr lang="en-US" sz="1000" b="1" dirty="0">
                <a:solidFill>
                  <a:srgbClr val="010101"/>
                </a:solidFill>
                <a:latin typeface="Arial"/>
              </a:endParaRPr>
            </a:p>
          </p:txBody>
        </p:sp>
        <p:sp>
          <p:nvSpPr>
            <p:cNvPr id="40" name="TextBox 39">
              <a:extLst>
                <a:ext uri="{FF2B5EF4-FFF2-40B4-BE49-F238E27FC236}">
                  <a16:creationId xmlns:a16="http://schemas.microsoft.com/office/drawing/2014/main" id="{8E70C8F1-33F0-330B-92C9-D01D85A23A3F}"/>
                </a:ext>
              </a:extLst>
            </p:cNvPr>
            <p:cNvSpPr txBox="1"/>
            <p:nvPr/>
          </p:nvSpPr>
          <p:spPr>
            <a:xfrm>
              <a:off x="3668485" y="5026917"/>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Post</a:t>
              </a:r>
            </a:p>
            <a:p>
              <a:pPr algn="ctr" defTabSz="457200"/>
              <a:endParaRPr lang="en-US" sz="1000" b="1" dirty="0">
                <a:solidFill>
                  <a:srgbClr val="010101"/>
                </a:solidFill>
                <a:latin typeface="Arial"/>
              </a:endParaRPr>
            </a:p>
          </p:txBody>
        </p:sp>
        <p:sp>
          <p:nvSpPr>
            <p:cNvPr id="41" name="TextBox 40">
              <a:extLst>
                <a:ext uri="{FF2B5EF4-FFF2-40B4-BE49-F238E27FC236}">
                  <a16:creationId xmlns:a16="http://schemas.microsoft.com/office/drawing/2014/main" id="{FDDF0188-4859-8E05-A6FC-1514A71ED71C}"/>
                </a:ext>
              </a:extLst>
            </p:cNvPr>
            <p:cNvSpPr txBox="1"/>
            <p:nvPr/>
          </p:nvSpPr>
          <p:spPr>
            <a:xfrm>
              <a:off x="5384400" y="5024709"/>
              <a:ext cx="1589314" cy="523220"/>
            </a:xfrm>
            <a:prstGeom prst="rect">
              <a:avLst/>
            </a:prstGeom>
            <a:solidFill>
              <a:schemeClr val="tx1"/>
            </a:solidFill>
          </p:spPr>
          <p:txBody>
            <a:bodyPr wrap="square" rtlCol="0">
              <a:spAutoFit/>
            </a:bodyPr>
            <a:lstStyle/>
            <a:p>
              <a:pPr algn="ctr" defTabSz="457200"/>
              <a:r>
                <a:rPr lang="en-US" b="1" dirty="0">
                  <a:solidFill>
                    <a:srgbClr val="010101"/>
                  </a:solidFill>
                  <a:latin typeface="Arial"/>
                </a:rPr>
                <a:t>Vaccines</a:t>
              </a:r>
            </a:p>
            <a:p>
              <a:pPr algn="ctr" defTabSz="457200"/>
              <a:endParaRPr lang="en-US" sz="1000" b="1" dirty="0">
                <a:solidFill>
                  <a:srgbClr val="010101"/>
                </a:solidFill>
                <a:latin typeface="Arial"/>
              </a:endParaRPr>
            </a:p>
          </p:txBody>
        </p:sp>
        <p:sp>
          <p:nvSpPr>
            <p:cNvPr id="42" name="Rectangle 41">
              <a:extLst>
                <a:ext uri="{FF2B5EF4-FFF2-40B4-BE49-F238E27FC236}">
                  <a16:creationId xmlns:a16="http://schemas.microsoft.com/office/drawing/2014/main" id="{32C04E25-6C99-6161-CC93-44E2B4CB3F4C}"/>
                </a:ext>
              </a:extLst>
            </p:cNvPr>
            <p:cNvSpPr/>
            <p:nvPr/>
          </p:nvSpPr>
          <p:spPr>
            <a:xfrm>
              <a:off x="1752599" y="4887913"/>
              <a:ext cx="717240" cy="12526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43" name="Rectangle 42">
              <a:extLst>
                <a:ext uri="{FF2B5EF4-FFF2-40B4-BE49-F238E27FC236}">
                  <a16:creationId xmlns:a16="http://schemas.microsoft.com/office/drawing/2014/main" id="{F85F8C43-6FA5-ABE8-A0CE-6F3799C43718}"/>
                </a:ext>
              </a:extLst>
            </p:cNvPr>
            <p:cNvSpPr/>
            <p:nvPr/>
          </p:nvSpPr>
          <p:spPr>
            <a:xfrm>
              <a:off x="2778067" y="4874343"/>
              <a:ext cx="3500068" cy="18799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44" name="Rectangle 43">
              <a:extLst>
                <a:ext uri="{FF2B5EF4-FFF2-40B4-BE49-F238E27FC236}">
                  <a16:creationId xmlns:a16="http://schemas.microsoft.com/office/drawing/2014/main" id="{05C915B9-FFC2-B6A5-D3EB-9E646FD002D9}"/>
                </a:ext>
              </a:extLst>
            </p:cNvPr>
            <p:cNvSpPr/>
            <p:nvPr/>
          </p:nvSpPr>
          <p:spPr>
            <a:xfrm>
              <a:off x="6303026" y="4847496"/>
              <a:ext cx="786403" cy="18799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38" name="Oval 37">
              <a:extLst>
                <a:ext uri="{FF2B5EF4-FFF2-40B4-BE49-F238E27FC236}">
                  <a16:creationId xmlns:a16="http://schemas.microsoft.com/office/drawing/2014/main" id="{6E70AB7D-E0A5-8F2F-2E35-42C486736109}"/>
                </a:ext>
              </a:extLst>
            </p:cNvPr>
            <p:cNvSpPr/>
            <p:nvPr/>
          </p:nvSpPr>
          <p:spPr>
            <a:xfrm>
              <a:off x="6043775" y="4814226"/>
              <a:ext cx="259251" cy="21269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sp>
          <p:nvSpPr>
            <p:cNvPr id="27" name="Oval 26">
              <a:extLst>
                <a:ext uri="{FF2B5EF4-FFF2-40B4-BE49-F238E27FC236}">
                  <a16:creationId xmlns:a16="http://schemas.microsoft.com/office/drawing/2014/main" id="{B29BDBE4-843F-D5B3-FD93-CBA1EE546464}"/>
                </a:ext>
              </a:extLst>
            </p:cNvPr>
            <p:cNvSpPr/>
            <p:nvPr/>
          </p:nvSpPr>
          <p:spPr>
            <a:xfrm>
              <a:off x="2491611" y="4786913"/>
              <a:ext cx="259251" cy="21269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Arial"/>
              </a:endParaRPr>
            </a:p>
          </p:txBody>
        </p:sp>
      </p:grpSp>
    </p:spTree>
    <p:extLst>
      <p:ext uri="{BB962C8B-B14F-4D97-AF65-F5344CB8AC3E}">
        <p14:creationId xmlns:p14="http://schemas.microsoft.com/office/powerpoint/2010/main" val="3020798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849D1C33-C54E-B9D5-CCAC-BB05613BF7BF}"/>
              </a:ext>
            </a:extLst>
          </p:cNvPr>
          <p:cNvSpPr txBox="1"/>
          <p:nvPr/>
        </p:nvSpPr>
        <p:spPr>
          <a:xfrm>
            <a:off x="234209" y="4311767"/>
            <a:ext cx="2504532" cy="1754326"/>
          </a:xfrm>
          <a:prstGeom prst="rect">
            <a:avLst/>
          </a:prstGeom>
          <a:noFill/>
        </p:spPr>
        <p:txBody>
          <a:bodyPr wrap="square" rtlCol="0">
            <a:spAutoFit/>
          </a:bodyPr>
          <a:lstStyle/>
          <a:p>
            <a:pPr defTabSz="685800">
              <a:defRPr/>
            </a:pPr>
            <a:r>
              <a:rPr lang="en-US" dirty="0">
                <a:solidFill>
                  <a:srgbClr val="FFFFFF"/>
                </a:solidFill>
                <a:latin typeface="Aptos" panose="02110004020202020204"/>
              </a:rPr>
              <a:t>But what about their actual communication experiences? </a:t>
            </a:r>
            <a:br>
              <a:rPr lang="en-US" dirty="0">
                <a:solidFill>
                  <a:srgbClr val="FFFFFF"/>
                </a:solidFill>
                <a:latin typeface="Aptos" panose="02110004020202020204"/>
              </a:rPr>
            </a:br>
            <a:br>
              <a:rPr lang="en-US" dirty="0">
                <a:solidFill>
                  <a:srgbClr val="FFFFFF"/>
                </a:solidFill>
                <a:latin typeface="Aptos" panose="02110004020202020204"/>
              </a:rPr>
            </a:br>
            <a:r>
              <a:rPr lang="en-US" dirty="0">
                <a:solidFill>
                  <a:srgbClr val="FFFFFF"/>
                </a:solidFill>
                <a:latin typeface="Aptos" panose="02110004020202020204"/>
              </a:rPr>
              <a:t>Did the instruction change that? </a:t>
            </a:r>
          </a:p>
        </p:txBody>
      </p:sp>
      <p:sp>
        <p:nvSpPr>
          <p:cNvPr id="8" name="Speech Bubble: Rectangle with Corners Rounded 7">
            <a:extLst>
              <a:ext uri="{FF2B5EF4-FFF2-40B4-BE49-F238E27FC236}">
                <a16:creationId xmlns:a16="http://schemas.microsoft.com/office/drawing/2014/main" id="{B11B1158-0806-E5BB-1669-8C365EFC19E2}"/>
              </a:ext>
            </a:extLst>
          </p:cNvPr>
          <p:cNvSpPr/>
          <p:nvPr/>
        </p:nvSpPr>
        <p:spPr>
          <a:xfrm>
            <a:off x="3012142" y="4311767"/>
            <a:ext cx="3630994" cy="2142822"/>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685800">
              <a:defRPr/>
            </a:pPr>
            <a:r>
              <a:rPr lang="en-US" sz="1400" dirty="0">
                <a:solidFill>
                  <a:srgbClr val="FFFFFF"/>
                </a:solidFill>
                <a:latin typeface="Aptos" panose="02110004020202020204"/>
              </a:rPr>
              <a:t>“I just kind of thought if you show everybody the facts and the logic, they're </a:t>
            </a:r>
            <a:r>
              <a:rPr lang="en-US" sz="1400" dirty="0" err="1">
                <a:solidFill>
                  <a:srgbClr val="FFFFFF"/>
                </a:solidFill>
                <a:latin typeface="Aptos" panose="02110004020202020204"/>
              </a:rPr>
              <a:t>gonna</a:t>
            </a:r>
            <a:r>
              <a:rPr lang="en-US" sz="1400" dirty="0">
                <a:solidFill>
                  <a:srgbClr val="FFFFFF"/>
                </a:solidFill>
                <a:latin typeface="Aptos" panose="02110004020202020204"/>
              </a:rPr>
              <a:t> get it...they'll just accept they’re wrong. So obviously that's not true, but that's what I thought good science communication was, is if you just have an infographic or solid logic, people will understand.”</a:t>
            </a:r>
          </a:p>
        </p:txBody>
      </p:sp>
      <p:sp>
        <p:nvSpPr>
          <p:cNvPr id="9" name="Speech Bubble: Rectangle with Corners Rounded 8">
            <a:extLst>
              <a:ext uri="{FF2B5EF4-FFF2-40B4-BE49-F238E27FC236}">
                <a16:creationId xmlns:a16="http://schemas.microsoft.com/office/drawing/2014/main" id="{3E2451C0-C605-328A-CA87-6CD90FBDA29E}"/>
              </a:ext>
            </a:extLst>
          </p:cNvPr>
          <p:cNvSpPr/>
          <p:nvPr/>
        </p:nvSpPr>
        <p:spPr>
          <a:xfrm>
            <a:off x="7038586" y="4333282"/>
            <a:ext cx="4637888" cy="1981456"/>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56333" defTabSz="685800">
              <a:defRPr/>
            </a:pPr>
            <a:r>
              <a:rPr lang="en-US" sz="1400" dirty="0">
                <a:solidFill>
                  <a:srgbClr val="FFFFFF"/>
                </a:solidFill>
                <a:latin typeface="Aptos" panose="02110004020202020204"/>
              </a:rPr>
              <a:t>"I was able to find more common ground with [my father]…I was able to bring climate change into an issue that he does care about and I was able to talk to him about it from a stance of his shared beliefs…even if we aren't going into all of the science and facts about climate change…we can still have effective communication..."</a:t>
            </a:r>
          </a:p>
        </p:txBody>
      </p:sp>
      <p:sp>
        <p:nvSpPr>
          <p:cNvPr id="27" name="TextBox 26">
            <a:extLst>
              <a:ext uri="{FF2B5EF4-FFF2-40B4-BE49-F238E27FC236}">
                <a16:creationId xmlns:a16="http://schemas.microsoft.com/office/drawing/2014/main" id="{3CB495FE-157A-3C50-425A-B3C2E1C9070E}"/>
              </a:ext>
            </a:extLst>
          </p:cNvPr>
          <p:cNvSpPr txBox="1"/>
          <p:nvPr/>
        </p:nvSpPr>
        <p:spPr>
          <a:xfrm>
            <a:off x="2883049" y="3811216"/>
            <a:ext cx="4155537" cy="369332"/>
          </a:xfrm>
          <a:prstGeom prst="rect">
            <a:avLst/>
          </a:prstGeom>
          <a:noFill/>
        </p:spPr>
        <p:txBody>
          <a:bodyPr wrap="square">
            <a:spAutoFit/>
          </a:bodyPr>
          <a:lstStyle/>
          <a:p>
            <a:pPr marR="56333" defTabSz="685800">
              <a:defRPr/>
            </a:pPr>
            <a:r>
              <a:rPr lang="en-US" b="1" dirty="0">
                <a:solidFill>
                  <a:srgbClr val="FFFFFF"/>
                </a:solidFill>
                <a:latin typeface="Aptos" panose="02110004020202020204"/>
              </a:rPr>
              <a:t>Dee, before instruction perceptions:</a:t>
            </a:r>
          </a:p>
        </p:txBody>
      </p:sp>
      <p:sp>
        <p:nvSpPr>
          <p:cNvPr id="10" name="TextBox 9">
            <a:extLst>
              <a:ext uri="{FF2B5EF4-FFF2-40B4-BE49-F238E27FC236}">
                <a16:creationId xmlns:a16="http://schemas.microsoft.com/office/drawing/2014/main" id="{3DF17DF1-EC2E-F56A-8C66-1840773BA6BA}"/>
              </a:ext>
            </a:extLst>
          </p:cNvPr>
          <p:cNvSpPr txBox="1"/>
          <p:nvPr/>
        </p:nvSpPr>
        <p:spPr>
          <a:xfrm>
            <a:off x="7189721" y="3811216"/>
            <a:ext cx="4278459" cy="369332"/>
          </a:xfrm>
          <a:prstGeom prst="rect">
            <a:avLst/>
          </a:prstGeom>
          <a:noFill/>
        </p:spPr>
        <p:txBody>
          <a:bodyPr wrap="square">
            <a:spAutoFit/>
          </a:bodyPr>
          <a:lstStyle/>
          <a:p>
            <a:pPr marR="56333" defTabSz="685800">
              <a:defRPr/>
            </a:pPr>
            <a:r>
              <a:rPr lang="en-US" b="1" dirty="0">
                <a:solidFill>
                  <a:srgbClr val="FFFFFF"/>
                </a:solidFill>
                <a:latin typeface="Aptos" panose="02110004020202020204"/>
              </a:rPr>
              <a:t>Dee, after instruction experience:</a:t>
            </a:r>
          </a:p>
        </p:txBody>
      </p:sp>
      <p:sp>
        <p:nvSpPr>
          <p:cNvPr id="3" name="TextBox 2">
            <a:extLst>
              <a:ext uri="{FF2B5EF4-FFF2-40B4-BE49-F238E27FC236}">
                <a16:creationId xmlns:a16="http://schemas.microsoft.com/office/drawing/2014/main" id="{FB7BDF76-355A-7C37-2F12-9429BB494A98}"/>
              </a:ext>
            </a:extLst>
          </p:cNvPr>
          <p:cNvSpPr txBox="1"/>
          <p:nvPr/>
        </p:nvSpPr>
        <p:spPr>
          <a:xfrm>
            <a:off x="2738741" y="1255834"/>
            <a:ext cx="3201630" cy="646331"/>
          </a:xfrm>
          <a:prstGeom prst="rect">
            <a:avLst/>
          </a:prstGeom>
          <a:noFill/>
        </p:spPr>
        <p:txBody>
          <a:bodyPr wrap="square" rtlCol="0">
            <a:spAutoFit/>
          </a:bodyPr>
          <a:lstStyle/>
          <a:p>
            <a:pPr defTabSz="685800">
              <a:defRPr/>
            </a:pPr>
            <a:r>
              <a:rPr lang="en-US" dirty="0">
                <a:solidFill>
                  <a:srgbClr val="FFFFFF"/>
                </a:solidFill>
                <a:latin typeface="Aptos" panose="02110004020202020204"/>
              </a:rPr>
              <a:t>Students still recognized their roles as boundary spanners</a:t>
            </a:r>
          </a:p>
        </p:txBody>
      </p:sp>
      <p:sp>
        <p:nvSpPr>
          <p:cNvPr id="4" name="TextBox 3">
            <a:extLst>
              <a:ext uri="{FF2B5EF4-FFF2-40B4-BE49-F238E27FC236}">
                <a16:creationId xmlns:a16="http://schemas.microsoft.com/office/drawing/2014/main" id="{A849C1D8-04A7-72CE-85D6-C09A6D7C880B}"/>
              </a:ext>
            </a:extLst>
          </p:cNvPr>
          <p:cNvSpPr txBox="1"/>
          <p:nvPr/>
        </p:nvSpPr>
        <p:spPr>
          <a:xfrm>
            <a:off x="7038586" y="1253023"/>
            <a:ext cx="4566974" cy="1477328"/>
          </a:xfrm>
          <a:prstGeom prst="rect">
            <a:avLst/>
          </a:prstGeom>
          <a:noFill/>
        </p:spPr>
        <p:txBody>
          <a:bodyPr wrap="square" rtlCol="0">
            <a:spAutoFit/>
          </a:bodyPr>
          <a:lstStyle/>
          <a:p>
            <a:pPr defTabSz="685800">
              <a:defRPr/>
            </a:pPr>
            <a:r>
              <a:rPr lang="en-US" dirty="0">
                <a:solidFill>
                  <a:srgbClr val="FFFFFF"/>
                </a:solidFill>
                <a:latin typeface="Aptos" panose="02110004020202020204"/>
              </a:rPr>
              <a:t>Students recognized the challenges of cultural competence</a:t>
            </a:r>
          </a:p>
          <a:p>
            <a:pPr marL="214313" indent="-214313" defTabSz="685800">
              <a:buFont typeface="Arial" panose="020B0604020202020204" pitchFamily="34" charset="0"/>
              <a:buChar char="•"/>
              <a:defRPr/>
            </a:pPr>
            <a:r>
              <a:rPr lang="en-US" dirty="0">
                <a:solidFill>
                  <a:srgbClr val="FFFFFF"/>
                </a:solidFill>
                <a:latin typeface="Aptos" panose="02110004020202020204"/>
              </a:rPr>
              <a:t>Religious differences</a:t>
            </a:r>
          </a:p>
          <a:p>
            <a:pPr marL="214313" indent="-214313" defTabSz="685800">
              <a:buFont typeface="Arial" panose="020B0604020202020204" pitchFamily="34" charset="0"/>
              <a:buChar char="•"/>
              <a:defRPr/>
            </a:pPr>
            <a:r>
              <a:rPr lang="en-US" dirty="0">
                <a:solidFill>
                  <a:srgbClr val="FFFFFF"/>
                </a:solidFill>
                <a:latin typeface="Aptos" panose="02110004020202020204"/>
              </a:rPr>
              <a:t>Political differences</a:t>
            </a:r>
          </a:p>
          <a:p>
            <a:pPr marL="214313" indent="-214313" defTabSz="685800">
              <a:buFont typeface="Arial" panose="020B0604020202020204" pitchFamily="34" charset="0"/>
              <a:buChar char="•"/>
              <a:defRPr/>
            </a:pPr>
            <a:r>
              <a:rPr lang="en-US" dirty="0">
                <a:solidFill>
                  <a:srgbClr val="FFFFFF"/>
                </a:solidFill>
                <a:latin typeface="Aptos" panose="02110004020202020204"/>
              </a:rPr>
              <a:t>Generational differences</a:t>
            </a:r>
          </a:p>
        </p:txBody>
      </p:sp>
      <p:sp>
        <p:nvSpPr>
          <p:cNvPr id="5" name="TextBox 4">
            <a:extLst>
              <a:ext uri="{FF2B5EF4-FFF2-40B4-BE49-F238E27FC236}">
                <a16:creationId xmlns:a16="http://schemas.microsoft.com/office/drawing/2014/main" id="{DFBA2FB1-F67A-C7B5-1B19-5C41CCB4C8B9}"/>
              </a:ext>
            </a:extLst>
          </p:cNvPr>
          <p:cNvSpPr txBox="1"/>
          <p:nvPr/>
        </p:nvSpPr>
        <p:spPr>
          <a:xfrm>
            <a:off x="2731913" y="2505670"/>
            <a:ext cx="4457808" cy="923330"/>
          </a:xfrm>
          <a:prstGeom prst="rect">
            <a:avLst/>
          </a:prstGeom>
          <a:noFill/>
        </p:spPr>
        <p:txBody>
          <a:bodyPr wrap="square" rtlCol="0">
            <a:spAutoFit/>
          </a:bodyPr>
          <a:lstStyle/>
          <a:p>
            <a:pPr defTabSz="685800">
              <a:defRPr/>
            </a:pPr>
            <a:r>
              <a:rPr lang="en-US" dirty="0">
                <a:solidFill>
                  <a:srgbClr val="FFFFFF"/>
                </a:solidFill>
                <a:latin typeface="Aptos" panose="02110004020202020204"/>
              </a:rPr>
              <a:t>Students described that their science communication perceptions and experiences changed after instruction </a:t>
            </a:r>
          </a:p>
        </p:txBody>
      </p:sp>
      <p:sp>
        <p:nvSpPr>
          <p:cNvPr id="11" name="Title 1">
            <a:extLst>
              <a:ext uri="{FF2B5EF4-FFF2-40B4-BE49-F238E27FC236}">
                <a16:creationId xmlns:a16="http://schemas.microsoft.com/office/drawing/2014/main" id="{A317849C-475E-EE38-12B7-6EC8EDFF26B7}"/>
              </a:ext>
            </a:extLst>
          </p:cNvPr>
          <p:cNvSpPr>
            <a:spLocks noGrp="1"/>
          </p:cNvSpPr>
          <p:nvPr>
            <p:ph type="title"/>
          </p:nvPr>
        </p:nvSpPr>
        <p:spPr>
          <a:xfrm>
            <a:off x="1840430" y="266200"/>
            <a:ext cx="8199882" cy="583823"/>
          </a:xfrm>
        </p:spPr>
        <p:txBody>
          <a:bodyPr vert="horz" lIns="68580" tIns="34290" rIns="68580" bIns="34290" rtlCol="0" anchor="ctr">
            <a:noAutofit/>
          </a:bodyPr>
          <a:lstStyle/>
          <a:p>
            <a:pPr algn="ctr"/>
            <a:r>
              <a:rPr lang="en-US" sz="2400" b="1" dirty="0">
                <a:solidFill>
                  <a:srgbClr val="FFFFFF"/>
                </a:solidFill>
                <a:latin typeface="+mn-lt"/>
              </a:rPr>
              <a:t>Impacts of communication instruction, </a:t>
            </a:r>
            <a:r>
              <a:rPr lang="en-US" sz="2400" b="1" i="1" dirty="0">
                <a:solidFill>
                  <a:srgbClr val="FFFFFF"/>
                </a:solidFill>
                <a:latin typeface="+mn-lt"/>
              </a:rPr>
              <a:t>months later</a:t>
            </a:r>
          </a:p>
        </p:txBody>
      </p:sp>
      <p:sp>
        <p:nvSpPr>
          <p:cNvPr id="6" name="TextBox 5">
            <a:extLst>
              <a:ext uri="{FF2B5EF4-FFF2-40B4-BE49-F238E27FC236}">
                <a16:creationId xmlns:a16="http://schemas.microsoft.com/office/drawing/2014/main" id="{0738DB90-4611-D5D7-F7E7-C306B6A88C08}"/>
              </a:ext>
            </a:extLst>
          </p:cNvPr>
          <p:cNvSpPr txBox="1"/>
          <p:nvPr/>
        </p:nvSpPr>
        <p:spPr>
          <a:xfrm>
            <a:off x="333955" y="1756169"/>
            <a:ext cx="1988694" cy="738664"/>
          </a:xfrm>
          <a:prstGeom prst="rect">
            <a:avLst/>
          </a:prstGeom>
          <a:noFill/>
        </p:spPr>
        <p:txBody>
          <a:bodyPr wrap="square" rtlCol="0">
            <a:spAutoFit/>
          </a:bodyPr>
          <a:lstStyle/>
          <a:p>
            <a:pPr algn="ctr" defTabSz="685800">
              <a:defRPr/>
            </a:pPr>
            <a:r>
              <a:rPr lang="en-US" sz="1400" dirty="0">
                <a:solidFill>
                  <a:srgbClr val="FFFFFF"/>
                </a:solidFill>
                <a:latin typeface="Calibri" panose="020F0502020204030204"/>
              </a:rPr>
              <a:t>22 MTSU biology students who received communication training </a:t>
            </a:r>
          </a:p>
        </p:txBody>
      </p:sp>
      <p:pic>
        <p:nvPicPr>
          <p:cNvPr id="7" name="Graphic 6" descr="Boardroom with solid fill">
            <a:extLst>
              <a:ext uri="{FF2B5EF4-FFF2-40B4-BE49-F238E27FC236}">
                <a16:creationId xmlns:a16="http://schemas.microsoft.com/office/drawing/2014/main" id="{0014487A-8F64-75F4-A71E-B80B30E25F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0994" y="724729"/>
            <a:ext cx="1155563" cy="1155563"/>
          </a:xfrm>
          <a:prstGeom prst="rect">
            <a:avLst/>
          </a:prstGeom>
        </p:spPr>
      </p:pic>
    </p:spTree>
    <p:extLst>
      <p:ext uri="{BB962C8B-B14F-4D97-AF65-F5344CB8AC3E}">
        <p14:creationId xmlns:p14="http://schemas.microsoft.com/office/powerpoint/2010/main" val="154308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8" grpId="0" animBg="1"/>
      <p:bldP spid="9" grpId="0" animBg="1"/>
      <p:bldP spid="27" grpId="0"/>
      <p:bldP spid="10" grpId="0"/>
      <p:bldP spid="3" grpId="0"/>
      <p:bldP spid="4"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0E67-F01F-1564-85C8-4DF106C5A044}"/>
              </a:ext>
            </a:extLst>
          </p:cNvPr>
          <p:cNvSpPr>
            <a:spLocks noGrp="1"/>
          </p:cNvSpPr>
          <p:nvPr>
            <p:ph type="title"/>
          </p:nvPr>
        </p:nvSpPr>
        <p:spPr/>
        <p:txBody>
          <a:bodyPr/>
          <a:lstStyle/>
          <a:p>
            <a:r>
              <a:rPr lang="en-US"/>
              <a:t>Feedback and Questions</a:t>
            </a:r>
          </a:p>
        </p:txBody>
      </p:sp>
      <p:sp>
        <p:nvSpPr>
          <p:cNvPr id="3" name="Content Placeholder 2">
            <a:extLst>
              <a:ext uri="{FF2B5EF4-FFF2-40B4-BE49-F238E27FC236}">
                <a16:creationId xmlns:a16="http://schemas.microsoft.com/office/drawing/2014/main" id="{C07E5C7F-F23C-64FD-9ED5-8555C46C84CA}"/>
              </a:ext>
            </a:extLst>
          </p:cNvPr>
          <p:cNvSpPr>
            <a:spLocks noGrp="1"/>
          </p:cNvSpPr>
          <p:nvPr>
            <p:ph idx="1"/>
          </p:nvPr>
        </p:nvSpPr>
        <p:spPr>
          <a:xfrm>
            <a:off x="838199" y="1825625"/>
            <a:ext cx="9360049" cy="4351338"/>
          </a:xfrm>
        </p:spPr>
        <p:txBody>
          <a:bodyPr>
            <a:normAutofit/>
          </a:bodyPr>
          <a:lstStyle/>
          <a:p>
            <a:pPr marL="0" indent="0">
              <a:buNone/>
            </a:pPr>
            <a:r>
              <a:rPr lang="en-US" dirty="0"/>
              <a:t>Write any questions or feedback you have about class today.</a:t>
            </a:r>
            <a:br>
              <a:rPr lang="en-US" dirty="0"/>
            </a:br>
            <a:br>
              <a:rPr lang="en-US" dirty="0"/>
            </a:br>
            <a:r>
              <a:rPr lang="en-US" dirty="0"/>
              <a:t>It is anonymous so you don’t need to include your name!</a:t>
            </a:r>
          </a:p>
          <a:p>
            <a:pPr marL="0" indent="0">
              <a:buNone/>
            </a:pPr>
            <a:endParaRPr lang="en-US" dirty="0"/>
          </a:p>
          <a:p>
            <a:pPr marL="0" indent="0">
              <a:buNone/>
            </a:pPr>
            <a:r>
              <a:rPr lang="en-US" dirty="0"/>
              <a:t>I will respond to your feedback and questions next time!</a:t>
            </a:r>
          </a:p>
          <a:p>
            <a:pPr marL="0" indent="0">
              <a:buNone/>
            </a:pPr>
            <a:endParaRPr lang="en-US" dirty="0"/>
          </a:p>
          <a:p>
            <a:pPr marL="0" indent="0">
              <a:buNone/>
            </a:pPr>
            <a:r>
              <a:rPr lang="en-US" dirty="0"/>
              <a:t>3 minutes</a:t>
            </a:r>
          </a:p>
        </p:txBody>
      </p:sp>
    </p:spTree>
    <p:extLst>
      <p:ext uri="{BB962C8B-B14F-4D97-AF65-F5344CB8AC3E}">
        <p14:creationId xmlns:p14="http://schemas.microsoft.com/office/powerpoint/2010/main" val="2405358904"/>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3.xml><?xml version="1.0" encoding="utf-8"?>
<a:theme xmlns:a="http://schemas.openxmlformats.org/drawingml/2006/main" name="1_Office Theme">
  <a:themeElements>
    <a:clrScheme name="Custom 1">
      <a:dk1>
        <a:srgbClr val="FFFFFF"/>
      </a:dk1>
      <a:lt1>
        <a:sysClr val="window" lastClr="FFFFFF"/>
      </a:lt1>
      <a:dk2>
        <a:srgbClr val="44546A"/>
      </a:dk2>
      <a:lt2>
        <a:srgbClr val="E7E6E6"/>
      </a:lt2>
      <a:accent1>
        <a:srgbClr val="C00000"/>
      </a:accent1>
      <a:accent2>
        <a:srgbClr val="ED7D31"/>
      </a:accent2>
      <a:accent3>
        <a:srgbClr val="FFC000"/>
      </a:accent3>
      <a:accent4>
        <a:srgbClr val="538135"/>
      </a:accent4>
      <a:accent5>
        <a:srgbClr val="023160"/>
      </a:accent5>
      <a:accent6>
        <a:srgbClr val="6F3B55"/>
      </a:accent6>
      <a:hlink>
        <a:srgbClr val="ADB9CA"/>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0" id="{6D7D8D7C-9A48-4894-8FE6-40A18AD7AC8A}" vid="{2B1A9EEC-7A66-4C4C-9A77-4C0868CDCBA4}"/>
    </a:ext>
  </a:extLst>
</a:theme>
</file>

<file path=ppt/theme/theme4.xml><?xml version="1.0" encoding="utf-8"?>
<a:theme xmlns:a="http://schemas.openxmlformats.org/drawingml/2006/main" name="4_Office Theme">
  <a:themeElements>
    <a:clrScheme name="Custom 1">
      <a:dk1>
        <a:srgbClr val="FFFFFF"/>
      </a:dk1>
      <a:lt1>
        <a:sysClr val="window" lastClr="FFFFFF"/>
      </a:lt1>
      <a:dk2>
        <a:srgbClr val="FFFF69"/>
      </a:dk2>
      <a:lt2>
        <a:srgbClr val="FFFF69"/>
      </a:lt2>
      <a:accent1>
        <a:srgbClr val="2B5259"/>
      </a:accent1>
      <a:accent2>
        <a:srgbClr val="BF4F14"/>
      </a:accent2>
      <a:accent3>
        <a:srgbClr val="196B24"/>
      </a:accent3>
      <a:accent4>
        <a:srgbClr val="0F9ED5"/>
      </a:accent4>
      <a:accent5>
        <a:srgbClr val="A02B93"/>
      </a:accent5>
      <a:accent6>
        <a:srgbClr val="4EA72E"/>
      </a:accent6>
      <a:hlink>
        <a:srgbClr val="467886"/>
      </a:hlink>
      <a:folHlink>
        <a:srgbClr val="FFFFFF"/>
      </a:folHlink>
    </a:clrScheme>
    <a:fontScheme name="Defaul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Default Theme">
  <a:themeElements>
    <a:clrScheme name="Custom 1">
      <a:dk1>
        <a:srgbClr val="FFFFFF"/>
      </a:dk1>
      <a:lt1>
        <a:sysClr val="window" lastClr="FFFFFF"/>
      </a:lt1>
      <a:dk2>
        <a:srgbClr val="FFFF69"/>
      </a:dk2>
      <a:lt2>
        <a:srgbClr val="FFFF69"/>
      </a:lt2>
      <a:accent1>
        <a:srgbClr val="2B5259"/>
      </a:accent1>
      <a:accent2>
        <a:srgbClr val="BF4F14"/>
      </a:accent2>
      <a:accent3>
        <a:srgbClr val="196B24"/>
      </a:accent3>
      <a:accent4>
        <a:srgbClr val="0F9ED5"/>
      </a:accent4>
      <a:accent5>
        <a:srgbClr val="A02B93"/>
      </a:accent5>
      <a:accent6>
        <a:srgbClr val="4EA72E"/>
      </a:accent6>
      <a:hlink>
        <a:srgbClr val="467886"/>
      </a:hlink>
      <a:folHlink>
        <a:srgbClr val="FFFFFF"/>
      </a:folHlink>
    </a:clrScheme>
    <a:fontScheme name="Defaul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efault Theme" id="{816C412D-0F85-4D8C-81C0-D93DF53BE9CC}" vid="{86694551-1086-404E-852B-49962A95720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62ebf40-80b2-40ba-86fe-6dd409acb499}" enabled="0" method="" siteId="{762ebf40-80b2-40ba-86fe-6dd409acb499}" removed="1"/>
</clbl:labelList>
</file>

<file path=docProps/app.xml><?xml version="1.0" encoding="utf-8"?>
<Properties xmlns="http://schemas.openxmlformats.org/officeDocument/2006/extended-properties" xmlns:vt="http://schemas.openxmlformats.org/officeDocument/2006/docPropsVTypes">
  <TotalTime>14041</TotalTime>
  <Words>3049</Words>
  <Application>Microsoft Office PowerPoint</Application>
  <PresentationFormat>Widescreen</PresentationFormat>
  <Paragraphs>437</Paragraphs>
  <Slides>36</Slides>
  <Notes>27</Notes>
  <HiddenSlides>0</HiddenSlides>
  <MMClips>1</MMClips>
  <ScaleCrop>false</ScaleCrop>
  <HeadingPairs>
    <vt:vector size="4" baseType="variant">
      <vt:variant>
        <vt:lpstr>Theme</vt:lpstr>
      </vt:variant>
      <vt:variant>
        <vt:i4>5</vt:i4>
      </vt:variant>
      <vt:variant>
        <vt:lpstr>Slide Titles</vt:lpstr>
      </vt:variant>
      <vt:variant>
        <vt:i4>36</vt:i4>
      </vt:variant>
    </vt:vector>
  </HeadingPairs>
  <TitlesOfParts>
    <vt:vector size="41" baseType="lpstr">
      <vt:lpstr>Office Theme</vt:lpstr>
      <vt:lpstr>1_Elemental</vt:lpstr>
      <vt:lpstr>1_Office Theme</vt:lpstr>
      <vt:lpstr>4_Office Theme</vt:lpstr>
      <vt:lpstr>Default Theme</vt:lpstr>
      <vt:lpstr>Undergraduate Science Communication about Culturally Controversial Science Topics</vt:lpstr>
      <vt:lpstr>PowerPoint Presentation</vt:lpstr>
      <vt:lpstr>What we have learned this semester….</vt:lpstr>
      <vt:lpstr>Today: How do we communicate effectively about topics that are controversial but important?</vt:lpstr>
      <vt:lpstr>PowerPoint Presentation</vt:lpstr>
      <vt:lpstr>PowerPoint Presentation</vt:lpstr>
      <vt:lpstr>What is scientific consensus? How is it determined? </vt:lpstr>
      <vt:lpstr>PowerPoint Presentation</vt:lpstr>
      <vt:lpstr>What causes rejection of scientifically valid information?</vt:lpstr>
      <vt:lpstr>What causes rejection of scientifically valid information?</vt:lpstr>
      <vt:lpstr>Example of bad science communication about a culturally controversial science topic</vt:lpstr>
      <vt:lpstr>Potential roles of scientists, science educators, healthcare providers in communication about controversial science topics</vt:lpstr>
      <vt:lpstr>Example of good science communication about culturally controversial science topics</vt:lpstr>
      <vt:lpstr>Consequences of bad science communication…</vt:lpstr>
      <vt:lpstr>For which groups in society could you be a boundary spanner about science?   For which groups might you need to develop cultural competence?</vt:lpstr>
      <vt:lpstr>PowerPoint Presentation</vt:lpstr>
      <vt:lpstr>Effective science communication is a two-way street</vt:lpstr>
      <vt:lpstr>What about undergraduate students?  How do they communicate about culturally controversial science topics?  Do they take a deficit approach, or do they use effective science communication principles?  </vt:lpstr>
      <vt:lpstr>Studies exploring undergraduate biology students’  current CCST communication experiences</vt:lpstr>
      <vt:lpstr>Finding 1: Students are already science communicators  about controversial topics </vt:lpstr>
      <vt:lpstr>Finding 2: Students report using strategies  that are ineffective for reducing conflict</vt:lpstr>
      <vt:lpstr>Finding 3: Undergraduate biology students often do not encounter formal education about CCST communication</vt:lpstr>
      <vt:lpstr>Exploring Potential Boundary Spanners</vt:lpstr>
      <vt:lpstr>Undergraduate biology students feel a responsibility to be boundary spanners between the science community and their home communities.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Impacts of communication instruction, months later</vt:lpstr>
      <vt:lpstr>Feedback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Liz Barnes</dc:creator>
  <cp:lastModifiedBy>Liz Barnes</cp:lastModifiedBy>
  <cp:revision>8</cp:revision>
  <dcterms:created xsi:type="dcterms:W3CDTF">2024-02-01T17:32:01Z</dcterms:created>
  <dcterms:modified xsi:type="dcterms:W3CDTF">2026-10-28T13:41:58Z</dcterms:modified>
</cp:coreProperties>
</file>