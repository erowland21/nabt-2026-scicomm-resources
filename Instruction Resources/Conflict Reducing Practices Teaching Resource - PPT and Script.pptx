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42"/>
  </p:notesMasterIdLst>
  <p:sldIdLst>
    <p:sldId id="269" r:id="rId2"/>
    <p:sldId id="343" r:id="rId3"/>
    <p:sldId id="272" r:id="rId4"/>
    <p:sldId id="274" r:id="rId5"/>
    <p:sldId id="273" r:id="rId6"/>
    <p:sldId id="275" r:id="rId7"/>
    <p:sldId id="277" r:id="rId8"/>
    <p:sldId id="342" r:id="rId9"/>
    <p:sldId id="339" r:id="rId10"/>
    <p:sldId id="341" r:id="rId11"/>
    <p:sldId id="279" r:id="rId12"/>
    <p:sldId id="338" r:id="rId13"/>
    <p:sldId id="315" r:id="rId14"/>
    <p:sldId id="329" r:id="rId15"/>
    <p:sldId id="290" r:id="rId16"/>
    <p:sldId id="326" r:id="rId17"/>
    <p:sldId id="282" r:id="rId18"/>
    <p:sldId id="327" r:id="rId19"/>
    <p:sldId id="286" r:id="rId20"/>
    <p:sldId id="328" r:id="rId21"/>
    <p:sldId id="283" r:id="rId22"/>
    <p:sldId id="298" r:id="rId23"/>
    <p:sldId id="284" r:id="rId24"/>
    <p:sldId id="306" r:id="rId25"/>
    <p:sldId id="314" r:id="rId26"/>
    <p:sldId id="308" r:id="rId27"/>
    <p:sldId id="302" r:id="rId28"/>
    <p:sldId id="304" r:id="rId29"/>
    <p:sldId id="310" r:id="rId30"/>
    <p:sldId id="330" r:id="rId31"/>
    <p:sldId id="316" r:id="rId32"/>
    <p:sldId id="331" r:id="rId33"/>
    <p:sldId id="332" r:id="rId34"/>
    <p:sldId id="333" r:id="rId35"/>
    <p:sldId id="334" r:id="rId36"/>
    <p:sldId id="335" r:id="rId37"/>
    <p:sldId id="319" r:id="rId38"/>
    <p:sldId id="320" r:id="rId39"/>
    <p:sldId id="336" r:id="rId40"/>
    <p:sldId id="337" r:id="rId41"/>
  </p:sldIdLst>
  <p:sldSz cx="12192000" cy="6858000"/>
  <p:notesSz cx="6858000" cy="9144000"/>
  <p:embeddedFontLst>
    <p:embeddedFont>
      <p:font typeface="open sans" panose="020B0606030504020204" pitchFamily="34" charset="0"/>
      <p:regular r:id="rId43"/>
      <p:italic r:id="rId44"/>
    </p:embeddedFont>
    <p:embeddedFont>
      <p:font typeface="Palatino Linotype" panose="02040502050505030304" pitchFamily="18" charset="0"/>
      <p:regular r:id="rId45"/>
      <p:bold r:id="rId46"/>
      <p:italic r:id="rId47"/>
      <p:boldItalic r:id="rId48"/>
    </p:embeddedFont>
    <p:embeddedFont>
      <p:font typeface="Roboto" panose="02000000000000000000" pitchFamily="2" charset="0"/>
      <p:regular r:id="rId49"/>
    </p:embeddedFont>
    <p:embeddedFont>
      <p:font typeface="Segoe UI" panose="020B0502040204020203" pitchFamily="34" charset="0"/>
      <p:regular r:id="rId50"/>
      <p:bold r:id="rId51"/>
      <p:italic r:id="rId52"/>
      <p:boldItalic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1"/>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16" d="100"/>
          <a:sy n="116" d="100"/>
        </p:scale>
        <p:origin x="19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07DE16-7828-49AF-B664-ADE3E0F7E9A7}"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8AEED7-D5B3-4851-A972-34CEA0924D08}" type="slidenum">
              <a:rPr lang="en-US" smtClean="0"/>
              <a:t>‹#›</a:t>
            </a:fld>
            <a:endParaRPr lang="en-US"/>
          </a:p>
        </p:txBody>
      </p:sp>
    </p:spTree>
    <p:extLst>
      <p:ext uri="{BB962C8B-B14F-4D97-AF65-F5344CB8AC3E}">
        <p14:creationId xmlns:p14="http://schemas.microsoft.com/office/powerpoint/2010/main" val="1713923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en.wikipedia.org/wiki/North_Carolina_Agricultural_and_Technical_State_University"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1800" dirty="0">
                <a:effectLst/>
                <a:latin typeface="Times New Roman" panose="02020603050405020304" pitchFamily="18" charset="0"/>
                <a:ea typeface="Calibri" panose="020F0502020204030204" pitchFamily="34" charset="0"/>
              </a:rPr>
            </a:b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68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53E9A-ED84-6A1A-72AF-5F36A68E5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10128-BB32-8991-FE82-7998C226F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44AC97-8837-2600-EB92-FFEBAC385F76}"/>
              </a:ext>
            </a:extLst>
          </p:cNvPr>
          <p:cNvSpPr>
            <a:spLocks noGrp="1"/>
          </p:cNvSpPr>
          <p:nvPr>
            <p:ph type="body" idx="1"/>
          </p:nvPr>
        </p:nvSpPr>
        <p:spPr/>
        <p:txBody>
          <a:bodyPr/>
          <a:lstStyle/>
          <a:p>
            <a:r>
              <a:rPr lang="en-US" sz="1800" dirty="0">
                <a:effectLst/>
                <a:latin typeface="Times New Roman" panose="02020603050405020304" pitchFamily="18" charset="0"/>
                <a:ea typeface="Calibri" panose="020F0502020204030204" pitchFamily="34" charset="0"/>
              </a:rPr>
              <a:t>Hello biology students! Today, I’m really excited to introduce you to some important concepts in evolutionary biology. </a:t>
            </a:r>
          </a:p>
          <a:p>
            <a:br>
              <a:rPr lang="en-US" sz="1800" dirty="0">
                <a:effectLst/>
                <a:latin typeface="Times New Roman" panose="02020603050405020304" pitchFamily="18" charset="0"/>
                <a:ea typeface="Calibri" panose="020F0502020204030204" pitchFamily="34" charset="0"/>
              </a:rPr>
            </a:br>
            <a:endParaRPr lang="en-US" dirty="0"/>
          </a:p>
        </p:txBody>
      </p:sp>
      <p:sp>
        <p:nvSpPr>
          <p:cNvPr id="4" name="Slide Number Placeholder 3">
            <a:extLst>
              <a:ext uri="{FF2B5EF4-FFF2-40B4-BE49-F238E27FC236}">
                <a16:creationId xmlns:a16="http://schemas.microsoft.com/office/drawing/2014/main" id="{9634A4F4-BA06-FCB5-135D-FB26363BC9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4263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But, what is evolution actually? In biology, evolution is change in a population of organisms over time </a:t>
            </a:r>
          </a:p>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biologists study how evolution has happened in the past </a:t>
            </a:r>
          </a:p>
          <a:p>
            <a:pPr marL="285750" indent="-285750">
              <a:buFont typeface="Arial" panose="020B0604020202020204" pitchFamily="34" charset="0"/>
              <a:buChar char="•"/>
            </a:pPr>
            <a:r>
              <a:rPr lang="en-US" sz="1800" dirty="0">
                <a:effectLst/>
                <a:latin typeface="Times New Roman" panose="02020603050405020304" pitchFamily="18" charset="0"/>
              </a:rPr>
              <a:t>And how it is still happening today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4272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Calibri" panose="020F0502020204030204" pitchFamily="34" charset="0"/>
              </a:rPr>
              <a:t>Evolution is considered by biologists to be the foundation of our entire discipline with many biologists saying that nothing in biology fully makes sense until we take into account evolution.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1975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because evolution explains so much about biology</a:t>
            </a:r>
          </a:p>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Evolution explains how organisms came to function the way they do and how many organisms are such a good fit to their environment</a:t>
            </a:r>
          </a:p>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And evolution solves the age-old conundrum in biology, why is life so diverse….</a:t>
            </a:r>
          </a:p>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…but </a:t>
            </a:r>
            <a:r>
              <a:rPr lang="en-US" sz="1800" i="1" dirty="0">
                <a:effectLst/>
                <a:latin typeface="Times New Roman" panose="02020603050405020304" pitchFamily="18" charset="0"/>
                <a:ea typeface="Calibri" panose="020F0502020204030204" pitchFamily="34" charset="0"/>
              </a:rPr>
              <a:t>also</a:t>
            </a:r>
            <a:r>
              <a:rPr lang="en-US" sz="1800" dirty="0">
                <a:effectLst/>
                <a:latin typeface="Times New Roman" panose="02020603050405020304" pitchFamily="18" charset="0"/>
                <a:ea typeface="Calibri" panose="020F0502020204030204" pitchFamily="34" charset="0"/>
              </a:rPr>
              <a:t> incredibly similar in some of the most fundamental ways, like our DNA? For example, even though species are so different, humans share ~96% of their DNA with chimpanzees and ~60% of their DNA with a banana. Evolution explains this through the idea that all of life has evolved from a common ancestor.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6546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0"/>
              </a:spcAft>
            </a:pPr>
            <a:r>
              <a:rPr lang="en-US" sz="1800" dirty="0">
                <a:effectLst/>
                <a:latin typeface="Times New Roman" panose="02020603050405020304" pitchFamily="18" charset="0"/>
                <a:ea typeface="Calibri" panose="020F0502020204030204" pitchFamily="34" charset="0"/>
              </a:rPr>
              <a:t>In fact, the grand implication of evolutionary biology is that all of life, including humans, are part of one big family tree that has been growing for more than 3.8 billion years from a common ancestor. The tips of the tree are like the existing species today and the branches and trunk represent our common ancestry. The evidence for this pattern of evolution is so strong that it is accepted by 98% of biologists. It is hard to be a biologist these days if you do not accept evolution.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319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However, some people find it hard to accept evolution as a good explanation for how humans and other organisms have developed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and one major reason for this is that people are concerned that evolution conflicts with their religious beliefs, culture, or teachings</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Since these religious communities and belief systems are such a fundamental part of many students’ lives and identities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it is understandable how someone might struggle to accept evolution if it seems to contradict their religion.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3810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0105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I really understand this feeling because I was brought up in a very Christian family who thought evolution and religion were incompatible. So, when I went to college and learned about evolution, there was a period where I struggled with whether I could accept evolution as a Christian, especially because I saw other religious students in my classes who were sincerely struggling with whether to accept evolution as biology students. But ultimately, I came to realize that my faith and evolution were not really conflicting the way I had always perceived them to be and now I’ve become comfortable with both my beliefs as a Christian and my acceptance of evolution as a biologist. So now one thing I am really committed to doing is that when I </a:t>
            </a:r>
            <a:r>
              <a:rPr lang="en-US" sz="1800">
                <a:effectLst/>
                <a:latin typeface="Times New Roman" panose="02020603050405020304" pitchFamily="18" charset="0"/>
                <a:ea typeface="Calibri" panose="020F0502020204030204" pitchFamily="34" charset="0"/>
              </a:rPr>
              <a:t>teach evolution, </a:t>
            </a:r>
            <a:r>
              <a:rPr lang="en-US" sz="1800" dirty="0">
                <a:effectLst/>
                <a:latin typeface="Times New Roman" panose="02020603050405020304" pitchFamily="18" charset="0"/>
                <a:ea typeface="Calibri" panose="020F0502020204030204" pitchFamily="34" charset="0"/>
              </a:rPr>
              <a:t>I </a:t>
            </a:r>
            <a:r>
              <a:rPr lang="en-US" sz="1800">
                <a:effectLst/>
                <a:latin typeface="Times New Roman" panose="02020603050405020304" pitchFamily="18" charset="0"/>
                <a:ea typeface="Calibri" panose="020F0502020204030204" pitchFamily="34" charset="0"/>
              </a:rPr>
              <a:t>show ways </a:t>
            </a:r>
            <a:r>
              <a:rPr lang="en-US" sz="1800" dirty="0">
                <a:effectLst/>
                <a:latin typeface="Times New Roman" panose="02020603050405020304" pitchFamily="18" charset="0"/>
                <a:ea typeface="Calibri" panose="020F0502020204030204" pitchFamily="34" charset="0"/>
              </a:rPr>
              <a:t>that evolution and religion are not necessarily in conflict so, hopefully, they do not have to struggle with it as much as I did when I was a student.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1298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I have my own experience having to reconcile religion and evolution, but as a non-religious person, actually. I grew up in a non-religious household and so there was no reason for me to doubt evolution when I learned about it in college. But I did think that evolution and religion were definitely in conflict because that was what I had seen and heard in our culture, that a belief in God and evolution were essentially incompatible. I also saw religious students in my classes who were sincerely struggling with whether to accept evolution as biology students. But I started to learn a lot about how religion and evolution did not necessarily conflict and now even as someone who does not have a religious faith, I understand how evolution and religion can be compatible. So, now one thing I am really committed to doing when I teach evolution is showing students ways that evolution and religion are not necessarily in conflict.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4236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But during this video, it doesn’t matter what your religious beliefs or your beliefs about evolution are. Whether you are a Christian, Atheist, Muslim, Agnostic </a:t>
            </a:r>
            <a:r>
              <a:rPr lang="en-US" sz="1800" dirty="0">
                <a:effectLst/>
                <a:latin typeface="Segoe UI" panose="020B0502040204020203" pitchFamily="34" charset="0"/>
              </a:rPr>
              <a:t>or something else</a:t>
            </a:r>
            <a:r>
              <a:rPr lang="en-US" sz="1800" dirty="0">
                <a:effectLst/>
                <a:latin typeface="Times New Roman" panose="02020603050405020304" pitchFamily="18" charset="0"/>
                <a:ea typeface="Calibri" panose="020F0502020204030204" pitchFamily="34" charset="0"/>
              </a:rPr>
              <a:t>, I am going to do my best to present evolution in a way that is respectful of those beliefs because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Ultimately what you decide to believe about evolution is up to you based on your own evaluation of the evidence. To help inform your views however we are also going to talk a lot about the nature of science itself and about the different views that exist on religion and evolution. Then, we will cover the scientific evidence for evolution at the end of the video.</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7581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To fully appreciate different views on religion and evolution we must understand a bit about what science as a tool for gaining knowledge is able to do. Because often students believe that evidence for evolution somehow disproves the existence of God. However, it is more scientifically accurate to say that science and thus evolution, is agnostic about God -- </a:t>
            </a:r>
            <a:r>
              <a:rPr lang="en-US" sz="1800" dirty="0">
                <a:effectLst/>
                <a:latin typeface="Segoe UI" panose="020B0502040204020203" pitchFamily="34" charset="0"/>
              </a:rPr>
              <a:t>evolution claims neither faith nor disbelief in God</a:t>
            </a:r>
            <a:r>
              <a:rPr lang="en-US" sz="1800" dirty="0">
                <a:effectLst/>
                <a:latin typeface="Times New Roman" panose="02020603050405020304" pitchFamily="18" charset="0"/>
                <a:ea typeface="Calibri" panose="020F0502020204030204" pitchFamily="34" charset="0"/>
              </a:rPr>
              <a:t>. Why?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Well because God is usually considered by most to operate outside of the natural world and science can only study things that operate inside the natural world.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So, science answers questions like, when did something happen, how did it happen, where did it happen and what will happen in the future if we take some course of action.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But whether God exists or how God influences the world is often seen as outside the realm of scientific inquiry because most people see God as operating as an entity operating outside of natural law. And it is OK that science can’t test that!  We use </a:t>
            </a:r>
            <a:r>
              <a:rPr lang="en-US" sz="1800" i="1" dirty="0">
                <a:effectLst/>
                <a:latin typeface="Times New Roman" panose="02020603050405020304" pitchFamily="18" charset="0"/>
                <a:ea typeface="Calibri" panose="020F0502020204030204" pitchFamily="34" charset="0"/>
              </a:rPr>
              <a:t>many</a:t>
            </a:r>
            <a:r>
              <a:rPr lang="en-US" sz="1800" dirty="0">
                <a:effectLst/>
                <a:latin typeface="Times New Roman" panose="02020603050405020304" pitchFamily="18" charset="0"/>
                <a:ea typeface="Calibri" panose="020F0502020204030204" pitchFamily="34" charset="0"/>
              </a:rPr>
              <a:t> ways of gaining knowledge as humans not just science. For instance, science and philosophy are different disciplines for which unique knowledge is built. Knowledge from these different disciplines often do not conflict because they ask different questions and have different norms for what constitutes knowledge. In moral philosophy, for instance, people ask questions about what are the correct moral actions to take in life and what constitutes a good life? The role of religion is different for different people, but many people think that religion is a moral philosophy, answering questions about morality and the purpose of life. Religion also tends to address the existence and nature of a God or gods.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1028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Conflict between religion and science tends to occur when they try to answer the same questions – for instance when a scientist claims that science disproves God, they are trying to use science to answer questions about something that can not really be explored using science. When a person of faith says that the Bible disproves evolution, they are trying to use religion to explain the realm of science – but if science and religion answer different questions then they cannot conflict – they can only inform one another. For instance, science may not be able to tell us what ethics we should live by, but it can help live our values – whether they come from religion, philosophy, or just our moral intuition. For instance, many students want to become healthcare providers like doctors and nurses because they have a personal ethic of wanting to help people within their communities. Scientific researchers decide to conduct studies testing the effectiveness of life saving drugs because they have the personal ethic of wanting to reduce human suffering. Some scientists see their religion as shaping their values of serving others and reducing human suffering, which has informed the research and science they choose to conduct. So, although these areas can inform one another they do not need to conflict.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And since science is bound to answering questions about the natural world, evolution is most accurately agnostic about the existence or influence of God on the creation of life.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0594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t>In fact, an evolutionary biologist was the one who created the word “agnostic”. Thomas Henry Huxley was considered Charles Darwin's bulldog for his unwavering defense of evolutionary theory and he also coined the term agnostic specifically to describe scientific beliefs. He said that agnosticism is the essence of science and it means that we can’t say we know or believe things that we have no scientific grounds for claiming... This makes both the personal belief in both atheism and a God compatible with an agnostic science because an agnostic does not support or deny either view.</a:t>
            </a: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81864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And this demarcation of science and religion opens a lot of possibilities of how one can view the relationship between religion and evolution.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Oftentimes, people think that you can have one of two views. Either you believe evolution and you’re an atheist</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or you do not believe evolution and are religious.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However, there are a range of views in between these two stereotypes that represent different levels of compatibility between religion and evolution. You took a survey before this video in which you chose one of these views. Now we are going to go over them and describe the extent to which each one of these views are potentially compatible with evolution.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8632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So first let’s talk about the views that most students are familiar with when they are thinking of evolution, which are the secular views of evolution.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7904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Or views of evolution without God.</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First, there is atheistic evolution which is the most extreme in terms of seeing religion and evolution as incompatible. Those who adopt atheistic evolution believe that all of life shares a common ancestor, as depicted by this tree of life here, and they also believe that a God or gods was not involved in this process. Most of the time these individuals do not believe in God at all.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But there is also agnostic evolution, which is also a secular view of evolution. Agnostic evolution represents those who believe that all of life shares ancestry, but they remain uncertain of whether any God or gods were involved in evolution.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Neither of these views are in direct conflict with scientific evidence, so those who hold these views tend to be considered accepting of evolution.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87010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Next let’s talk about the other end of the spectrum in which there are views that can conflict with scientific evidence. We refer to these views as “special creationism” because according to these views, groups of organisms are created separately from one another, rather than sharing common ancestry.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6530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For instance, human special creationism is the idea that all of life on Earth shares common ancestry except for humans who were specially created by God separately from the rest of life on Earth.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So, this would be like the one big tree of life like we have seen before, but with humans growing separately, like a blade a grass away from the rest of the tree. And this is where you start to see a deviation from the cohesive tree of life that is supported so heavily by scientific evidence.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Further, some people believe in a sort of hybrid special creationism with some evolution, and we call this the “created kinds” view because these individuals believe that God created groups of organisms like birds, reptiles, and plants separately from one another and then these kinds evolved and diversified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So, this would be more like an “orchard” view of life in which there are many trees of life created separately from one another.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Finally, there is also young earth and old earth creationism. Both of these views include the least amount of evolution compared to the rest. They assume that God created almost all species separate from one another with only very little change occurring since the first creations.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So rather than a tree of life, or an orchard of life, each species is like a blade of grass created separately from one another. Old Earth views tend to be more in line with the scientific consensus than young earth views because young earth folks tend to believe that the Earth is 6,000 – 10,000 years old which goes against the evidence that the Earth is ~4 billion years old. </a:t>
            </a:r>
            <a:endParaRPr lang="en-US" sz="1800" kern="1200" dirty="0">
              <a:effectLst/>
              <a:latin typeface="Times New Roman" panose="02020603050405020304" pitchFamily="18" charset="0"/>
              <a:ea typeface="Calibri" panose="020F0502020204030204" pitchFamily="34" charset="0"/>
            </a:endParaRPr>
          </a:p>
          <a:p>
            <a:pPr marL="285750" marR="0" indent="-285750">
              <a:lnSpc>
                <a:spcPct val="115000"/>
              </a:lnSpc>
              <a:spcBef>
                <a:spcPts val="0"/>
              </a:spcBef>
              <a:spcAft>
                <a:spcPts val="0"/>
              </a:spcAft>
              <a:buFont typeface="Arial" panose="020B0604020202020204" pitchFamily="34" charset="0"/>
              <a:buChar char="•"/>
            </a:pPr>
            <a:r>
              <a:rPr lang="en-US" sz="1800" kern="1200" dirty="0">
                <a:effectLst/>
                <a:latin typeface="Times New Roman" panose="02020603050405020304" pitchFamily="18" charset="0"/>
                <a:ea typeface="Times New Roman" panose="02020603050405020304" pitchFamily="18" charset="0"/>
              </a:rPr>
              <a:t>But</a:t>
            </a:r>
            <a:r>
              <a:rPr lang="en-US" sz="1800" dirty="0">
                <a:effectLst/>
                <a:latin typeface="Times New Roman" panose="02020603050405020304" pitchFamily="18" charset="0"/>
                <a:ea typeface="Times New Roman" panose="02020603050405020304" pitchFamily="18" charset="0"/>
              </a:rPr>
              <a:t> </a:t>
            </a:r>
            <a:r>
              <a:rPr lang="en-US" sz="1800" kern="1200" dirty="0">
                <a:effectLst/>
                <a:latin typeface="Times New Roman" panose="02020603050405020304" pitchFamily="18" charset="0"/>
                <a:ea typeface="Times New Roman" panose="02020603050405020304" pitchFamily="18" charset="0"/>
              </a:rPr>
              <a:t> all of these views are at least to some degree in direct conflict with scientific evidence.</a:t>
            </a:r>
            <a:endParaRPr lang="en-US" sz="1800" dirty="0">
              <a:effectLst/>
              <a:latin typeface="Times New Roman" panose="02020603050405020304" pitchFamily="18" charset="0"/>
              <a:ea typeface="Calibri" panose="020F0502020204030204" pitchFamily="34" charset="0"/>
            </a:endParaRPr>
          </a:p>
          <a:p>
            <a:pPr marL="285750" marR="0" indent="-285750">
              <a:lnSpc>
                <a:spcPct val="115000"/>
              </a:lnSpc>
              <a:spcBef>
                <a:spcPts val="0"/>
              </a:spcBef>
              <a:spcAft>
                <a:spcPts val="0"/>
              </a:spcAft>
              <a:buFont typeface="Arial" panose="020B0604020202020204" pitchFamily="34" charset="0"/>
              <a:buChar char="•"/>
            </a:pP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19180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So now let’s talk about these views in this middle category in which people both accept evolution and God.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5957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There are three we will talk about today. And all three of these views incorporate the idea that all of life shares a common ancestor. But they also incorporate the idea that God uses evolution to shape life. There are slight differences between these three that can have important theological implications for people of faith.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For instance, interventionist evolution allows a role for God to actively intervene in the world to shape or override evolutionary processes for a specific purpose when needed.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There is also theistic evolution in which one believes that an all-knowing God planned evolution perfectly so that no intervention was necessary.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Finally, there is deistic evolution, which is the idea that God set evolution in motion but did not have a specific plan or purpose for the evolution of life on Earth.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Importantly, none of these views are in direct conflict with scientific evidence because they all suppose that life shares a common ancestor and has evolved.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1522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So, coming back to our diagram again on the spectrum of viewpoints. There are many views on the relationship between religion and evolution. Including views that have a God’s involvement and those that don’t. There are some views in which people both believe in God and accept evolution and views in which people don’t believe in God and accept evolution,</a:t>
            </a:r>
            <a:r>
              <a:rPr lang="en-US" sz="1800" kern="1200" dirty="0">
                <a:effectLst/>
                <a:latin typeface="Times New Roman" panose="02020603050405020304" pitchFamily="18" charset="0"/>
                <a:ea typeface="Times New Roman" panose="02020603050405020304" pitchFamily="18" charset="0"/>
              </a:rPr>
              <a:t> both of which are not in direct conflict with scientific evidence.</a:t>
            </a:r>
            <a:endParaRPr lang="en-US" sz="1800" dirty="0">
              <a:effectLst/>
              <a:latin typeface="Times New Roman" panose="02020603050405020304" pitchFamily="18" charset="0"/>
              <a:ea typeface="Calibri" panose="020F0502020204030204" pitchFamily="34"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endParaRPr lang="en-US" sz="1800" dirty="0">
              <a:effectLst/>
              <a:latin typeface="Times New Roman" panose="02020603050405020304" pitchFamily="18" charset="0"/>
              <a:ea typeface="Calibri" panose="020F0502020204030204" pitchFamily="34" charset="0"/>
            </a:endParaRPr>
          </a:p>
          <a:p>
            <a:pPr marL="285750" marR="0" indent="-285750">
              <a:lnSpc>
                <a:spcPct val="115000"/>
              </a:lnSpc>
              <a:spcBef>
                <a:spcPts val="0"/>
              </a:spcBef>
              <a:spcAft>
                <a:spcPts val="0"/>
              </a:spcAft>
              <a:buFont typeface="Arial" panose="020B0604020202020204" pitchFamily="34" charset="0"/>
              <a:buChar char="•"/>
            </a:pP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44603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Evolution and religion are potentially compatible for those who hold interventionist, theistic, deistic, and agnostic views of evolution. And interestingly one’s religion does not determine their view. These views are all present within and across religions.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7707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Within all religions there are both people who support and do not support evolution. Most religions do not have official stances for or against evolution.</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One place you can go to read about ways religious leaders have reconciled their religion with evolution is to go to the Clergy Letter Project website. </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This website contains testimonials from religious leaders across different religions who have written about their views on religion and evolution. Further, the website also has over 17 thousand signatures from religious leaders who signed a letter in support of the compatibility between religion and evolution.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46916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Here in the United States Christianity is the largest religious group with many denominations and none of these denominations have official stances for or against evolution. There is certainly perceived conflict with evolution in certain Christian communities, based on their specific interpretation of the Bible, but this is not attributable to the official teachings of the religion.</a:t>
            </a:r>
          </a:p>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Within these denominations the Churches generally approve of accepting or rejecting evolution – they simply do not tend to see the science of evolution as ultimately having to conflict with the religion. Most rejection of evolution is specific to the culture of someone’s specific religious community, so the specific Church they attend, and the beliefs of their friends and family that share their religion. Most of the time this comes down to the extent that people within that religious culture believe in the literal creation story within Genesis in the Bible.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04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And although Christian denominations do not have official stances on evolution, some of the leaders within these denominations have spoken about their own views on evolution and reading Genesis literally. For instance, the current Pope said (read quote) and this again underlies the idea that life sharing ancestry is not incompatible with God also creating life.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181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And it is not just religious leaders that have said this but also evolutionary biologists as well. Remember Theodosius Dobzhansky who said that “Nothing in Biology Makes sense except in the light of evolution?” well he was a pioneer scientist in evolutionary biology and in that very same essay where he wrote that quote, he also talked about how he reconciled his religious faith with evolution. He said (read quote).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30477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In addition to historical evolutionary biologists some modern evolutionary biologists also hold this view.  Joe Graves is an evolutionary biologist </a:t>
            </a:r>
            <a:r>
              <a:rPr lang="en-US" sz="1200" b="0" i="0" u="none" strike="noStrike" dirty="0">
                <a:solidFill>
                  <a:srgbClr val="0645AD"/>
                </a:solidFill>
                <a:effectLst/>
                <a:latin typeface="Times New Roman" panose="02020603050405020304" pitchFamily="18" charset="0"/>
                <a:cs typeface="Times New Roman" panose="02020603050405020304" pitchFamily="18" charset="0"/>
                <a:hlinkClick r:id="rId3" tooltip="North Carolina Agricultural and Technical State University"/>
              </a:rPr>
              <a:t>North Carolina Agricultural and Technical State University</a:t>
            </a:r>
            <a:r>
              <a:rPr lang="en-US" sz="1200" b="0" i="0" u="none" strike="noStrike" dirty="0">
                <a:solidFill>
                  <a:srgbClr val="0645AD"/>
                </a:solidFill>
                <a:effectLst/>
                <a:latin typeface="Times New Roman" panose="02020603050405020304" pitchFamily="18" charset="0"/>
                <a:cs typeface="Times New Roman" panose="02020603050405020304" pitchFamily="18" charset="0"/>
              </a:rPr>
              <a:t> and he has contributed greatly to our understanding of how evolution shapes ageing. So, have you ever wondered why we have to age? Why do mice age faster than humans? Well Dr. Graves’ work ahs contributed to our understanding of that. He is also known for his advocacy for evolution education and the idea that evolution and religion do not have to be in conflict.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endParaRPr lang="en-US" sz="1800" dirty="0">
              <a:effectLst/>
              <a:latin typeface="Times New Roman" panose="02020603050405020304" pitchFamily="18" charset="0"/>
              <a:ea typeface="Calibri" panose="020F0502020204030204" pitchFamily="34" charset="0"/>
            </a:endParaRPr>
          </a:p>
          <a:p>
            <a:pPr marL="285750" marR="0" indent="-285750">
              <a:lnSpc>
                <a:spcPct val="115000"/>
              </a:lnSpc>
              <a:spcBef>
                <a:spcPts val="0"/>
              </a:spcBef>
              <a:spcAft>
                <a:spcPts val="0"/>
              </a:spcAft>
              <a:buFont typeface="Arial" panose="020B0604020202020204" pitchFamily="34" charset="0"/>
              <a:buChar char="•"/>
            </a:pP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780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And there are also examples of prominent evangelical Christian scientists that promote harmony between religion and evolution. Dr Francis Collins is an influential biologist – he served under three US presidents as the director of the national institutes of health and was the leader of the first group to decode the human genome. He also is open that he is an Evangelical Christian and founded a whole organization and wrote a New York Times bestselling book advocating for the harmony between evolution and religion.</a:t>
            </a:r>
          </a:p>
          <a:p>
            <a:pPr marL="285750" marR="0" indent="-285750">
              <a:lnSpc>
                <a:spcPct val="115000"/>
              </a:lnSpc>
              <a:spcBef>
                <a:spcPts val="0"/>
              </a:spcBef>
              <a:spcAft>
                <a:spcPts val="0"/>
              </a:spcAft>
              <a:buFont typeface="Arial" panose="020B0604020202020204" pitchFamily="34" charset="0"/>
              <a:buChar char="•"/>
            </a:pP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90754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And it is not just Christian scientists there are also evolutionary biologists from Hindu, Jewish, Buddhist and even Muslim backgrounds. Fatimah Jackson is an example of a Muslim scientist who studies evolution. She studies how humans and plants co-evolve and was awarded the 2020 Charles Darwin Lifetime Achievement Award from the American Association of Physical Anthropologists.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83556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indent="-285750">
              <a:lnSpc>
                <a:spcPct val="115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So then what is the actual evidence for evolution that has been so convincing to all these biologists? Well, we will go over four major areas of evidence: The Fossil Record, Similarities between Organisms, Biogeography, and direct observation.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96556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One of the most striking pieces of evidence for evolution is the fossil record. When we explore the dirt and rock on Earth that has formed from the ages and ages that came before us, we discover the fossilized remnants of fantastical creatures that we no longer see on the face of this planet – dinosaurs, flying reptiles, and ancient creatures that look mysteriously like human-chimpanzee hybrids. But most of these creatures are now extinct. We no longer find them here. So, we know for a fact that life now looks much different now than it did in the past. </a:t>
            </a:r>
          </a:p>
          <a:p>
            <a:pPr marL="285750" marR="0" indent="-285750">
              <a:lnSpc>
                <a:spcPct val="115000"/>
              </a:lnSpc>
              <a:spcBef>
                <a:spcPts val="0"/>
              </a:spcBef>
              <a:spcAft>
                <a:spcPts val="0"/>
              </a:spcAft>
              <a:buFont typeface="Arial" panose="020B0604020202020204" pitchFamily="34" charset="0"/>
              <a:buChar char="•"/>
            </a:pP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15881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And these fossils were deposited in clear patterns throughout time… because layers of Earth are deposited in somewhat of a predictable pattern. This is the grand canyon and you can see different geological layers in the canyon. Over millions of years water has eroded the rocks and revealed these layers. And this type of layering can be found all over the world. One reason we know an asteroid killed the dinosaurs is because asteroids are rich in a substance called iridium and there is an iridium filled geological layer across the entire globe that dates back to 60 million years ago – right when the dinosaurs went extinct. So, we can look at these layers and actually see what life looked like before and after that iridium layer by examining the fossils. When we do that we see that almost all dinosaur fossils, except for birds, are absent after that layer. </a:t>
            </a:r>
          </a:p>
          <a:p>
            <a:pPr marL="171450" indent="-171450">
              <a:buFont typeface="Arial" panose="020B0604020202020204" pitchFamily="34" charset="0"/>
              <a:buChar char="•"/>
            </a:pPr>
            <a:r>
              <a:rPr lang="en-US" dirty="0"/>
              <a:t>And when we look broadly at the order in which fossils are found, we can actually see species changing through time throughout the layers. We have an incredible fossil record that depicts the evolution of horses clearly throughout the geological layers.</a:t>
            </a:r>
          </a:p>
          <a:p>
            <a:pPr marL="171450" indent="-171450">
              <a:buFont typeface="Arial" panose="020B0604020202020204" pitchFamily="34" charset="0"/>
              <a:buChar char="•"/>
            </a:pPr>
            <a:r>
              <a:rPr lang="en-US" dirty="0"/>
              <a:t>And the order that fossils are deposited match exactly what we would expect if life all shared common ancestry. We have never found fossils of humans for instance among fossils from millions of years ago before other apes appeared in the fossil record – we only find humans after the other great apes appear and that is exactly what we would expect to see if we evolved from other great apes.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68456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We also see similarities between organisms today that strongly support the idea that they once shared a common ancestor.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Biologists have determined that birds evolved from carnivorous dinosaurs. Birds were essentially the only dinosaurs that survived the asteroid strike 60 million years ago. And biologists have come to this conclusion through many lines of evidence built over the last 150 years, but it is actually really easy to see evidence for this just by looking at dinosaur fossils compared to living birds. Here is the fossilized foot of a T. Rex and a living emu. They look very similar because these creatures shared a common ancestor many millions of years ago. In fact, did you know T. Rex also has a wishbone like birds do?</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Even among currently living species that are closely related we can see the uncanny resemblance. For instance, we see both physical and behavioral similarities between humans and other great apes.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14006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But even when species look very different from one another, we can detect deeper level similarities that are explained by evolution.</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All organisms on Earth share one thing in common: DNA as their genetic code that determines their physical structure. Despite looking very different from mice and bananas humans still share a significant portion of our DNA code with these organisms.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And we see deep structural similarities across very different groups of organisms too. Organisms from very different species like dogs, bats, birds, seals, and humans all have the same foundational components of their limb bones even though their limbs have evolved to do very different things. But whether the limb is being used for flying, swimming, walking, or grasping, each limb has the same bones - a scapula, humerus, radius, and ulna as well carpals, metacarpals, and phalanges. This strongly suggests that these organisms once shared a common ancestor that also had these parts.</a:t>
            </a:r>
          </a:p>
          <a:p>
            <a:pPr marL="285750" marR="0" indent="-285750">
              <a:lnSpc>
                <a:spcPct val="115000"/>
              </a:lnSpc>
              <a:spcBef>
                <a:spcPts val="0"/>
              </a:spcBef>
              <a:spcAft>
                <a:spcPts val="0"/>
              </a:spcAft>
              <a:buFont typeface="Arial" panose="020B0604020202020204" pitchFamily="34" charset="0"/>
              <a:buChar char="•"/>
            </a:pP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10552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We also see strong evidence for evolution from the distribution of plants and animals across planet Earth. Species that are more closely related tend to live in areas together, especially in areas where species have been geographically isolated for long periods of time.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Have you ever wondered why Australia has so many unique mammals that grow their babies in pouches like the kangaroo and koala?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The rest of the Earth is dominated by placental mammals that grow their babies in placentas like pandas, lions, and monkeys. So why do Australian mammals have pouches? Well, evolution explains this!</a:t>
            </a:r>
          </a:p>
          <a:p>
            <a:pPr marL="0" marR="0" indent="0">
              <a:lnSpc>
                <a:spcPct val="115000"/>
              </a:lnSpc>
              <a:spcBef>
                <a:spcPts val="0"/>
              </a:spcBef>
              <a:spcAft>
                <a:spcPts val="0"/>
              </a:spcAft>
              <a:buFont typeface="Arial" panose="020B0604020202020204" pitchFamily="34" charset="0"/>
              <a:buNone/>
            </a:pP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2701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The Earth’s map looked a lot different in the past then it does now and long ago all the continents including Australia were once part of a large land mass called Pangea but continental drift has slowly separated and isolated Australia.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Before this separation marsupials were more evenly distributed across the Earth, but as Australia separated from the super continent,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placental mammals evolved in North America and outcompeted the marsupials across the Earth</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 – except for Australia where placental mammals could not migrate.  And this matches the fossil evidence found in these areas– in geographical layers from deep in the past we see marsupials dispersed more evenly across Earth but in newer layers we see placental mammals appear and then become more abundant everywhere except in Australia. And we see these same sorts of patterns in all sorts of places around the world – especially when we look at islands of land that have been isolated for long periods of time because geographic isolation is a key driver of evolutionary change. </a:t>
            </a:r>
          </a:p>
          <a:p>
            <a:pPr marL="285750" marR="0" indent="-285750">
              <a:lnSpc>
                <a:spcPct val="115000"/>
              </a:lnSpc>
              <a:spcBef>
                <a:spcPts val="0"/>
              </a:spcBef>
              <a:spcAft>
                <a:spcPts val="0"/>
              </a:spcAft>
              <a:buFont typeface="Arial" panose="020B0604020202020204" pitchFamily="34" charset="0"/>
              <a:buChar char="•"/>
            </a:pP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254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In fact, we have actually observed speciation happening on islands among finches when conditions suddenly change on an island. And that is the last piece of evidence we will discuss; we continuously have observed evolution taking place in real time.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From antibiotic resistant bacteria, to populations of moths that have changed color in response to industrialization, we have actually seen populations of organisms change over time. </a:t>
            </a:r>
          </a:p>
          <a:p>
            <a:pPr marL="285750" marR="0" indent="-285750">
              <a:lnSpc>
                <a:spcPct val="115000"/>
              </a:lnSpc>
              <a:spcBef>
                <a:spcPts val="0"/>
              </a:spcBef>
              <a:spcAft>
                <a:spcPts val="0"/>
              </a:spcAft>
              <a:buFont typeface="Arial" panose="020B0604020202020204" pitchFamily="34" charset="0"/>
              <a:buChar char="•"/>
            </a:pPr>
            <a:endParaRPr lang="en-US" sz="1800" dirty="0">
              <a:effectLst/>
              <a:latin typeface="Times New Roman" panose="02020603050405020304" pitchFamily="18"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47836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800" dirty="0">
                <a:effectLst/>
                <a:latin typeface="Times New Roman" panose="02020603050405020304" pitchFamily="18" charset="0"/>
                <a:ea typeface="Calibri" panose="020F0502020204030204" pitchFamily="34" charset="0"/>
              </a:rPr>
              <a:t>And humans have even learned how to harness and control this process… dog breeding is a great example of this. All dogs from a teacup chihuahua to a giant St. Bernard, have evolved from a wolf common ancestor and we know this because humans are the one’s that did it. And we used the same process that evolution does: selection. Just like well adapted organisms are naturally selected to reproduce, we selected dogs based on specific traits we saw as advantageous.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08400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2800" b="0" i="0" dirty="0">
                <a:solidFill>
                  <a:srgbClr val="BDC1C6"/>
                </a:solidFill>
                <a:effectLst/>
                <a:latin typeface="Roboto" panose="02000000000000000000" pitchFamily="2" charset="0"/>
                <a:ea typeface="Calibri" panose="020F0502020204030204" pitchFamily="34" charset="0"/>
              </a:rPr>
              <a:t>And all of this evidence I presented here are just tiny pieces of the grand puzzle evolutionary biologists have been putting together for at least 150 years since Charles Darwin published the Origin of Species in 1859. There are thousands of more examples we could find in the published literature documenting more of these evidences. And as Charles Darwin said at the end of the Origin of Species, this view of life is elegant, grand, and beautiful – the discovery that every living thing on this planet is related to one another and has come from so simple a beginning and that over billions of years single celled organisms evolved to multicellular organisms and then the plants, animals, and humans that walk the Earth today is astonishing. </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2800" b="0" i="0" dirty="0">
                <a:solidFill>
                  <a:srgbClr val="BDC1C6"/>
                </a:solidFill>
                <a:effectLst/>
                <a:latin typeface="Roboto" panose="02000000000000000000" pitchFamily="2" charset="0"/>
                <a:ea typeface="Calibri" panose="020F0502020204030204" pitchFamily="34" charset="0"/>
              </a:rPr>
              <a:t>Thank you so much for your time and I sincerely hope this lesson will help you with your future learning of evolution in your biology classes!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992CEF-EF98-4A04-BBBC-7374A197B1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7259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4E20425-5003-4A04-BD92-C997BC952271}" type="datetimeFigureOut">
              <a:rPr lang="en-US" smtClean="0">
                <a:solidFill>
                  <a:prstClr val="white">
                    <a:alpha val="60000"/>
                  </a:prstClr>
                </a:solidFill>
              </a:rPr>
              <a:pPr/>
              <a:t>10/28/2026</a:t>
            </a:fld>
            <a:endParaRPr lang="en-US" dirty="0">
              <a:solidFill>
                <a:prstClr val="white">
                  <a:alpha val="60000"/>
                </a:prstClr>
              </a:solidFill>
            </a:endParaRPr>
          </a:p>
        </p:txBody>
      </p:sp>
      <p:sp>
        <p:nvSpPr>
          <p:cNvPr id="6" name="Slide Number Placeholder 5"/>
          <p:cNvSpPr>
            <a:spLocks noGrp="1"/>
          </p:cNvSpPr>
          <p:nvPr>
            <p:ph type="sldNum" sz="quarter" idx="11"/>
          </p:nvPr>
        </p:nvSpPr>
        <p:spPr/>
        <p:txBody>
          <a:bodyPr/>
          <a:lstStyle/>
          <a:p>
            <a:fld id="{E7B01E68-97CB-4984-877F-A9D37F03E1F2}" type="slidenum">
              <a:rPr lang="en-US" smtClean="0">
                <a:solidFill>
                  <a:prstClr val="white">
                    <a:alpha val="60000"/>
                  </a:prstClr>
                </a:solidFill>
              </a:rPr>
              <a:pPr/>
              <a:t>‹#›</a:t>
            </a:fld>
            <a:endParaRPr lang="en-US" dirty="0">
              <a:solidFill>
                <a:prstClr val="white">
                  <a:alpha val="60000"/>
                </a:prstClr>
              </a:solidFill>
            </a:endParaRPr>
          </a:p>
        </p:txBody>
      </p:sp>
      <p:sp>
        <p:nvSpPr>
          <p:cNvPr id="7" name="Footer Placeholder 6"/>
          <p:cNvSpPr>
            <a:spLocks noGrp="1"/>
          </p:cNvSpPr>
          <p:nvPr>
            <p:ph type="ftr" sz="quarter" idx="12"/>
          </p:nvPr>
        </p:nvSpPr>
        <p:spPr/>
        <p:txBody>
          <a:bodyPr/>
          <a:lstStyle/>
          <a:p>
            <a:endParaRPr lang="en-US" dirty="0">
              <a:solidFill>
                <a:prstClr val="white">
                  <a:alpha val="60000"/>
                </a:prstClr>
              </a:solidFill>
            </a:endParaRPr>
          </a:p>
        </p:txBody>
      </p:sp>
    </p:spTree>
    <p:extLst>
      <p:ext uri="{BB962C8B-B14F-4D97-AF65-F5344CB8AC3E}">
        <p14:creationId xmlns:p14="http://schemas.microsoft.com/office/powerpoint/2010/main" val="277821085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4052" tIns="47026" rIns="94052" bIns="47026" rtlCol="0" anchor="ctr"/>
          <a:lstStyle/>
          <a:p>
            <a:pPr algn="ctr" defTabSz="940523"/>
            <a:endParaRPr lang="en-US" sz="1856" dirty="0">
              <a:solidFill>
                <a:prstClr val="white"/>
              </a:solidFill>
              <a:latin typeface="Arial" panose="020B0604020202020204" pitchFamily="34" charset="0"/>
              <a:cs typeface="Arial" panose="020B0604020202020204" pitchFamily="34" charset="0"/>
            </a:endParaRPr>
          </a:p>
        </p:txBody>
      </p:sp>
      <p:sp>
        <p:nvSpPr>
          <p:cNvPr id="8" name="Oval 7"/>
          <p:cNvSpPr/>
          <p:nvPr/>
        </p:nvSpPr>
        <p:spPr>
          <a:xfrm rot="19724275">
            <a:off x="1830961" y="1038440"/>
            <a:ext cx="965416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4052" tIns="47026" rIns="94052" bIns="47026" rtlCol="0" anchor="ctr"/>
          <a:lstStyle/>
          <a:p>
            <a:pPr algn="ctr" defTabSz="940523"/>
            <a:endParaRPr lang="en-US" sz="1856" dirty="0">
              <a:solidFill>
                <a:prstClr val="white"/>
              </a:solidFill>
            </a:endParaRPr>
          </a:p>
        </p:txBody>
      </p:sp>
      <p:sp>
        <p:nvSpPr>
          <p:cNvPr id="2" name="Title Placeholder 1"/>
          <p:cNvSpPr>
            <a:spLocks noGrp="1"/>
          </p:cNvSpPr>
          <p:nvPr>
            <p:ph type="title"/>
          </p:nvPr>
        </p:nvSpPr>
        <p:spPr>
          <a:xfrm>
            <a:off x="1036320" y="4876800"/>
            <a:ext cx="10058400" cy="914400"/>
          </a:xfrm>
          <a:prstGeom prst="rect">
            <a:avLst/>
          </a:prstGeom>
        </p:spPr>
        <p:txBody>
          <a:bodyPr vert="horz" lIns="501612" tIns="250806" rIns="501612" bIns="250806" rtlCol="0" anchor="b">
            <a:noAutofit/>
          </a:bodyPr>
          <a:lstStyle/>
          <a:p>
            <a:r>
              <a:rPr lang="en-US" dirty="0"/>
              <a:t>Click to edit Master title style</a:t>
            </a:r>
          </a:p>
        </p:txBody>
      </p:sp>
      <p:sp>
        <p:nvSpPr>
          <p:cNvPr id="3" name="Text Placeholder 2"/>
          <p:cNvSpPr>
            <a:spLocks noGrp="1"/>
          </p:cNvSpPr>
          <p:nvPr>
            <p:ph type="body" idx="1"/>
          </p:nvPr>
        </p:nvSpPr>
        <p:spPr>
          <a:xfrm>
            <a:off x="2844800" y="685802"/>
            <a:ext cx="8128000" cy="3657599"/>
          </a:xfrm>
          <a:prstGeom prst="rect">
            <a:avLst/>
          </a:prstGeom>
        </p:spPr>
        <p:txBody>
          <a:bodyPr vert="horz" lIns="501612" tIns="250806" rIns="501612" bIns="250806"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9600" y="6154739"/>
            <a:ext cx="2844800" cy="365125"/>
          </a:xfrm>
          <a:prstGeom prst="rect">
            <a:avLst/>
          </a:prstGeom>
        </p:spPr>
        <p:txBody>
          <a:bodyPr vert="horz" lIns="501612" tIns="250806" rIns="501612" bIns="250806" rtlCol="0" anchor="t"/>
          <a:lstStyle>
            <a:lvl1pPr algn="r">
              <a:defRPr sz="1125">
                <a:solidFill>
                  <a:schemeClr val="tx1">
                    <a:alpha val="60000"/>
                  </a:schemeClr>
                </a:solidFill>
                <a:effectLst/>
                <a:latin typeface="Arial" panose="020B0604020202020204" pitchFamily="34" charset="0"/>
                <a:cs typeface="Arial" panose="020B0604020202020204" pitchFamily="34" charset="0"/>
              </a:defRPr>
            </a:lvl1pPr>
          </a:lstStyle>
          <a:p>
            <a:pPr defTabSz="940523"/>
            <a:fld id="{94E20425-5003-4A04-BD92-C997BC952271}" type="datetimeFigureOut">
              <a:rPr lang="en-US" smtClean="0">
                <a:solidFill>
                  <a:prstClr val="white">
                    <a:alpha val="60000"/>
                  </a:prstClr>
                </a:solidFill>
                <a:ea typeface="MS PGothic" panose="020B0600070205080204" pitchFamily="34" charset="-128"/>
              </a:rPr>
              <a:pPr defTabSz="940523"/>
              <a:t>10/28/2026</a:t>
            </a:fld>
            <a:endParaRPr lang="en-US" dirty="0">
              <a:solidFill>
                <a:prstClr val="white">
                  <a:alpha val="60000"/>
                </a:prstClr>
              </a:solidFill>
              <a:latin typeface="Arial" panose="020B0604020202020204" pitchFamily="34" charset="0"/>
              <a:ea typeface="MS PGothic" panose="020B0600070205080204" pitchFamily="34" charset="-128"/>
              <a:cs typeface="Arial" panose="020B0604020202020204" pitchFamily="34" charset="0"/>
            </a:endParaRPr>
          </a:p>
        </p:txBody>
      </p:sp>
      <p:sp>
        <p:nvSpPr>
          <p:cNvPr id="5" name="Footer Placeholder 4"/>
          <p:cNvSpPr>
            <a:spLocks noGrp="1"/>
          </p:cNvSpPr>
          <p:nvPr>
            <p:ph type="ftr" sz="quarter" idx="3"/>
          </p:nvPr>
        </p:nvSpPr>
        <p:spPr>
          <a:xfrm>
            <a:off x="1097280" y="6154739"/>
            <a:ext cx="6096000" cy="365125"/>
          </a:xfrm>
          <a:prstGeom prst="rect">
            <a:avLst/>
          </a:prstGeom>
        </p:spPr>
        <p:txBody>
          <a:bodyPr vert="horz" lIns="501612" tIns="250806" rIns="501612" bIns="250806" rtlCol="0" anchor="t"/>
          <a:lstStyle>
            <a:lvl1pPr algn="l">
              <a:defRPr sz="1125">
                <a:solidFill>
                  <a:schemeClr val="tx1">
                    <a:alpha val="60000"/>
                  </a:schemeClr>
                </a:solidFill>
                <a:effectLst/>
                <a:latin typeface="Arial" panose="020B0604020202020204" pitchFamily="34" charset="0"/>
                <a:cs typeface="Arial" panose="020B0604020202020204" pitchFamily="34" charset="0"/>
              </a:defRPr>
            </a:lvl1pPr>
          </a:lstStyle>
          <a:p>
            <a:pPr defTabSz="940523"/>
            <a:endParaRPr lang="en-US" dirty="0">
              <a:solidFill>
                <a:prstClr val="white">
                  <a:alpha val="60000"/>
                </a:prstClr>
              </a:solidFill>
              <a:latin typeface="Arial" panose="020B0604020202020204" pitchFamily="34" charset="0"/>
              <a:ea typeface="MS PGothic" panose="020B0600070205080204" pitchFamily="34" charset="-128"/>
              <a:cs typeface="Arial" panose="020B0604020202020204" pitchFamily="34" charset="0"/>
            </a:endParaRPr>
          </a:p>
        </p:txBody>
      </p:sp>
      <p:sp>
        <p:nvSpPr>
          <p:cNvPr id="6" name="Slide Number Placeholder 5"/>
          <p:cNvSpPr>
            <a:spLocks noGrp="1"/>
          </p:cNvSpPr>
          <p:nvPr>
            <p:ph type="sldNum" sz="quarter" idx="4"/>
          </p:nvPr>
        </p:nvSpPr>
        <p:spPr>
          <a:xfrm>
            <a:off x="1097280" y="5842000"/>
            <a:ext cx="2844800" cy="304800"/>
          </a:xfrm>
          <a:prstGeom prst="rect">
            <a:avLst/>
          </a:prstGeom>
        </p:spPr>
        <p:txBody>
          <a:bodyPr vert="horz" lIns="501612" tIns="250806" rIns="501612" bIns="50161" rtlCol="0" anchor="b"/>
          <a:lstStyle>
            <a:lvl1pPr algn="l">
              <a:defRPr sz="1650">
                <a:solidFill>
                  <a:schemeClr val="tx1">
                    <a:alpha val="60000"/>
                  </a:schemeClr>
                </a:solidFill>
                <a:effectLst/>
              </a:defRPr>
            </a:lvl1pPr>
          </a:lstStyle>
          <a:p>
            <a:pPr defTabSz="940523"/>
            <a:fld id="{E7B01E68-97CB-4984-877F-A9D37F03E1F2}" type="slidenum">
              <a:rPr lang="en-US" smtClean="0">
                <a:solidFill>
                  <a:prstClr val="white">
                    <a:alpha val="60000"/>
                  </a:prstClr>
                </a:solidFill>
                <a:ea typeface="MS PGothic" panose="020B0600070205080204" pitchFamily="34" charset="-128"/>
              </a:rPr>
              <a:pPr defTabSz="940523"/>
              <a:t>‹#›</a:t>
            </a:fld>
            <a:endParaRPr lang="en-US" dirty="0">
              <a:solidFill>
                <a:prstClr val="white">
                  <a:alpha val="60000"/>
                </a:prstClr>
              </a:solidFill>
              <a:ea typeface="MS PGothic" panose="020B0600070205080204" pitchFamily="34" charset="-128"/>
            </a:endParaRPr>
          </a:p>
        </p:txBody>
      </p:sp>
    </p:spTree>
    <p:extLst>
      <p:ext uri="{BB962C8B-B14F-4D97-AF65-F5344CB8AC3E}">
        <p14:creationId xmlns:p14="http://schemas.microsoft.com/office/powerpoint/2010/main" val="3150963947"/>
      </p:ext>
    </p:extLst>
  </p:cSld>
  <p:clrMap bg1="dk1" tx1="lt1" bg2="dk2" tx2="lt2" accent1="accent1" accent2="accent2" accent3="accent3" accent4="accent4" accent5="accent5" accent6="accent6" hlink="hlink" folHlink="folHlink"/>
  <p:sldLayoutIdLst>
    <p:sldLayoutId id="2147483661" r:id="rId1"/>
  </p:sldLayoutIdLst>
  <p:txStyles>
    <p:titleStyle>
      <a:lvl1pPr algn="l" defTabSz="940523" rtl="0" eaLnBrk="1" latinLnBrk="0" hangingPunct="1">
        <a:spcBef>
          <a:spcPct val="0"/>
        </a:spcBef>
        <a:buNone/>
        <a:defRPr sz="5044" kern="1200">
          <a:solidFill>
            <a:schemeClr val="tx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2157" indent="-263347" algn="l" defTabSz="940523" rtl="0" eaLnBrk="1" latinLnBrk="0" hangingPunct="1">
        <a:spcBef>
          <a:spcPct val="20000"/>
        </a:spcBef>
        <a:spcAft>
          <a:spcPts val="0"/>
        </a:spcAft>
        <a:buSzPct val="60000"/>
        <a:buFont typeface="Wingdings" pitchFamily="2" charset="2"/>
        <a:buChar char=""/>
        <a:defRPr sz="2156" kern="120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lvl1pPr>
      <a:lvl2pPr marL="658366" indent="-263347" algn="l" defTabSz="940523" rtl="0" eaLnBrk="1" latinLnBrk="0" hangingPunct="1">
        <a:spcBef>
          <a:spcPct val="20000"/>
        </a:spcBef>
        <a:buSzPct val="60000"/>
        <a:buFont typeface="Wingdings" pitchFamily="2" charset="2"/>
        <a:buChar char=""/>
        <a:defRPr sz="1950" kern="1200">
          <a:solidFill>
            <a:schemeClr val="tx1"/>
          </a:solidFill>
          <a:effectLst>
            <a:outerShdw blurRad="38100" dist="38100" dir="2700000" algn="tl">
              <a:srgbClr val="000000">
                <a:alpha val="43137"/>
              </a:srgbClr>
            </a:outerShdw>
          </a:effectLst>
          <a:latin typeface="+mn-lt"/>
          <a:ea typeface="+mn-ea"/>
          <a:cs typeface="+mn-cs"/>
        </a:defRPr>
      </a:lvl2pPr>
      <a:lvl3pPr marL="1034576" indent="-263347" algn="l" defTabSz="940523" rtl="0" eaLnBrk="1" latinLnBrk="0" hangingPunct="1">
        <a:spcBef>
          <a:spcPct val="20000"/>
        </a:spcBef>
        <a:buSzPct val="60000"/>
        <a:buFont typeface="Wingdings" pitchFamily="2" charset="2"/>
        <a:buChar char=""/>
        <a:defRPr sz="1744" kern="1200">
          <a:solidFill>
            <a:schemeClr val="tx1"/>
          </a:solidFill>
          <a:effectLst>
            <a:outerShdw blurRad="38100" dist="38100" dir="2700000" algn="tl">
              <a:srgbClr val="000000">
                <a:alpha val="43137"/>
              </a:srgbClr>
            </a:outerShdw>
          </a:effectLst>
          <a:latin typeface="+mn-lt"/>
          <a:ea typeface="+mn-ea"/>
          <a:cs typeface="+mn-cs"/>
        </a:defRPr>
      </a:lvl3pPr>
      <a:lvl4pPr marL="1410785" indent="-263347" algn="l" defTabSz="940523" rtl="0" eaLnBrk="1" latinLnBrk="0" hangingPunct="1">
        <a:spcBef>
          <a:spcPct val="20000"/>
        </a:spcBef>
        <a:buSzPct val="60000"/>
        <a:buFont typeface="Wingdings" pitchFamily="2" charset="2"/>
        <a:buChar char=""/>
        <a:defRPr sz="1650" kern="1200">
          <a:solidFill>
            <a:schemeClr val="tx1"/>
          </a:solidFill>
          <a:effectLst>
            <a:outerShdw blurRad="38100" dist="38100" dir="2700000" algn="tl">
              <a:srgbClr val="000000">
                <a:alpha val="43137"/>
              </a:srgbClr>
            </a:outerShdw>
          </a:effectLst>
          <a:latin typeface="+mn-lt"/>
          <a:ea typeface="+mn-ea"/>
          <a:cs typeface="+mn-cs"/>
        </a:defRPr>
      </a:lvl4pPr>
      <a:lvl5pPr marL="1692942" indent="-263347" algn="l" defTabSz="940523" rtl="0" eaLnBrk="1" latinLnBrk="0" hangingPunct="1">
        <a:spcBef>
          <a:spcPct val="20000"/>
        </a:spcBef>
        <a:buSzPct val="60000"/>
        <a:buFont typeface="Wingdings" pitchFamily="2" charset="2"/>
        <a:buChar char=""/>
        <a:defRPr sz="1538" kern="1200">
          <a:solidFill>
            <a:schemeClr val="tx1"/>
          </a:solidFill>
          <a:effectLst>
            <a:outerShdw blurRad="38100" dist="38100" dir="2700000" algn="tl">
              <a:srgbClr val="000000">
                <a:alpha val="43137"/>
              </a:srgbClr>
            </a:outerShdw>
          </a:effectLst>
          <a:latin typeface="+mn-lt"/>
          <a:ea typeface="+mn-ea"/>
          <a:cs typeface="+mn-cs"/>
        </a:defRPr>
      </a:lvl5pPr>
      <a:lvl6pPr marL="2022125"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6pPr>
      <a:lvl7pPr marL="2304282"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86439"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8pPr>
      <a:lvl9pPr marL="2915622"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40523" rtl="0" eaLnBrk="1" latinLnBrk="0" hangingPunct="1">
        <a:defRPr sz="1856" kern="1200">
          <a:solidFill>
            <a:schemeClr val="tx1"/>
          </a:solidFill>
          <a:latin typeface="+mn-lt"/>
          <a:ea typeface="+mn-ea"/>
          <a:cs typeface="+mn-cs"/>
        </a:defRPr>
      </a:lvl1pPr>
      <a:lvl2pPr marL="470262" algn="l" defTabSz="940523" rtl="0" eaLnBrk="1" latinLnBrk="0" hangingPunct="1">
        <a:defRPr sz="1856" kern="1200">
          <a:solidFill>
            <a:schemeClr val="tx1"/>
          </a:solidFill>
          <a:latin typeface="+mn-lt"/>
          <a:ea typeface="+mn-ea"/>
          <a:cs typeface="+mn-cs"/>
        </a:defRPr>
      </a:lvl2pPr>
      <a:lvl3pPr marL="940523" algn="l" defTabSz="940523" rtl="0" eaLnBrk="1" latinLnBrk="0" hangingPunct="1">
        <a:defRPr sz="1856" kern="1200">
          <a:solidFill>
            <a:schemeClr val="tx1"/>
          </a:solidFill>
          <a:latin typeface="+mn-lt"/>
          <a:ea typeface="+mn-ea"/>
          <a:cs typeface="+mn-cs"/>
        </a:defRPr>
      </a:lvl3pPr>
      <a:lvl4pPr marL="1410785" algn="l" defTabSz="940523" rtl="0" eaLnBrk="1" latinLnBrk="0" hangingPunct="1">
        <a:defRPr sz="1856" kern="1200">
          <a:solidFill>
            <a:schemeClr val="tx1"/>
          </a:solidFill>
          <a:latin typeface="+mn-lt"/>
          <a:ea typeface="+mn-ea"/>
          <a:cs typeface="+mn-cs"/>
        </a:defRPr>
      </a:lvl4pPr>
      <a:lvl5pPr marL="1881047" algn="l" defTabSz="940523" rtl="0" eaLnBrk="1" latinLnBrk="0" hangingPunct="1">
        <a:defRPr sz="1856" kern="1200">
          <a:solidFill>
            <a:schemeClr val="tx1"/>
          </a:solidFill>
          <a:latin typeface="+mn-lt"/>
          <a:ea typeface="+mn-ea"/>
          <a:cs typeface="+mn-cs"/>
        </a:defRPr>
      </a:lvl5pPr>
      <a:lvl6pPr marL="2351308" algn="l" defTabSz="940523" rtl="0" eaLnBrk="1" latinLnBrk="0" hangingPunct="1">
        <a:defRPr sz="1856" kern="1200">
          <a:solidFill>
            <a:schemeClr val="tx1"/>
          </a:solidFill>
          <a:latin typeface="+mn-lt"/>
          <a:ea typeface="+mn-ea"/>
          <a:cs typeface="+mn-cs"/>
        </a:defRPr>
      </a:lvl6pPr>
      <a:lvl7pPr marL="2821570" algn="l" defTabSz="940523" rtl="0" eaLnBrk="1" latinLnBrk="0" hangingPunct="1">
        <a:defRPr sz="1856" kern="1200">
          <a:solidFill>
            <a:schemeClr val="tx1"/>
          </a:solidFill>
          <a:latin typeface="+mn-lt"/>
          <a:ea typeface="+mn-ea"/>
          <a:cs typeface="+mn-cs"/>
        </a:defRPr>
      </a:lvl7pPr>
      <a:lvl8pPr marL="3291831" algn="l" defTabSz="940523" rtl="0" eaLnBrk="1" latinLnBrk="0" hangingPunct="1">
        <a:defRPr sz="1856" kern="1200">
          <a:solidFill>
            <a:schemeClr val="tx1"/>
          </a:solidFill>
          <a:latin typeface="+mn-lt"/>
          <a:ea typeface="+mn-ea"/>
          <a:cs typeface="+mn-cs"/>
        </a:defRPr>
      </a:lvl8pPr>
      <a:lvl9pPr marL="3762093" algn="l" defTabSz="940523" rtl="0" eaLnBrk="1" latinLnBrk="0" hangingPunct="1">
        <a:defRPr sz="185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fescied.org/doi/10.1187/cbe.24-05-0157"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youtu.be/IRjlDRvOAGM?si=ar_tW6UKsz3QtnVx"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png"/><Relationship Id="rId7"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hyperlink" Target="https://www.lifescied.org/doi/10.1187/cbe.24-05-0157"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journals.asm.org/doi/full/10.1128/jmbe.00016-25"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44.jpeg"/><Relationship Id="rId4" Type="http://schemas.openxmlformats.org/officeDocument/2006/relationships/image" Target="../media/image43.jpe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3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image" Target="../media/image56.jpeg"/><Relationship Id="rId7"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9.jpeg"/><Relationship Id="rId5" Type="http://schemas.openxmlformats.org/officeDocument/2006/relationships/image" Target="../media/image58.png"/><Relationship Id="rId4" Type="http://schemas.openxmlformats.org/officeDocument/2006/relationships/image" Target="../media/image57.jpeg"/><Relationship Id="rId9" Type="http://schemas.openxmlformats.org/officeDocument/2006/relationships/image" Target="../media/image62.png"/></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35541" y="1602658"/>
            <a:ext cx="18473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AB1135B5-D54F-F761-F572-5A8579C7CD84}"/>
              </a:ext>
            </a:extLst>
          </p:cNvPr>
          <p:cNvSpPr txBox="1"/>
          <p:nvPr/>
        </p:nvSpPr>
        <p:spPr>
          <a:xfrm>
            <a:off x="181719" y="679329"/>
            <a:ext cx="1155076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Read me: notes for instructors</a:t>
            </a:r>
          </a:p>
        </p:txBody>
      </p:sp>
      <p:sp>
        <p:nvSpPr>
          <p:cNvPr id="6" name="TextBox 5">
            <a:extLst>
              <a:ext uri="{FF2B5EF4-FFF2-40B4-BE49-F238E27FC236}">
                <a16:creationId xmlns:a16="http://schemas.microsoft.com/office/drawing/2014/main" id="{1271E1D7-15C9-A2CB-F544-ACC33A74E151}"/>
              </a:ext>
            </a:extLst>
          </p:cNvPr>
          <p:cNvSpPr txBox="1"/>
          <p:nvPr/>
        </p:nvSpPr>
        <p:spPr>
          <a:xfrm>
            <a:off x="547744" y="1802713"/>
            <a:ext cx="11096512" cy="34163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a:ea typeface="Calibri"/>
                <a:cs typeface="Times New Roman"/>
              </a:rPr>
              <a:t>Use: a PowerPoint and speaker notes meant to introduce undergraduate biology students to evolution using conflict-reducing practices.</a:t>
            </a:r>
            <a:b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br>
            <a:b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br>
            <a:r>
              <a:rPr kumimoji="0" lang="en-US" sz="1800" b="0" i="0" u="none" strike="noStrike" kern="1200" cap="none" spc="0" normalizeH="0" baseline="0" noProof="0" dirty="0">
                <a:ln>
                  <a:noFill/>
                </a:ln>
                <a:solidFill>
                  <a:prstClr val="white"/>
                </a:solidFill>
                <a:effectLst/>
                <a:uLnTx/>
                <a:uFillTx/>
                <a:latin typeface="Times New Roman"/>
                <a:ea typeface="Calibri"/>
                <a:cs typeface="Times New Roman"/>
              </a:rPr>
              <a:t>A video of an instructor presenting this lesson was shown to reduce perceived conflict between religion &amp; evolution, increase perceived compatibility between religion &amp; evolution, and increase evolution acceptance in a randomized controlled study of over 2,000 undergraduate biology students: </a:t>
            </a:r>
            <a:r>
              <a:rPr kumimoji="0" lang="en-US" sz="1800" b="0" i="0" u="none" strike="noStrike" kern="1200" cap="none" spc="0" normalizeH="0" baseline="0" noProof="0" dirty="0">
                <a:ln>
                  <a:noFill/>
                </a:ln>
                <a:solidFill>
                  <a:prstClr val="white"/>
                </a:solidFill>
                <a:effectLst/>
                <a:uLnTx/>
                <a:uFillTx/>
                <a:latin typeface="Times New Roman"/>
                <a:ea typeface="Calibri"/>
                <a:cs typeface="Times New Roman"/>
                <a:hlinkClick r:id="rId3">
                  <a:extLst>
                    <a:ext uri="{A12FA001-AC4F-418D-AE19-62706E023703}">
                      <ahyp:hlinkClr xmlns:ahyp="http://schemas.microsoft.com/office/drawing/2018/hyperlinkcolor" val="tx"/>
                    </a:ext>
                  </a:extLst>
                </a:hlinkClick>
              </a:rPr>
              <a:t>https://www.lifescied.org/doi/10.1187/cbe.24-05-0157 </a:t>
            </a:r>
            <a:b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br>
            <a:b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br>
            <a:r>
              <a:rPr kumimoji="0" lang="en-US" sz="1800" b="0" i="0" u="none" strike="noStrike" kern="1200" cap="none" spc="0" normalizeH="0" baseline="0" noProof="0" dirty="0">
                <a:ln>
                  <a:noFill/>
                </a:ln>
                <a:solidFill>
                  <a:prstClr val="white"/>
                </a:solidFill>
                <a:effectLst/>
                <a:uLnTx/>
                <a:uFillTx/>
                <a:latin typeface="Times New Roman"/>
                <a:ea typeface="Calibri"/>
                <a:cs typeface="Times New Roman"/>
              </a:rPr>
              <a:t>This lesson is not meant to be a comprehensive coverage of the science of evolution, but an introduction meant to increase students’ receptivity to further instruction. </a:t>
            </a:r>
            <a:b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br>
            <a:b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Calibri" panose="020F0502020204030204" pitchFamily="34" charset="0"/>
                <a:cs typeface="+mn-cs"/>
              </a:rPr>
            </a:br>
            <a:r>
              <a:rPr kumimoji="0" lang="en-US" sz="1800" b="0" i="0" u="none" strike="noStrike" kern="1200" cap="none" spc="0" normalizeH="0" baseline="0" noProof="0" dirty="0">
                <a:ln>
                  <a:noFill/>
                </a:ln>
                <a:solidFill>
                  <a:prstClr val="white"/>
                </a:solidFill>
                <a:effectLst/>
                <a:uLnTx/>
                <a:uFillTx/>
                <a:latin typeface="Times New Roman"/>
                <a:ea typeface="Calibri"/>
                <a:cs typeface="Times New Roman"/>
              </a:rPr>
              <a:t>If instructors would like to assign this as a video homework, they are free to use the following YouTube video of Dr. Liz Barnes presenting this slideshow: </a:t>
            </a:r>
            <a:r>
              <a:rPr kumimoji="0" lang="en-US" sz="1800" b="0" i="0" u="none" strike="noStrike" kern="1200" cap="none" spc="0" normalizeH="0" baseline="0" noProof="0" dirty="0">
                <a:ln>
                  <a:noFill/>
                </a:ln>
                <a:solidFill>
                  <a:prstClr val="white"/>
                </a:solidFill>
                <a:effectLst/>
                <a:uLnTx/>
                <a:uFillTx/>
                <a:latin typeface="Times New Roman"/>
                <a:ea typeface="Calibri"/>
                <a:cs typeface="Times New Roman"/>
                <a:hlinkClick r:id="rId4">
                  <a:extLst>
                    <a:ext uri="{A12FA001-AC4F-418D-AE19-62706E023703}">
                      <ahyp:hlinkClr xmlns:ahyp="http://schemas.microsoft.com/office/drawing/2018/hyperlinkcolor" val="tx"/>
                    </a:ext>
                  </a:extLst>
                </a:hlinkClick>
              </a:rPr>
              <a:t>https://youtu.be/IRjlDRvOAGM?si=ar_tW6UKsz3QtnVx</a:t>
            </a:r>
            <a:r>
              <a:rPr kumimoji="0" lang="en-US" sz="1800" b="0" i="0" u="none" strike="noStrike" kern="1200" cap="none" spc="0" normalizeH="0" baseline="0" noProof="0" dirty="0">
                <a:ln>
                  <a:noFill/>
                </a:ln>
                <a:solidFill>
                  <a:prstClr val="white"/>
                </a:solidFill>
                <a:effectLst/>
                <a:uLnTx/>
                <a:uFillTx/>
                <a:latin typeface="Times New Roman"/>
                <a:ea typeface="Calibri"/>
                <a:cs typeface="Times New Roman"/>
              </a:rPr>
              <a:t> </a:t>
            </a:r>
            <a:endParaRPr kumimoji="0" lang="en-US" sz="1800" b="0" i="0" u="none" strike="noStrike" kern="1200" cap="none" spc="0" normalizeH="0" baseline="0" noProof="0" dirty="0">
              <a:ln>
                <a:noFill/>
              </a:ln>
              <a:solidFill>
                <a:prstClr val="white"/>
              </a:solidFill>
              <a:effectLst/>
              <a:uLnTx/>
              <a:uFillTx/>
              <a:latin typeface="Times New Roman"/>
              <a:ea typeface="Calibri"/>
              <a:cs typeface="+mn-cs"/>
            </a:endParaRPr>
          </a:p>
        </p:txBody>
      </p:sp>
    </p:spTree>
    <p:extLst>
      <p:ext uri="{BB962C8B-B14F-4D97-AF65-F5344CB8AC3E}">
        <p14:creationId xmlns:p14="http://schemas.microsoft.com/office/powerpoint/2010/main" val="272500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4533C-9D74-BCFD-223E-3AC013B19A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33BB36-2DC7-B585-8C76-80E84883AE1B}"/>
              </a:ext>
            </a:extLst>
          </p:cNvPr>
          <p:cNvSpPr txBox="1"/>
          <p:nvPr/>
        </p:nvSpPr>
        <p:spPr>
          <a:xfrm>
            <a:off x="6935541" y="1602658"/>
            <a:ext cx="18473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F071888E-8C40-57B9-C385-B9FD18EF163D}"/>
              </a:ext>
            </a:extLst>
          </p:cNvPr>
          <p:cNvSpPr txBox="1"/>
          <p:nvPr/>
        </p:nvSpPr>
        <p:spPr>
          <a:xfrm>
            <a:off x="117173" y="2411310"/>
            <a:ext cx="11550769"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Evolution: </a:t>
            </a:r>
            <a:br>
              <a:rPr kumimoji="0" lang="en-US" sz="5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br>
            <a:r>
              <a:rPr kumimoji="0" lang="en-US" sz="5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An Introduction</a:t>
            </a:r>
          </a:p>
        </p:txBody>
      </p:sp>
    </p:spTree>
    <p:extLst>
      <p:ext uri="{BB962C8B-B14F-4D97-AF65-F5344CB8AC3E}">
        <p14:creationId xmlns:p14="http://schemas.microsoft.com/office/powerpoint/2010/main" val="187490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35541" y="1602658"/>
            <a:ext cx="18473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TextBox 14">
            <a:extLst>
              <a:ext uri="{FF2B5EF4-FFF2-40B4-BE49-F238E27FC236}">
                <a16:creationId xmlns:a16="http://schemas.microsoft.com/office/drawing/2014/main" id="{1C1B28BD-D279-CF14-F053-F747CAA8E8CD}"/>
              </a:ext>
            </a:extLst>
          </p:cNvPr>
          <p:cNvSpPr txBox="1"/>
          <p:nvPr/>
        </p:nvSpPr>
        <p:spPr>
          <a:xfrm>
            <a:off x="481475" y="316940"/>
            <a:ext cx="11550769"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Evolution is change in a population of organisms over time</a:t>
            </a:r>
          </a:p>
        </p:txBody>
      </p:sp>
      <p:grpSp>
        <p:nvGrpSpPr>
          <p:cNvPr id="70" name="Group 69">
            <a:extLst>
              <a:ext uri="{FF2B5EF4-FFF2-40B4-BE49-F238E27FC236}">
                <a16:creationId xmlns:a16="http://schemas.microsoft.com/office/drawing/2014/main" id="{3BD10A25-121E-DD4C-3FB7-E021AA3521CB}"/>
              </a:ext>
            </a:extLst>
          </p:cNvPr>
          <p:cNvGrpSpPr/>
          <p:nvPr/>
        </p:nvGrpSpPr>
        <p:grpSpPr>
          <a:xfrm>
            <a:off x="180191" y="2712379"/>
            <a:ext cx="1733846" cy="1925120"/>
            <a:chOff x="180191" y="2712379"/>
            <a:chExt cx="1733846" cy="1925120"/>
          </a:xfrm>
        </p:grpSpPr>
        <p:pic>
          <p:nvPicPr>
            <p:cNvPr id="5" name="Graphic 4" descr="Mushroom with solid fill">
              <a:extLst>
                <a:ext uri="{FF2B5EF4-FFF2-40B4-BE49-F238E27FC236}">
                  <a16:creationId xmlns:a16="http://schemas.microsoft.com/office/drawing/2014/main" id="{11AA9B47-DABC-26C3-1CEE-B496D44352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8046" y="2712379"/>
              <a:ext cx="595166" cy="595166"/>
            </a:xfrm>
            <a:prstGeom prst="rect">
              <a:avLst/>
            </a:prstGeom>
          </p:spPr>
        </p:pic>
        <p:pic>
          <p:nvPicPr>
            <p:cNvPr id="8" name="Graphic 7" descr="Mushroom outline">
              <a:extLst>
                <a:ext uri="{FF2B5EF4-FFF2-40B4-BE49-F238E27FC236}">
                  <a16:creationId xmlns:a16="http://schemas.microsoft.com/office/drawing/2014/main" id="{08F90DF4-837E-A03C-8B37-B09153A610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8046" y="3178154"/>
              <a:ext cx="595166" cy="595166"/>
            </a:xfrm>
            <a:prstGeom prst="rect">
              <a:avLst/>
            </a:prstGeom>
          </p:spPr>
        </p:pic>
        <p:pic>
          <p:nvPicPr>
            <p:cNvPr id="16" name="Graphic 15" descr="Mushroom outline">
              <a:extLst>
                <a:ext uri="{FF2B5EF4-FFF2-40B4-BE49-F238E27FC236}">
                  <a16:creationId xmlns:a16="http://schemas.microsoft.com/office/drawing/2014/main" id="{45615E62-CD43-77EE-3061-4BD8885783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7944" y="2712379"/>
              <a:ext cx="595166" cy="595166"/>
            </a:xfrm>
            <a:prstGeom prst="rect">
              <a:avLst/>
            </a:prstGeom>
          </p:spPr>
        </p:pic>
        <p:pic>
          <p:nvPicPr>
            <p:cNvPr id="17" name="Graphic 16" descr="Mushroom outline">
              <a:extLst>
                <a:ext uri="{FF2B5EF4-FFF2-40B4-BE49-F238E27FC236}">
                  <a16:creationId xmlns:a16="http://schemas.microsoft.com/office/drawing/2014/main" id="{6057A4A6-A9C9-5997-C5A6-06469E3CFB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3695" y="3178154"/>
              <a:ext cx="595166" cy="595166"/>
            </a:xfrm>
            <a:prstGeom prst="rect">
              <a:avLst/>
            </a:prstGeom>
          </p:spPr>
        </p:pic>
        <p:pic>
          <p:nvPicPr>
            <p:cNvPr id="18" name="Graphic 17" descr="Mushroom outline">
              <a:extLst>
                <a:ext uri="{FF2B5EF4-FFF2-40B4-BE49-F238E27FC236}">
                  <a16:creationId xmlns:a16="http://schemas.microsoft.com/office/drawing/2014/main" id="{C994CB5B-6736-8AA6-0ED9-F6D279120F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8046" y="3643929"/>
              <a:ext cx="595166" cy="595166"/>
            </a:xfrm>
            <a:prstGeom prst="rect">
              <a:avLst/>
            </a:prstGeom>
          </p:spPr>
        </p:pic>
        <p:pic>
          <p:nvPicPr>
            <p:cNvPr id="19" name="Graphic 18" descr="Mushroom outline">
              <a:extLst>
                <a:ext uri="{FF2B5EF4-FFF2-40B4-BE49-F238E27FC236}">
                  <a16:creationId xmlns:a16="http://schemas.microsoft.com/office/drawing/2014/main" id="{AF6E23A3-A961-1337-90BB-42CA86B0C7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5069" y="3645425"/>
              <a:ext cx="595166" cy="595166"/>
            </a:xfrm>
            <a:prstGeom prst="rect">
              <a:avLst/>
            </a:prstGeom>
          </p:spPr>
        </p:pic>
        <p:pic>
          <p:nvPicPr>
            <p:cNvPr id="20" name="Graphic 19" descr="Mushroom outline">
              <a:extLst>
                <a:ext uri="{FF2B5EF4-FFF2-40B4-BE49-F238E27FC236}">
                  <a16:creationId xmlns:a16="http://schemas.microsoft.com/office/drawing/2014/main" id="{D8A5DDE0-978F-6A1D-1803-3CAF488CF1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7842" y="2712379"/>
              <a:ext cx="595166" cy="595166"/>
            </a:xfrm>
            <a:prstGeom prst="rect">
              <a:avLst/>
            </a:prstGeom>
          </p:spPr>
        </p:pic>
        <p:pic>
          <p:nvPicPr>
            <p:cNvPr id="21" name="Graphic 20" descr="Mushroom outline">
              <a:extLst>
                <a:ext uri="{FF2B5EF4-FFF2-40B4-BE49-F238E27FC236}">
                  <a16:creationId xmlns:a16="http://schemas.microsoft.com/office/drawing/2014/main" id="{4C7487FC-BEED-AD51-739F-9C21250DA97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4966" y="3196902"/>
              <a:ext cx="595166" cy="595166"/>
            </a:xfrm>
            <a:prstGeom prst="rect">
              <a:avLst/>
            </a:prstGeom>
          </p:spPr>
        </p:pic>
        <p:pic>
          <p:nvPicPr>
            <p:cNvPr id="22" name="Graphic 21" descr="Mushroom outline">
              <a:extLst>
                <a:ext uri="{FF2B5EF4-FFF2-40B4-BE49-F238E27FC236}">
                  <a16:creationId xmlns:a16="http://schemas.microsoft.com/office/drawing/2014/main" id="{1BD2BDEE-F130-E9A5-05F4-D779DA0A7E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3465" y="3626677"/>
              <a:ext cx="595166" cy="595166"/>
            </a:xfrm>
            <a:prstGeom prst="rect">
              <a:avLst/>
            </a:prstGeom>
          </p:spPr>
        </p:pic>
        <p:sp>
          <p:nvSpPr>
            <p:cNvPr id="50" name="TextBox 49">
              <a:extLst>
                <a:ext uri="{FF2B5EF4-FFF2-40B4-BE49-F238E27FC236}">
                  <a16:creationId xmlns:a16="http://schemas.microsoft.com/office/drawing/2014/main" id="{05186DA9-CDFC-6784-529C-B5B3A2A307C5}"/>
                </a:ext>
              </a:extLst>
            </p:cNvPr>
            <p:cNvSpPr txBox="1"/>
            <p:nvPr/>
          </p:nvSpPr>
          <p:spPr>
            <a:xfrm>
              <a:off x="180191" y="4237389"/>
              <a:ext cx="173384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Generation 1</a:t>
              </a:r>
            </a:p>
          </p:txBody>
        </p:sp>
      </p:grpSp>
      <p:grpSp>
        <p:nvGrpSpPr>
          <p:cNvPr id="68" name="Group 67">
            <a:extLst>
              <a:ext uri="{FF2B5EF4-FFF2-40B4-BE49-F238E27FC236}">
                <a16:creationId xmlns:a16="http://schemas.microsoft.com/office/drawing/2014/main" id="{246F13F1-A24F-B67F-4C75-59347B7725FE}"/>
              </a:ext>
            </a:extLst>
          </p:cNvPr>
          <p:cNvGrpSpPr/>
          <p:nvPr/>
        </p:nvGrpSpPr>
        <p:grpSpPr>
          <a:xfrm>
            <a:off x="1876340" y="3702214"/>
            <a:ext cx="1733847" cy="1892591"/>
            <a:chOff x="1913186" y="3507852"/>
            <a:chExt cx="1733847" cy="1892591"/>
          </a:xfrm>
        </p:grpSpPr>
        <p:pic>
          <p:nvPicPr>
            <p:cNvPr id="23" name="Graphic 22" descr="Mushroom with solid fill">
              <a:extLst>
                <a:ext uri="{FF2B5EF4-FFF2-40B4-BE49-F238E27FC236}">
                  <a16:creationId xmlns:a16="http://schemas.microsoft.com/office/drawing/2014/main" id="{BD045D52-BF62-41E3-D652-4A8ECFC6AB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05900" y="3514001"/>
              <a:ext cx="595166" cy="595166"/>
            </a:xfrm>
            <a:prstGeom prst="rect">
              <a:avLst/>
            </a:prstGeom>
          </p:spPr>
        </p:pic>
        <p:pic>
          <p:nvPicPr>
            <p:cNvPr id="24" name="Graphic 23" descr="Mushroom outline">
              <a:extLst>
                <a:ext uri="{FF2B5EF4-FFF2-40B4-BE49-F238E27FC236}">
                  <a16:creationId xmlns:a16="http://schemas.microsoft.com/office/drawing/2014/main" id="{8831B6F1-197C-304F-5ED5-6AA3D8E97C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41249" y="3974142"/>
              <a:ext cx="595166" cy="595166"/>
            </a:xfrm>
            <a:prstGeom prst="rect">
              <a:avLst/>
            </a:prstGeom>
          </p:spPr>
        </p:pic>
        <p:pic>
          <p:nvPicPr>
            <p:cNvPr id="26" name="Graphic 25" descr="Mushroom outline">
              <a:extLst>
                <a:ext uri="{FF2B5EF4-FFF2-40B4-BE49-F238E27FC236}">
                  <a16:creationId xmlns:a16="http://schemas.microsoft.com/office/drawing/2014/main" id="{A47BBC2F-C7F6-C9CF-8733-5A7E7E66BF1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86898" y="3974142"/>
              <a:ext cx="595166" cy="595166"/>
            </a:xfrm>
            <a:prstGeom prst="rect">
              <a:avLst/>
            </a:prstGeom>
          </p:spPr>
        </p:pic>
        <p:pic>
          <p:nvPicPr>
            <p:cNvPr id="27" name="Graphic 26" descr="Mushroom outline">
              <a:extLst>
                <a:ext uri="{FF2B5EF4-FFF2-40B4-BE49-F238E27FC236}">
                  <a16:creationId xmlns:a16="http://schemas.microsoft.com/office/drawing/2014/main" id="{3EF1790F-D3E1-45AC-C0E0-E81B9A9948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41249" y="4422665"/>
              <a:ext cx="595166" cy="595166"/>
            </a:xfrm>
            <a:prstGeom prst="rect">
              <a:avLst/>
            </a:prstGeom>
          </p:spPr>
        </p:pic>
        <p:pic>
          <p:nvPicPr>
            <p:cNvPr id="28" name="Graphic 27" descr="Mushroom outline">
              <a:extLst>
                <a:ext uri="{FF2B5EF4-FFF2-40B4-BE49-F238E27FC236}">
                  <a16:creationId xmlns:a16="http://schemas.microsoft.com/office/drawing/2014/main" id="{77929C0D-4D37-8436-8431-39D8667E8F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78272" y="4441413"/>
              <a:ext cx="595166" cy="595166"/>
            </a:xfrm>
            <a:prstGeom prst="rect">
              <a:avLst/>
            </a:prstGeom>
          </p:spPr>
        </p:pic>
        <p:pic>
          <p:nvPicPr>
            <p:cNvPr id="30" name="Graphic 29" descr="Mushroom outline">
              <a:extLst>
                <a:ext uri="{FF2B5EF4-FFF2-40B4-BE49-F238E27FC236}">
                  <a16:creationId xmlns:a16="http://schemas.microsoft.com/office/drawing/2014/main" id="{D21BF807-E96C-5E72-86CF-6A8B1627C0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18169" y="3992890"/>
              <a:ext cx="595166" cy="595166"/>
            </a:xfrm>
            <a:prstGeom prst="rect">
              <a:avLst/>
            </a:prstGeom>
          </p:spPr>
        </p:pic>
        <p:pic>
          <p:nvPicPr>
            <p:cNvPr id="31" name="Graphic 30" descr="Mushroom outline">
              <a:extLst>
                <a:ext uri="{FF2B5EF4-FFF2-40B4-BE49-F238E27FC236}">
                  <a16:creationId xmlns:a16="http://schemas.microsoft.com/office/drawing/2014/main" id="{9F2CB592-5C63-3AC6-D532-02AD09215F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06668" y="4422665"/>
              <a:ext cx="595166" cy="595166"/>
            </a:xfrm>
            <a:prstGeom prst="rect">
              <a:avLst/>
            </a:prstGeom>
          </p:spPr>
        </p:pic>
        <p:pic>
          <p:nvPicPr>
            <p:cNvPr id="32" name="Graphic 31" descr="Mushroom with solid fill">
              <a:extLst>
                <a:ext uri="{FF2B5EF4-FFF2-40B4-BE49-F238E27FC236}">
                  <a16:creationId xmlns:a16="http://schemas.microsoft.com/office/drawing/2014/main" id="{76F938F1-98C2-F494-73EB-5D80A890E6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78272" y="3508367"/>
              <a:ext cx="595166" cy="595166"/>
            </a:xfrm>
            <a:prstGeom prst="rect">
              <a:avLst/>
            </a:prstGeom>
          </p:spPr>
        </p:pic>
        <p:pic>
          <p:nvPicPr>
            <p:cNvPr id="33" name="Graphic 32" descr="Mushroom with solid fill">
              <a:extLst>
                <a:ext uri="{FF2B5EF4-FFF2-40B4-BE49-F238E27FC236}">
                  <a16:creationId xmlns:a16="http://schemas.microsoft.com/office/drawing/2014/main" id="{C6D22908-31FB-8297-FD46-C1668DE616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38373" y="3507852"/>
              <a:ext cx="595166" cy="595166"/>
            </a:xfrm>
            <a:prstGeom prst="rect">
              <a:avLst/>
            </a:prstGeom>
          </p:spPr>
        </p:pic>
        <p:sp>
          <p:nvSpPr>
            <p:cNvPr id="51" name="TextBox 50">
              <a:extLst>
                <a:ext uri="{FF2B5EF4-FFF2-40B4-BE49-F238E27FC236}">
                  <a16:creationId xmlns:a16="http://schemas.microsoft.com/office/drawing/2014/main" id="{D2ABF214-3B39-42A9-8693-CBB10C898B9F}"/>
                </a:ext>
              </a:extLst>
            </p:cNvPr>
            <p:cNvSpPr txBox="1"/>
            <p:nvPr/>
          </p:nvSpPr>
          <p:spPr>
            <a:xfrm>
              <a:off x="1913186" y="5000333"/>
              <a:ext cx="17338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Generation 2</a:t>
              </a:r>
            </a:p>
          </p:txBody>
        </p:sp>
      </p:grpSp>
      <p:grpSp>
        <p:nvGrpSpPr>
          <p:cNvPr id="69" name="Group 68">
            <a:extLst>
              <a:ext uri="{FF2B5EF4-FFF2-40B4-BE49-F238E27FC236}">
                <a16:creationId xmlns:a16="http://schemas.microsoft.com/office/drawing/2014/main" id="{D9394DEA-2900-96C4-630D-0B3AF983FEFD}"/>
              </a:ext>
            </a:extLst>
          </p:cNvPr>
          <p:cNvGrpSpPr/>
          <p:nvPr/>
        </p:nvGrpSpPr>
        <p:grpSpPr>
          <a:xfrm>
            <a:off x="3589960" y="4437444"/>
            <a:ext cx="1733847" cy="1890978"/>
            <a:chOff x="3772259" y="4466991"/>
            <a:chExt cx="1733847" cy="1890978"/>
          </a:xfrm>
        </p:grpSpPr>
        <p:pic>
          <p:nvPicPr>
            <p:cNvPr id="34" name="Graphic 33" descr="Mushroom with solid fill">
              <a:extLst>
                <a:ext uri="{FF2B5EF4-FFF2-40B4-BE49-F238E27FC236}">
                  <a16:creationId xmlns:a16="http://schemas.microsoft.com/office/drawing/2014/main" id="{24891553-06C3-40F2-7C30-A958967DAE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56159" y="4466991"/>
              <a:ext cx="595166" cy="595166"/>
            </a:xfrm>
            <a:prstGeom prst="rect">
              <a:avLst/>
            </a:prstGeom>
          </p:spPr>
        </p:pic>
        <p:pic>
          <p:nvPicPr>
            <p:cNvPr id="35" name="Graphic 34" descr="Mushroom outline">
              <a:extLst>
                <a:ext uri="{FF2B5EF4-FFF2-40B4-BE49-F238E27FC236}">
                  <a16:creationId xmlns:a16="http://schemas.microsoft.com/office/drawing/2014/main" id="{C530D58E-E769-0A3A-FB2E-9387972F821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83924" y="4935758"/>
              <a:ext cx="595166" cy="595166"/>
            </a:xfrm>
            <a:prstGeom prst="rect">
              <a:avLst/>
            </a:prstGeom>
          </p:spPr>
        </p:pic>
        <p:pic>
          <p:nvPicPr>
            <p:cNvPr id="36" name="Graphic 35" descr="Mushroom outline">
              <a:extLst>
                <a:ext uri="{FF2B5EF4-FFF2-40B4-BE49-F238E27FC236}">
                  <a16:creationId xmlns:a16="http://schemas.microsoft.com/office/drawing/2014/main" id="{E87DCF15-3C22-1032-E006-55DAD5BC6F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46821" y="4935758"/>
              <a:ext cx="595166" cy="595166"/>
            </a:xfrm>
            <a:prstGeom prst="rect">
              <a:avLst/>
            </a:prstGeom>
          </p:spPr>
        </p:pic>
        <p:pic>
          <p:nvPicPr>
            <p:cNvPr id="38" name="Graphic 37" descr="Mushroom outline">
              <a:extLst>
                <a:ext uri="{FF2B5EF4-FFF2-40B4-BE49-F238E27FC236}">
                  <a16:creationId xmlns:a16="http://schemas.microsoft.com/office/drawing/2014/main" id="{6712EDE2-5B33-5CC4-C218-3658C17C63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86716" y="4945880"/>
              <a:ext cx="595166" cy="595166"/>
            </a:xfrm>
            <a:prstGeom prst="rect">
              <a:avLst/>
            </a:prstGeom>
          </p:spPr>
        </p:pic>
        <p:pic>
          <p:nvPicPr>
            <p:cNvPr id="40" name="Graphic 39" descr="Mushroom with solid fill">
              <a:extLst>
                <a:ext uri="{FF2B5EF4-FFF2-40B4-BE49-F238E27FC236}">
                  <a16:creationId xmlns:a16="http://schemas.microsoft.com/office/drawing/2014/main" id="{E765F4B8-8A1C-D8C9-0CE4-9D2BD3ACD9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19907" y="4469983"/>
              <a:ext cx="595166" cy="595166"/>
            </a:xfrm>
            <a:prstGeom prst="rect">
              <a:avLst/>
            </a:prstGeom>
          </p:spPr>
        </p:pic>
        <p:pic>
          <p:nvPicPr>
            <p:cNvPr id="41" name="Graphic 40" descr="Mushroom with solid fill">
              <a:extLst>
                <a:ext uri="{FF2B5EF4-FFF2-40B4-BE49-F238E27FC236}">
                  <a16:creationId xmlns:a16="http://schemas.microsoft.com/office/drawing/2014/main" id="{11844F5C-EBAF-2F25-A92C-98C6E3F02C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2760" y="4469468"/>
              <a:ext cx="595166" cy="595166"/>
            </a:xfrm>
            <a:prstGeom prst="rect">
              <a:avLst/>
            </a:prstGeom>
          </p:spPr>
        </p:pic>
        <p:pic>
          <p:nvPicPr>
            <p:cNvPr id="42" name="Graphic 41" descr="Mushroom with solid fill">
              <a:extLst>
                <a:ext uri="{FF2B5EF4-FFF2-40B4-BE49-F238E27FC236}">
                  <a16:creationId xmlns:a16="http://schemas.microsoft.com/office/drawing/2014/main" id="{75D54E95-C227-12AF-9E0D-38C02D66F4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46821" y="5398891"/>
              <a:ext cx="595166" cy="595166"/>
            </a:xfrm>
            <a:prstGeom prst="rect">
              <a:avLst/>
            </a:prstGeom>
          </p:spPr>
        </p:pic>
        <p:pic>
          <p:nvPicPr>
            <p:cNvPr id="43" name="Graphic 42" descr="Mushroom with solid fill">
              <a:extLst>
                <a:ext uri="{FF2B5EF4-FFF2-40B4-BE49-F238E27FC236}">
                  <a16:creationId xmlns:a16="http://schemas.microsoft.com/office/drawing/2014/main" id="{D4DAE45C-9E67-50C4-F86B-02403B48FF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12625" y="5413270"/>
              <a:ext cx="595166" cy="595166"/>
            </a:xfrm>
            <a:prstGeom prst="rect">
              <a:avLst/>
            </a:prstGeom>
          </p:spPr>
        </p:pic>
        <p:pic>
          <p:nvPicPr>
            <p:cNvPr id="44" name="Graphic 43" descr="Mushroom with solid fill">
              <a:extLst>
                <a:ext uri="{FF2B5EF4-FFF2-40B4-BE49-F238E27FC236}">
                  <a16:creationId xmlns:a16="http://schemas.microsoft.com/office/drawing/2014/main" id="{69CBFF27-A773-88B2-6E7D-70F9251636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92576" y="5389629"/>
              <a:ext cx="595166" cy="595166"/>
            </a:xfrm>
            <a:prstGeom prst="rect">
              <a:avLst/>
            </a:prstGeom>
          </p:spPr>
        </p:pic>
        <p:sp>
          <p:nvSpPr>
            <p:cNvPr id="52" name="TextBox 51">
              <a:extLst>
                <a:ext uri="{FF2B5EF4-FFF2-40B4-BE49-F238E27FC236}">
                  <a16:creationId xmlns:a16="http://schemas.microsoft.com/office/drawing/2014/main" id="{23FDACF1-DCEA-6147-E22F-051464F35022}"/>
                </a:ext>
              </a:extLst>
            </p:cNvPr>
            <p:cNvSpPr txBox="1"/>
            <p:nvPr/>
          </p:nvSpPr>
          <p:spPr>
            <a:xfrm>
              <a:off x="3772259" y="5957859"/>
              <a:ext cx="173384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Generation 3</a:t>
              </a:r>
            </a:p>
          </p:txBody>
        </p:sp>
      </p:grpSp>
      <p:sp>
        <p:nvSpPr>
          <p:cNvPr id="53" name="TextBox 52">
            <a:extLst>
              <a:ext uri="{FF2B5EF4-FFF2-40B4-BE49-F238E27FC236}">
                <a16:creationId xmlns:a16="http://schemas.microsoft.com/office/drawing/2014/main" id="{BCF8689F-690F-FB00-EB7A-68D1D9BDC92B}"/>
              </a:ext>
            </a:extLst>
          </p:cNvPr>
          <p:cNvSpPr txBox="1"/>
          <p:nvPr/>
        </p:nvSpPr>
        <p:spPr>
          <a:xfrm>
            <a:off x="923817" y="1348946"/>
            <a:ext cx="4510178" cy="830997"/>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 population of mushrooms changing over time:</a:t>
            </a:r>
          </a:p>
        </p:txBody>
      </p:sp>
      <p:sp>
        <p:nvSpPr>
          <p:cNvPr id="54" name="TextBox 53">
            <a:extLst>
              <a:ext uri="{FF2B5EF4-FFF2-40B4-BE49-F238E27FC236}">
                <a16:creationId xmlns:a16="http://schemas.microsoft.com/office/drawing/2014/main" id="{2087394A-7DE1-19E5-924A-040825E35440}"/>
              </a:ext>
            </a:extLst>
          </p:cNvPr>
          <p:cNvSpPr txBox="1"/>
          <p:nvPr/>
        </p:nvSpPr>
        <p:spPr>
          <a:xfrm>
            <a:off x="6432948" y="1366634"/>
            <a:ext cx="4510178" cy="830997"/>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Questions that evolutionary biologists ask:</a:t>
            </a:r>
          </a:p>
        </p:txBody>
      </p:sp>
      <p:sp>
        <p:nvSpPr>
          <p:cNvPr id="55" name="TextBox 54">
            <a:extLst>
              <a:ext uri="{FF2B5EF4-FFF2-40B4-BE49-F238E27FC236}">
                <a16:creationId xmlns:a16="http://schemas.microsoft.com/office/drawing/2014/main" id="{78462864-8942-19D7-8B69-A4AF69E4B3E2}"/>
              </a:ext>
            </a:extLst>
          </p:cNvPr>
          <p:cNvSpPr txBox="1"/>
          <p:nvPr/>
        </p:nvSpPr>
        <p:spPr>
          <a:xfrm>
            <a:off x="5851733" y="2358436"/>
            <a:ext cx="2914713" cy="707886"/>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How did evolution happen in the past?</a:t>
            </a:r>
          </a:p>
        </p:txBody>
      </p:sp>
      <p:sp>
        <p:nvSpPr>
          <p:cNvPr id="56" name="TextBox 55">
            <a:extLst>
              <a:ext uri="{FF2B5EF4-FFF2-40B4-BE49-F238E27FC236}">
                <a16:creationId xmlns:a16="http://schemas.microsoft.com/office/drawing/2014/main" id="{2CB59D79-7DE0-74F5-EE03-7AC6EE02DF89}"/>
              </a:ext>
            </a:extLst>
          </p:cNvPr>
          <p:cNvSpPr txBox="1"/>
          <p:nvPr/>
        </p:nvSpPr>
        <p:spPr>
          <a:xfrm>
            <a:off x="9517097" y="2349944"/>
            <a:ext cx="2262996" cy="707886"/>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How does evolution happen today?</a:t>
            </a:r>
          </a:p>
        </p:txBody>
      </p:sp>
      <p:pic>
        <p:nvPicPr>
          <p:cNvPr id="62" name="Picture 61">
            <a:extLst>
              <a:ext uri="{FF2B5EF4-FFF2-40B4-BE49-F238E27FC236}">
                <a16:creationId xmlns:a16="http://schemas.microsoft.com/office/drawing/2014/main" id="{29FB3F3D-0BFD-93FC-A343-211DDF561F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86165" y="3092483"/>
            <a:ext cx="3657868" cy="3379870"/>
          </a:xfrm>
          <a:prstGeom prst="rect">
            <a:avLst/>
          </a:prstGeom>
        </p:spPr>
      </p:pic>
      <p:cxnSp>
        <p:nvCxnSpPr>
          <p:cNvPr id="76" name="Connector: Elbow 75">
            <a:extLst>
              <a:ext uri="{FF2B5EF4-FFF2-40B4-BE49-F238E27FC236}">
                <a16:creationId xmlns:a16="http://schemas.microsoft.com/office/drawing/2014/main" id="{4A0B7D64-F0CA-12EB-9DD9-A51122F6E398}"/>
              </a:ext>
            </a:extLst>
          </p:cNvPr>
          <p:cNvCxnSpPr>
            <a:cxnSpLocks/>
            <a:stCxn id="20" idx="3"/>
            <a:endCxn id="32" idx="0"/>
          </p:cNvCxnSpPr>
          <p:nvPr/>
        </p:nvCxnSpPr>
        <p:spPr>
          <a:xfrm>
            <a:off x="1783008" y="3009962"/>
            <a:ext cx="956001" cy="692767"/>
          </a:xfrm>
          <a:prstGeom prst="bent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F8AE0752-BA45-338A-50F8-C10C577C037A}"/>
              </a:ext>
            </a:extLst>
          </p:cNvPr>
          <p:cNvCxnSpPr>
            <a:cxnSpLocks/>
            <a:stCxn id="23" idx="3"/>
            <a:endCxn id="40" idx="0"/>
          </p:cNvCxnSpPr>
          <p:nvPr/>
        </p:nvCxnSpPr>
        <p:spPr>
          <a:xfrm>
            <a:off x="3464220" y="4005946"/>
            <a:ext cx="970971" cy="434490"/>
          </a:xfrm>
          <a:prstGeom prst="bent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ED8C3A22-C507-B90D-8265-39B78C1765A9}"/>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9474942" y="3677999"/>
            <a:ext cx="2536867" cy="2114056"/>
          </a:xfrm>
          <a:prstGeom prst="rect">
            <a:avLst/>
          </a:prstGeom>
        </p:spPr>
      </p:pic>
      <p:sp>
        <p:nvSpPr>
          <p:cNvPr id="4" name="TextBox 3">
            <a:extLst>
              <a:ext uri="{FF2B5EF4-FFF2-40B4-BE49-F238E27FC236}">
                <a16:creationId xmlns:a16="http://schemas.microsoft.com/office/drawing/2014/main" id="{C4887130-8075-6BA0-30D2-799A01688AE6}"/>
              </a:ext>
            </a:extLst>
          </p:cNvPr>
          <p:cNvSpPr txBox="1"/>
          <p:nvPr/>
        </p:nvSpPr>
        <p:spPr>
          <a:xfrm>
            <a:off x="9444564" y="3667576"/>
            <a:ext cx="256724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Antibiotic resistance</a:t>
            </a:r>
          </a:p>
        </p:txBody>
      </p:sp>
    </p:spTree>
    <p:extLst>
      <p:ext uri="{BB962C8B-B14F-4D97-AF65-F5344CB8AC3E}">
        <p14:creationId xmlns:p14="http://schemas.microsoft.com/office/powerpoint/2010/main" val="222903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p:bldP spid="56"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35541" y="1602658"/>
            <a:ext cx="18473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TextBox 14">
            <a:extLst>
              <a:ext uri="{FF2B5EF4-FFF2-40B4-BE49-F238E27FC236}">
                <a16:creationId xmlns:a16="http://schemas.microsoft.com/office/drawing/2014/main" id="{1C1B28BD-D279-CF14-F053-F747CAA8E8CD}"/>
              </a:ext>
            </a:extLst>
          </p:cNvPr>
          <p:cNvSpPr txBox="1"/>
          <p:nvPr/>
        </p:nvSpPr>
        <p:spPr>
          <a:xfrm>
            <a:off x="320612" y="254304"/>
            <a:ext cx="1155076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Evolution is the foundation of biology</a:t>
            </a:r>
          </a:p>
        </p:txBody>
      </p:sp>
      <p:pic>
        <p:nvPicPr>
          <p:cNvPr id="3" name="Picture 2">
            <a:extLst>
              <a:ext uri="{FF2B5EF4-FFF2-40B4-BE49-F238E27FC236}">
                <a16:creationId xmlns:a16="http://schemas.microsoft.com/office/drawing/2014/main" id="{C0DE4B27-B0EA-8852-D946-E9BD504BC16D}"/>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2557601" y="1700092"/>
            <a:ext cx="7076793" cy="4311735"/>
          </a:xfrm>
          <a:prstGeom prst="rect">
            <a:avLst/>
          </a:prstGeom>
          <a:ln w="38100">
            <a:solidFill>
              <a:schemeClr val="tx1"/>
            </a:solidFill>
          </a:ln>
        </p:spPr>
      </p:pic>
    </p:spTree>
    <p:extLst>
      <p:ext uri="{BB962C8B-B14F-4D97-AF65-F5344CB8AC3E}">
        <p14:creationId xmlns:p14="http://schemas.microsoft.com/office/powerpoint/2010/main" val="723545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35541" y="1602658"/>
            <a:ext cx="18473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4" name="TextBox 53">
            <a:extLst>
              <a:ext uri="{FF2B5EF4-FFF2-40B4-BE49-F238E27FC236}">
                <a16:creationId xmlns:a16="http://schemas.microsoft.com/office/drawing/2014/main" id="{2087394A-7DE1-19E5-924A-040825E35440}"/>
              </a:ext>
            </a:extLst>
          </p:cNvPr>
          <p:cNvSpPr txBox="1"/>
          <p:nvPr/>
        </p:nvSpPr>
        <p:spPr>
          <a:xfrm>
            <a:off x="1769764" y="1251883"/>
            <a:ext cx="3758163" cy="523220"/>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Evolution explains: </a:t>
            </a:r>
          </a:p>
        </p:txBody>
      </p:sp>
      <p:sp>
        <p:nvSpPr>
          <p:cNvPr id="56" name="TextBox 55">
            <a:extLst>
              <a:ext uri="{FF2B5EF4-FFF2-40B4-BE49-F238E27FC236}">
                <a16:creationId xmlns:a16="http://schemas.microsoft.com/office/drawing/2014/main" id="{2CB59D79-7DE0-74F5-EE03-7AC6EE02DF89}"/>
              </a:ext>
            </a:extLst>
          </p:cNvPr>
          <p:cNvSpPr txBox="1"/>
          <p:nvPr/>
        </p:nvSpPr>
        <p:spPr>
          <a:xfrm>
            <a:off x="148147" y="2181020"/>
            <a:ext cx="3331849" cy="76944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How do adaptations and functional traits occur?</a:t>
            </a:r>
          </a:p>
        </p:txBody>
      </p:sp>
      <p:pic>
        <p:nvPicPr>
          <p:cNvPr id="6" name="Picture 5">
            <a:extLst>
              <a:ext uri="{FF2B5EF4-FFF2-40B4-BE49-F238E27FC236}">
                <a16:creationId xmlns:a16="http://schemas.microsoft.com/office/drawing/2014/main" id="{A419F71C-20A0-7F7D-4C22-6D5B75264539}"/>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239085" y="3176793"/>
            <a:ext cx="3240911" cy="1682298"/>
          </a:xfrm>
          <a:prstGeom prst="rect">
            <a:avLst/>
          </a:prstGeom>
        </p:spPr>
      </p:pic>
      <p:sp>
        <p:nvSpPr>
          <p:cNvPr id="49" name="TextBox 48">
            <a:extLst>
              <a:ext uri="{FF2B5EF4-FFF2-40B4-BE49-F238E27FC236}">
                <a16:creationId xmlns:a16="http://schemas.microsoft.com/office/drawing/2014/main" id="{7719F209-631A-3055-F586-067688E59E1A}"/>
              </a:ext>
            </a:extLst>
          </p:cNvPr>
          <p:cNvSpPr txBox="1"/>
          <p:nvPr/>
        </p:nvSpPr>
        <p:spPr>
          <a:xfrm>
            <a:off x="3773510" y="2187963"/>
            <a:ext cx="2631439" cy="76944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How did life become so diverse?</a:t>
            </a:r>
          </a:p>
        </p:txBody>
      </p:sp>
      <p:pic>
        <p:nvPicPr>
          <p:cNvPr id="7" name="Picture 6">
            <a:extLst>
              <a:ext uri="{FF2B5EF4-FFF2-40B4-BE49-F238E27FC236}">
                <a16:creationId xmlns:a16="http://schemas.microsoft.com/office/drawing/2014/main" id="{E2CB88AB-19B0-A33E-560F-38701EBD9E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4216" y="3098565"/>
            <a:ext cx="3130736" cy="3586845"/>
          </a:xfrm>
          <a:prstGeom prst="rect">
            <a:avLst/>
          </a:prstGeom>
        </p:spPr>
      </p:pic>
      <p:sp>
        <p:nvSpPr>
          <p:cNvPr id="57" name="TextBox 56">
            <a:extLst>
              <a:ext uri="{FF2B5EF4-FFF2-40B4-BE49-F238E27FC236}">
                <a16:creationId xmlns:a16="http://schemas.microsoft.com/office/drawing/2014/main" id="{E3BD3418-E3E1-C8E5-BFCE-092366272F4B}"/>
              </a:ext>
            </a:extLst>
          </p:cNvPr>
          <p:cNvSpPr txBox="1"/>
          <p:nvPr/>
        </p:nvSpPr>
        <p:spPr>
          <a:xfrm>
            <a:off x="320612" y="254304"/>
            <a:ext cx="1155076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Evolution is the foundation of biology</a:t>
            </a:r>
          </a:p>
        </p:txBody>
      </p:sp>
      <p:sp>
        <p:nvSpPr>
          <p:cNvPr id="58" name="TextBox 57">
            <a:extLst>
              <a:ext uri="{FF2B5EF4-FFF2-40B4-BE49-F238E27FC236}">
                <a16:creationId xmlns:a16="http://schemas.microsoft.com/office/drawing/2014/main" id="{892927A0-8EAB-6FB0-3FAE-C8D3BE498E46}"/>
              </a:ext>
            </a:extLst>
          </p:cNvPr>
          <p:cNvSpPr txBox="1"/>
          <p:nvPr/>
        </p:nvSpPr>
        <p:spPr>
          <a:xfrm>
            <a:off x="7325359" y="1583098"/>
            <a:ext cx="4328042" cy="43088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How is life so similar?</a:t>
            </a:r>
          </a:p>
        </p:txBody>
      </p:sp>
      <p:pic>
        <p:nvPicPr>
          <p:cNvPr id="9" name="Picture 8">
            <a:extLst>
              <a:ext uri="{FF2B5EF4-FFF2-40B4-BE49-F238E27FC236}">
                <a16:creationId xmlns:a16="http://schemas.microsoft.com/office/drawing/2014/main" id="{DF7B0C92-3985-E42D-1F5B-168E6A225AC4}"/>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a:stretch/>
        </p:blipFill>
        <p:spPr>
          <a:xfrm>
            <a:off x="6855667" y="2361331"/>
            <a:ext cx="897545" cy="4170784"/>
          </a:xfrm>
          <a:prstGeom prst="rect">
            <a:avLst/>
          </a:prstGeom>
        </p:spPr>
      </p:pic>
      <p:pic>
        <p:nvPicPr>
          <p:cNvPr id="45" name="Picture 44" descr="Chimpanzee speaking">
            <a:extLst>
              <a:ext uri="{FF2B5EF4-FFF2-40B4-BE49-F238E27FC236}">
                <a16:creationId xmlns:a16="http://schemas.microsoft.com/office/drawing/2014/main" id="{0FA62695-BEAD-A95A-3D44-61CF621E84B4}"/>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308342" y="2753499"/>
            <a:ext cx="1493169" cy="1100191"/>
          </a:xfrm>
          <a:prstGeom prst="rect">
            <a:avLst/>
          </a:prstGeom>
        </p:spPr>
      </p:pic>
      <p:pic>
        <p:nvPicPr>
          <p:cNvPr id="47" name="Picture 46" descr="The mouse inside transparent cube looking up">
            <a:extLst>
              <a:ext uri="{FF2B5EF4-FFF2-40B4-BE49-F238E27FC236}">
                <a16:creationId xmlns:a16="http://schemas.microsoft.com/office/drawing/2014/main" id="{281C7BA3-77F0-F340-4DFD-03F39BB4613C}"/>
              </a:ext>
            </a:extLst>
          </p:cNvPr>
          <p:cNvPicPr>
            <a:picLocks noChangeAspect="1"/>
          </p:cNvPicPr>
          <p:nvPr/>
        </p:nvPicPr>
        <p:blipFill rotWithShape="1">
          <a:blip r:embed="rId7" cstate="hqprint">
            <a:extLst>
              <a:ext uri="{28A0092B-C50C-407E-A947-70E740481C1C}">
                <a14:useLocalDpi xmlns:a14="http://schemas.microsoft.com/office/drawing/2010/main" val="0"/>
              </a:ext>
            </a:extLst>
          </a:blip>
          <a:srcRect/>
          <a:stretch/>
        </p:blipFill>
        <p:spPr>
          <a:xfrm>
            <a:off x="8224169" y="5052472"/>
            <a:ext cx="1184286" cy="1102086"/>
          </a:xfrm>
          <a:prstGeom prst="rect">
            <a:avLst/>
          </a:prstGeom>
        </p:spPr>
      </p:pic>
      <p:pic>
        <p:nvPicPr>
          <p:cNvPr id="60" name="Picture 59" descr="A yellow banana in yellow background">
            <a:extLst>
              <a:ext uri="{FF2B5EF4-FFF2-40B4-BE49-F238E27FC236}">
                <a16:creationId xmlns:a16="http://schemas.microsoft.com/office/drawing/2014/main" id="{7ACDB0D2-02D3-75D7-F854-A019EA1B8144}"/>
              </a:ext>
            </a:extLst>
          </p:cNvPr>
          <p:cNvPicPr>
            <a:picLocks noChangeAspect="1"/>
          </p:cNvPicPr>
          <p:nvPr/>
        </p:nvPicPr>
        <p:blipFill rotWithShape="1">
          <a:blip r:embed="rId8" cstate="hqprint">
            <a:extLst>
              <a:ext uri="{28A0092B-C50C-407E-A947-70E740481C1C}">
                <a14:useLocalDpi xmlns:a14="http://schemas.microsoft.com/office/drawing/2010/main" val="0"/>
              </a:ext>
            </a:extLst>
          </a:blip>
          <a:srcRect/>
          <a:stretch/>
        </p:blipFill>
        <p:spPr>
          <a:xfrm>
            <a:off x="10211428" y="5129956"/>
            <a:ext cx="1537851" cy="947117"/>
          </a:xfrm>
          <a:prstGeom prst="rect">
            <a:avLst/>
          </a:prstGeom>
        </p:spPr>
      </p:pic>
      <p:pic>
        <p:nvPicPr>
          <p:cNvPr id="64" name="Picture 63" descr="Group of women in sports garments">
            <a:extLst>
              <a:ext uri="{FF2B5EF4-FFF2-40B4-BE49-F238E27FC236}">
                <a16:creationId xmlns:a16="http://schemas.microsoft.com/office/drawing/2014/main" id="{F1015C09-2756-3545-AACE-E82E8B8A1635}"/>
              </a:ext>
            </a:extLst>
          </p:cNvPr>
          <p:cNvPicPr>
            <a:picLocks noChangeAspect="1"/>
          </p:cNvPicPr>
          <p:nvPr/>
        </p:nvPicPr>
        <p:blipFill rotWithShape="1">
          <a:blip r:embed="rId9" cstate="hqprint">
            <a:extLst>
              <a:ext uri="{28A0092B-C50C-407E-A947-70E740481C1C}">
                <a14:useLocalDpi xmlns:a14="http://schemas.microsoft.com/office/drawing/2010/main" val="0"/>
              </a:ext>
            </a:extLst>
          </a:blip>
          <a:srcRect/>
          <a:stretch/>
        </p:blipFill>
        <p:spPr>
          <a:xfrm>
            <a:off x="7830285" y="2731328"/>
            <a:ext cx="1980714" cy="1244895"/>
          </a:xfrm>
          <a:prstGeom prst="rect">
            <a:avLst/>
          </a:prstGeom>
        </p:spPr>
      </p:pic>
      <p:sp>
        <p:nvSpPr>
          <p:cNvPr id="71" name="TextBox 70">
            <a:extLst>
              <a:ext uri="{FF2B5EF4-FFF2-40B4-BE49-F238E27FC236}">
                <a16:creationId xmlns:a16="http://schemas.microsoft.com/office/drawing/2014/main" id="{9B2147B2-6A7B-6C38-BD53-4158C81C9268}"/>
              </a:ext>
            </a:extLst>
          </p:cNvPr>
          <p:cNvSpPr txBox="1"/>
          <p:nvPr/>
        </p:nvSpPr>
        <p:spPr>
          <a:xfrm>
            <a:off x="7753212" y="2352417"/>
            <a:ext cx="215142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humans &amp; humans</a:t>
            </a:r>
          </a:p>
        </p:txBody>
      </p:sp>
      <p:cxnSp>
        <p:nvCxnSpPr>
          <p:cNvPr id="66" name="Straight Connector 65">
            <a:extLst>
              <a:ext uri="{FF2B5EF4-FFF2-40B4-BE49-F238E27FC236}">
                <a16:creationId xmlns:a16="http://schemas.microsoft.com/office/drawing/2014/main" id="{7D5DA857-2C5B-136E-7B74-01D798F4D4CD}"/>
              </a:ext>
            </a:extLst>
          </p:cNvPr>
          <p:cNvCxnSpPr/>
          <p:nvPr/>
        </p:nvCxnSpPr>
        <p:spPr>
          <a:xfrm>
            <a:off x="148147" y="3024085"/>
            <a:ext cx="3243235"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595B5A9-CD9A-2ECB-EFC2-4FD875077412}"/>
              </a:ext>
            </a:extLst>
          </p:cNvPr>
          <p:cNvCxnSpPr>
            <a:cxnSpLocks/>
          </p:cNvCxnSpPr>
          <p:nvPr/>
        </p:nvCxnSpPr>
        <p:spPr>
          <a:xfrm>
            <a:off x="3554216" y="3008730"/>
            <a:ext cx="31307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3C3DDE4-D587-BDFE-C226-5D809AD632BD}"/>
              </a:ext>
            </a:extLst>
          </p:cNvPr>
          <p:cNvCxnSpPr>
            <a:cxnSpLocks/>
          </p:cNvCxnSpPr>
          <p:nvPr/>
        </p:nvCxnSpPr>
        <p:spPr>
          <a:xfrm flipV="1">
            <a:off x="6855667" y="2064796"/>
            <a:ext cx="5125134" cy="902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44286BB0-1DFE-D9A3-4B93-569C52A80C7E}"/>
              </a:ext>
            </a:extLst>
          </p:cNvPr>
          <p:cNvSpPr txBox="1"/>
          <p:nvPr/>
        </p:nvSpPr>
        <p:spPr>
          <a:xfrm>
            <a:off x="7753212" y="3976223"/>
            <a:ext cx="2126200"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~99.9% similar DNA</a:t>
            </a:r>
          </a:p>
        </p:txBody>
      </p:sp>
      <p:sp>
        <p:nvSpPr>
          <p:cNvPr id="81" name="TextBox 80">
            <a:extLst>
              <a:ext uri="{FF2B5EF4-FFF2-40B4-BE49-F238E27FC236}">
                <a16:creationId xmlns:a16="http://schemas.microsoft.com/office/drawing/2014/main" id="{8CEF245E-1E20-3670-80D4-E989DD0C4E31}"/>
              </a:ext>
            </a:extLst>
          </p:cNvPr>
          <p:cNvSpPr txBox="1"/>
          <p:nvPr/>
        </p:nvSpPr>
        <p:spPr>
          <a:xfrm>
            <a:off x="7719927" y="4617686"/>
            <a:ext cx="215142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humans &amp; mice</a:t>
            </a:r>
          </a:p>
        </p:txBody>
      </p:sp>
      <p:sp>
        <p:nvSpPr>
          <p:cNvPr id="82" name="TextBox 81">
            <a:extLst>
              <a:ext uri="{FF2B5EF4-FFF2-40B4-BE49-F238E27FC236}">
                <a16:creationId xmlns:a16="http://schemas.microsoft.com/office/drawing/2014/main" id="{F2167C97-4992-AC12-68FE-360B749627B0}"/>
              </a:ext>
            </a:extLst>
          </p:cNvPr>
          <p:cNvSpPr txBox="1"/>
          <p:nvPr/>
        </p:nvSpPr>
        <p:spPr>
          <a:xfrm>
            <a:off x="7807960" y="6198281"/>
            <a:ext cx="1896871"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~70% similar DNA</a:t>
            </a:r>
          </a:p>
        </p:txBody>
      </p:sp>
      <p:sp>
        <p:nvSpPr>
          <p:cNvPr id="84" name="TextBox 83">
            <a:extLst>
              <a:ext uri="{FF2B5EF4-FFF2-40B4-BE49-F238E27FC236}">
                <a16:creationId xmlns:a16="http://schemas.microsoft.com/office/drawing/2014/main" id="{9150FF87-FCA8-9C52-D494-80E79BBD475C}"/>
              </a:ext>
            </a:extLst>
          </p:cNvPr>
          <p:cNvSpPr txBox="1"/>
          <p:nvPr/>
        </p:nvSpPr>
        <p:spPr>
          <a:xfrm>
            <a:off x="10131677" y="3943046"/>
            <a:ext cx="1896871"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~96% similar DNA</a:t>
            </a:r>
          </a:p>
        </p:txBody>
      </p:sp>
      <p:sp>
        <p:nvSpPr>
          <p:cNvPr id="85" name="TextBox 84">
            <a:extLst>
              <a:ext uri="{FF2B5EF4-FFF2-40B4-BE49-F238E27FC236}">
                <a16:creationId xmlns:a16="http://schemas.microsoft.com/office/drawing/2014/main" id="{929D0202-AD47-949B-E6ED-493C380CB42A}"/>
              </a:ext>
            </a:extLst>
          </p:cNvPr>
          <p:cNvSpPr txBox="1"/>
          <p:nvPr/>
        </p:nvSpPr>
        <p:spPr>
          <a:xfrm>
            <a:off x="9904640" y="4622350"/>
            <a:ext cx="215142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humans &amp; bananas</a:t>
            </a:r>
          </a:p>
        </p:txBody>
      </p:sp>
      <p:sp>
        <p:nvSpPr>
          <p:cNvPr id="86" name="TextBox 85">
            <a:extLst>
              <a:ext uri="{FF2B5EF4-FFF2-40B4-BE49-F238E27FC236}">
                <a16:creationId xmlns:a16="http://schemas.microsoft.com/office/drawing/2014/main" id="{FED2089E-8D9A-5BC5-2C56-7BC5516F8094}"/>
              </a:ext>
            </a:extLst>
          </p:cNvPr>
          <p:cNvSpPr txBox="1"/>
          <p:nvPr/>
        </p:nvSpPr>
        <p:spPr>
          <a:xfrm>
            <a:off x="10021447" y="6169382"/>
            <a:ext cx="1896871"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~60% similar DNA</a:t>
            </a:r>
          </a:p>
        </p:txBody>
      </p:sp>
      <p:sp>
        <p:nvSpPr>
          <p:cNvPr id="87" name="TextBox 86">
            <a:extLst>
              <a:ext uri="{FF2B5EF4-FFF2-40B4-BE49-F238E27FC236}">
                <a16:creationId xmlns:a16="http://schemas.microsoft.com/office/drawing/2014/main" id="{ED822C14-C57B-4527-FCA1-1E47836F3130}"/>
              </a:ext>
            </a:extLst>
          </p:cNvPr>
          <p:cNvSpPr txBox="1"/>
          <p:nvPr/>
        </p:nvSpPr>
        <p:spPr>
          <a:xfrm>
            <a:off x="9801635" y="2321894"/>
            <a:ext cx="2556957"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humans &amp; chimps</a:t>
            </a:r>
          </a:p>
        </p:txBody>
      </p:sp>
    </p:spTree>
    <p:extLst>
      <p:ext uri="{BB962C8B-B14F-4D97-AF65-F5344CB8AC3E}">
        <p14:creationId xmlns:p14="http://schemas.microsoft.com/office/powerpoint/2010/main" val="3282253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6" grpId="0"/>
      <p:bldP spid="49" grpId="0"/>
      <p:bldP spid="58" grpId="0"/>
      <p:bldP spid="71" grpId="0"/>
      <p:bldP spid="80" grpId="0"/>
      <p:bldP spid="81" grpId="0"/>
      <p:bldP spid="82" grpId="0"/>
      <p:bldP spid="84" grpId="0"/>
      <p:bldP spid="85" grpId="0"/>
      <p:bldP spid="86" grpId="0"/>
      <p:bldP spid="8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791127" y="1204830"/>
            <a:ext cx="3695802"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Life is one big family tree</a:t>
            </a:r>
          </a:p>
        </p:txBody>
      </p:sp>
      <p:pic>
        <p:nvPicPr>
          <p:cNvPr id="11" name="Picture 10">
            <a:extLst>
              <a:ext uri="{FF2B5EF4-FFF2-40B4-BE49-F238E27FC236}">
                <a16:creationId xmlns:a16="http://schemas.microsoft.com/office/drawing/2014/main" id="{8E06582A-113B-DE14-E81C-88D79C5A2C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4988" y="296656"/>
            <a:ext cx="4641447" cy="6445597"/>
          </a:xfrm>
          <a:prstGeom prst="rect">
            <a:avLst/>
          </a:prstGeom>
        </p:spPr>
      </p:pic>
      <p:cxnSp>
        <p:nvCxnSpPr>
          <p:cNvPr id="13" name="Straight Arrow Connector 12">
            <a:extLst>
              <a:ext uri="{FF2B5EF4-FFF2-40B4-BE49-F238E27FC236}">
                <a16:creationId xmlns:a16="http://schemas.microsoft.com/office/drawing/2014/main" id="{E50B9917-206F-65F5-C879-3E7D72D3A00C}"/>
              </a:ext>
            </a:extLst>
          </p:cNvPr>
          <p:cNvCxnSpPr>
            <a:cxnSpLocks/>
          </p:cNvCxnSpPr>
          <p:nvPr/>
        </p:nvCxnSpPr>
        <p:spPr>
          <a:xfrm flipH="1">
            <a:off x="8472667" y="530293"/>
            <a:ext cx="1360025"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35EF4CA-2809-9DD6-072B-68A8CDE0F437}"/>
              </a:ext>
            </a:extLst>
          </p:cNvPr>
          <p:cNvSpPr txBox="1"/>
          <p:nvPr/>
        </p:nvSpPr>
        <p:spPr>
          <a:xfrm>
            <a:off x="9676435" y="180909"/>
            <a:ext cx="2268638" cy="707886"/>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~300,000 years old</a:t>
            </a:r>
          </a:p>
        </p:txBody>
      </p:sp>
      <p:sp>
        <p:nvSpPr>
          <p:cNvPr id="36" name="TextBox 35">
            <a:extLst>
              <a:ext uri="{FF2B5EF4-FFF2-40B4-BE49-F238E27FC236}">
                <a16:creationId xmlns:a16="http://schemas.microsoft.com/office/drawing/2014/main" id="{95AA6110-FFBF-4513-27E6-F728B573C971}"/>
              </a:ext>
            </a:extLst>
          </p:cNvPr>
          <p:cNvSpPr txBox="1"/>
          <p:nvPr/>
        </p:nvSpPr>
        <p:spPr>
          <a:xfrm>
            <a:off x="9676435" y="5842337"/>
            <a:ext cx="2395960" cy="707886"/>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Origin of Life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~3.8 billion years ago</a:t>
            </a:r>
          </a:p>
        </p:txBody>
      </p:sp>
      <p:cxnSp>
        <p:nvCxnSpPr>
          <p:cNvPr id="37" name="Straight Arrow Connector 36">
            <a:extLst>
              <a:ext uri="{FF2B5EF4-FFF2-40B4-BE49-F238E27FC236}">
                <a16:creationId xmlns:a16="http://schemas.microsoft.com/office/drawing/2014/main" id="{685E8FE7-BAD9-3312-9B69-CA503B15F31E}"/>
              </a:ext>
            </a:extLst>
          </p:cNvPr>
          <p:cNvCxnSpPr>
            <a:cxnSpLocks/>
          </p:cNvCxnSpPr>
          <p:nvPr/>
        </p:nvCxnSpPr>
        <p:spPr>
          <a:xfrm flipH="1">
            <a:off x="8347274" y="6551058"/>
            <a:ext cx="1485418"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588149E-2980-6DBC-639C-690545802338}"/>
              </a:ext>
            </a:extLst>
          </p:cNvPr>
          <p:cNvSpPr txBox="1"/>
          <p:nvPr/>
        </p:nvSpPr>
        <p:spPr>
          <a:xfrm>
            <a:off x="243068" y="4803261"/>
            <a:ext cx="4243861"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Essentially all biologists accept evolution</a:t>
            </a:r>
          </a:p>
        </p:txBody>
      </p:sp>
      <p:pic>
        <p:nvPicPr>
          <p:cNvPr id="42" name="Picture 41">
            <a:extLst>
              <a:ext uri="{FF2B5EF4-FFF2-40B4-BE49-F238E27FC236}">
                <a16:creationId xmlns:a16="http://schemas.microsoft.com/office/drawing/2014/main" id="{ABED6916-76E6-D1F1-2AB1-D6B93D421AA4}"/>
              </a:ext>
            </a:extLst>
          </p:cNvPr>
          <p:cNvPicPr>
            <a:picLocks noChangeAspect="1"/>
          </p:cNvPicPr>
          <p:nvPr/>
        </p:nvPicPr>
        <p:blipFill rotWithShape="1">
          <a:blip r:embed="rId4" cstate="hqprint">
            <a:lum bright="70000" contrast="-70000"/>
            <a:extLst>
              <a:ext uri="{28A0092B-C50C-407E-A947-70E740481C1C}">
                <a14:useLocalDpi xmlns:a14="http://schemas.microsoft.com/office/drawing/2010/main" val="0"/>
              </a:ext>
            </a:extLst>
          </a:blip>
          <a:srcRect l="24839" t="12006" r="24768" b="23977"/>
          <a:stretch/>
        </p:blipFill>
        <p:spPr>
          <a:xfrm>
            <a:off x="1556948" y="2482108"/>
            <a:ext cx="1917233" cy="1893785"/>
          </a:xfrm>
          <a:prstGeom prst="rect">
            <a:avLst/>
          </a:prstGeom>
        </p:spPr>
      </p:pic>
    </p:spTree>
    <p:extLst>
      <p:ext uri="{BB962C8B-B14F-4D97-AF65-F5344CB8AC3E}">
        <p14:creationId xmlns:p14="http://schemas.microsoft.com/office/powerpoint/2010/main" val="3292654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244997" y="145394"/>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Some students worry that evolution conflicts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with their religious beliefs, cultures, and teachings </a:t>
            </a:r>
          </a:p>
        </p:txBody>
      </p:sp>
      <p:pic>
        <p:nvPicPr>
          <p:cNvPr id="4" name="Picture 3">
            <a:extLst>
              <a:ext uri="{FF2B5EF4-FFF2-40B4-BE49-F238E27FC236}">
                <a16:creationId xmlns:a16="http://schemas.microsoft.com/office/drawing/2014/main" id="{72E52143-6E65-E515-CB9F-55E1FAD3617A}"/>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353205" y="2276177"/>
            <a:ext cx="2561829" cy="2305646"/>
          </a:xfrm>
          <a:prstGeom prst="rect">
            <a:avLst/>
          </a:prstGeom>
        </p:spPr>
      </p:pic>
      <p:pic>
        <p:nvPicPr>
          <p:cNvPr id="8" name="Picture 7">
            <a:extLst>
              <a:ext uri="{FF2B5EF4-FFF2-40B4-BE49-F238E27FC236}">
                <a16:creationId xmlns:a16="http://schemas.microsoft.com/office/drawing/2014/main" id="{108DB567-596D-E5EC-AAB9-E520D4ED5C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8691" y="2383485"/>
            <a:ext cx="2857500" cy="2571750"/>
          </a:xfrm>
          <a:prstGeom prst="rect">
            <a:avLst/>
          </a:prstGeom>
          <a:ln>
            <a:solidFill>
              <a:schemeClr val="tx1"/>
            </a:solidFill>
          </a:ln>
        </p:spPr>
      </p:pic>
      <p:pic>
        <p:nvPicPr>
          <p:cNvPr id="6" name="Picture 5">
            <a:extLst>
              <a:ext uri="{FF2B5EF4-FFF2-40B4-BE49-F238E27FC236}">
                <a16:creationId xmlns:a16="http://schemas.microsoft.com/office/drawing/2014/main" id="{A2BD317A-17D9-6D8B-7E4D-103037575A5B}"/>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a:stretch/>
        </p:blipFill>
        <p:spPr>
          <a:xfrm>
            <a:off x="6099848" y="1457548"/>
            <a:ext cx="2469893" cy="2329620"/>
          </a:xfrm>
          <a:prstGeom prst="rect">
            <a:avLst/>
          </a:prstGeom>
          <a:ln w="57150">
            <a:solidFill>
              <a:schemeClr val="tx1"/>
            </a:solidFill>
          </a:ln>
        </p:spPr>
      </p:pic>
      <p:sp>
        <p:nvSpPr>
          <p:cNvPr id="15" name="TextBox 14">
            <a:extLst>
              <a:ext uri="{FF2B5EF4-FFF2-40B4-BE49-F238E27FC236}">
                <a16:creationId xmlns:a16="http://schemas.microsoft.com/office/drawing/2014/main" id="{08370C44-E1EF-56A5-0D86-81F57DBFB538}"/>
              </a:ext>
            </a:extLst>
          </p:cNvPr>
          <p:cNvSpPr txBox="1"/>
          <p:nvPr/>
        </p:nvSpPr>
        <p:spPr>
          <a:xfrm>
            <a:off x="244997" y="5753370"/>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Religion is important to many students’ lives so a potential conflict with evolution can be worrying for students of faith</a:t>
            </a:r>
          </a:p>
        </p:txBody>
      </p:sp>
      <p:pic>
        <p:nvPicPr>
          <p:cNvPr id="9" name="Picture 8">
            <a:extLst>
              <a:ext uri="{FF2B5EF4-FFF2-40B4-BE49-F238E27FC236}">
                <a16:creationId xmlns:a16="http://schemas.microsoft.com/office/drawing/2014/main" id="{7401E9C7-B3A1-2F35-2332-5501FC61D647}"/>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a:stretch/>
        </p:blipFill>
        <p:spPr>
          <a:xfrm>
            <a:off x="8435467" y="1697459"/>
            <a:ext cx="2857500" cy="2365106"/>
          </a:xfrm>
          <a:prstGeom prst="rect">
            <a:avLst/>
          </a:prstGeom>
          <a:ln w="57150">
            <a:solidFill>
              <a:schemeClr val="tx1"/>
            </a:solidFill>
          </a:ln>
        </p:spPr>
      </p:pic>
      <p:pic>
        <p:nvPicPr>
          <p:cNvPr id="12" name="Picture 11">
            <a:extLst>
              <a:ext uri="{FF2B5EF4-FFF2-40B4-BE49-F238E27FC236}">
                <a16:creationId xmlns:a16="http://schemas.microsoft.com/office/drawing/2014/main" id="{F9D1F7A5-EE0D-C3EA-0878-34D669D5B111}"/>
              </a:ext>
            </a:extLst>
          </p:cNvPr>
          <p:cNvPicPr>
            <a:picLocks noChangeAspect="1"/>
          </p:cNvPicPr>
          <p:nvPr/>
        </p:nvPicPr>
        <p:blipFill rotWithShape="1">
          <a:blip r:embed="rId7" cstate="hqprint">
            <a:extLst>
              <a:ext uri="{28A0092B-C50C-407E-A947-70E740481C1C}">
                <a14:useLocalDpi xmlns:a14="http://schemas.microsoft.com/office/drawing/2010/main" val="0"/>
              </a:ext>
            </a:extLst>
          </a:blip>
          <a:srcRect/>
          <a:stretch/>
        </p:blipFill>
        <p:spPr>
          <a:xfrm>
            <a:off x="8864660" y="3262767"/>
            <a:ext cx="2807471" cy="2380268"/>
          </a:xfrm>
          <a:prstGeom prst="rect">
            <a:avLst/>
          </a:prstGeom>
          <a:ln w="57150">
            <a:solidFill>
              <a:schemeClr val="tx1"/>
            </a:solidFill>
          </a:ln>
        </p:spPr>
      </p:pic>
      <p:sp>
        <p:nvSpPr>
          <p:cNvPr id="14" name="Rectangle 13">
            <a:extLst>
              <a:ext uri="{FF2B5EF4-FFF2-40B4-BE49-F238E27FC236}">
                <a16:creationId xmlns:a16="http://schemas.microsoft.com/office/drawing/2014/main" id="{B13024C0-4894-2C70-77E3-574727272E3B}"/>
              </a:ext>
            </a:extLst>
          </p:cNvPr>
          <p:cNvSpPr/>
          <p:nvPr/>
        </p:nvSpPr>
        <p:spPr>
          <a:xfrm>
            <a:off x="3078691" y="4955235"/>
            <a:ext cx="2857500" cy="5774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Church as Family</a:t>
            </a:r>
          </a:p>
        </p:txBody>
      </p:sp>
      <p:pic>
        <p:nvPicPr>
          <p:cNvPr id="2" name="Picture 1">
            <a:extLst>
              <a:ext uri="{FF2B5EF4-FFF2-40B4-BE49-F238E27FC236}">
                <a16:creationId xmlns:a16="http://schemas.microsoft.com/office/drawing/2014/main" id="{F211239E-A370-F60E-8BFD-3FC5B785E243}"/>
              </a:ext>
            </a:extLst>
          </p:cNvPr>
          <p:cNvPicPr>
            <a:picLocks noChangeAspect="1"/>
          </p:cNvPicPr>
          <p:nvPr/>
        </p:nvPicPr>
        <p:blipFill rotWithShape="1">
          <a:blip r:embed="rId8" cstate="hqprint">
            <a:extLst>
              <a:ext uri="{28A0092B-C50C-407E-A947-70E740481C1C}">
                <a14:useLocalDpi xmlns:a14="http://schemas.microsoft.com/office/drawing/2010/main" val="0"/>
              </a:ext>
            </a:extLst>
          </a:blip>
          <a:srcRect/>
          <a:stretch/>
        </p:blipFill>
        <p:spPr>
          <a:xfrm>
            <a:off x="6107529" y="3977988"/>
            <a:ext cx="3065326" cy="1584562"/>
          </a:xfrm>
          <a:prstGeom prst="rect">
            <a:avLst/>
          </a:prstGeom>
          <a:ln w="76200">
            <a:solidFill>
              <a:schemeClr val="tx1"/>
            </a:solidFill>
          </a:ln>
        </p:spPr>
      </p:pic>
    </p:spTree>
    <p:extLst>
      <p:ext uri="{BB962C8B-B14F-4D97-AF65-F5344CB8AC3E}">
        <p14:creationId xmlns:p14="http://schemas.microsoft.com/office/powerpoint/2010/main" val="417119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672BCA-8C94-3642-8984-2D511102D375}"/>
              </a:ext>
            </a:extLst>
          </p:cNvPr>
          <p:cNvSpPr txBox="1"/>
          <p:nvPr/>
        </p:nvSpPr>
        <p:spPr>
          <a:xfrm>
            <a:off x="366532" y="226919"/>
            <a:ext cx="11458936"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alatino Linotype"/>
                <a:ea typeface="+mn-ea"/>
                <a:cs typeface="+mn-cs"/>
              </a:rPr>
              <a:t>***Note for instructors on next two slides: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Palatino Linotyp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alatino Linotype"/>
                <a:ea typeface="+mn-ea"/>
                <a:cs typeface="+mn-cs"/>
              </a:rPr>
              <a:t>The following two slides are examples of how an instructor can personalize their own story of perceived conflict between religion and evolution. </a:t>
            </a: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r>
              <a:rPr kumimoji="0" lang="en-US" sz="1400" b="0" i="0" u="none" strike="noStrike" kern="1200" cap="none" spc="0" normalizeH="0" baseline="0" noProof="0" dirty="0">
                <a:ln>
                  <a:noFill/>
                </a:ln>
                <a:solidFill>
                  <a:prstClr val="white"/>
                </a:solidFill>
                <a:effectLst/>
                <a:uLnTx/>
                <a:uFillTx/>
                <a:latin typeface="Palatino Linotype"/>
                <a:ea typeface="+mn-ea"/>
                <a:cs typeface="+mn-cs"/>
              </a:rPr>
              <a:t>Instructors can choose to omit these slides if they are uncomfortable revealing their own background. Research suggests the lesson will still have positive impacts without these stories, but there may be extra benefits for some students who share the instructor’s background. Instructors should adapt these to be true to their experience.</a:t>
            </a: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r>
              <a:rPr kumimoji="0" lang="en-US" sz="1400" b="0" i="0" u="none" strike="noStrike" kern="1200" cap="none" spc="0" normalizeH="0" baseline="0" noProof="0" dirty="0">
                <a:ln>
                  <a:noFill/>
                </a:ln>
                <a:solidFill>
                  <a:prstClr val="white"/>
                </a:solidFill>
                <a:effectLst/>
                <a:uLnTx/>
                <a:uFillTx/>
                <a:latin typeface="Palatino Linotype"/>
                <a:ea typeface="+mn-ea"/>
                <a:cs typeface="+mn-cs"/>
              </a:rPr>
              <a:t>The first slide is an example of a religious instructor who may be able to act as a boundary spanner for religious students. Although our randomized controlled study did not detect extra benefits of revealing a Christian identity for other Christian students, many other studies suggest students who see their own religious identity reflected in an instructor may feel more comfortable with learning and accepting evolution. </a:t>
            </a: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r>
              <a:rPr kumimoji="0" lang="en-US" sz="1400" b="0" i="0" u="none" strike="noStrike" kern="1200" cap="none" spc="0" normalizeH="0" baseline="0" noProof="0" dirty="0">
                <a:ln>
                  <a:noFill/>
                </a:ln>
                <a:solidFill>
                  <a:prstClr val="white"/>
                </a:solidFill>
                <a:effectLst/>
                <a:uLnTx/>
                <a:uFillTx/>
                <a:latin typeface="Palatino Linotype"/>
                <a:ea typeface="+mn-ea"/>
                <a:cs typeface="+mn-cs"/>
              </a:rPr>
              <a:t>The second slide is an example of a non-religious instructor demonstrating cultural competence for religious students and serving as a role model for other non-religious students on how to reduce conflict between religion and evolution. Our randomized controlled study found that non-religious students were especially impacted by a non-religious instructor, showing a greater increase in perceived compatibility between religion and evolution compared to a religious instructor. Given that non-religious students tend to perceive less compatibility between religion and evolution than their religious peers, this is potentially important for increasing the overall religious cultural competence of the biology community. </a:t>
            </a: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r>
              <a:rPr kumimoji="0" lang="en-US" sz="1400" b="0" i="0" u="none" strike="noStrike" kern="1200" cap="none" spc="0" normalizeH="0" baseline="0" noProof="0" dirty="0">
                <a:ln>
                  <a:noFill/>
                </a:ln>
                <a:solidFill>
                  <a:prstClr val="white"/>
                </a:solidFill>
                <a:effectLst/>
                <a:uLnTx/>
                <a:uFillTx/>
                <a:latin typeface="Palatino Linotype"/>
                <a:ea typeface="+mn-ea"/>
                <a:cs typeface="+mn-cs"/>
              </a:rPr>
              <a:t>For more information on how these different slides may impact students and the instructor, see the following published studies: </a:t>
            </a: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r>
              <a:rPr kumimoji="0" lang="en-US" sz="1400" b="0" i="0" u="none" strike="noStrike" kern="1200" cap="none" spc="0" normalizeH="0" baseline="0" noProof="0" dirty="0">
                <a:ln>
                  <a:noFill/>
                </a:ln>
                <a:solidFill>
                  <a:prstClr val="white"/>
                </a:solidFill>
                <a:effectLst/>
                <a:uLnTx/>
                <a:uFillTx/>
                <a:latin typeface="Palatino Linotype"/>
                <a:ea typeface="+mn-ea"/>
                <a:cs typeface="+mn-cs"/>
                <a:hlinkClick r:id="rId3"/>
              </a:rPr>
              <a:t>https://www.lifescied.org/doi/10.1187/cbe.24-05-0157</a:t>
            </a: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r>
              <a:rPr kumimoji="0" lang="en-US" sz="1400" b="0" i="0" u="none" strike="noStrike" kern="1200" cap="none" spc="0" normalizeH="0" baseline="0" noProof="0" dirty="0">
                <a:ln>
                  <a:noFill/>
                </a:ln>
                <a:solidFill>
                  <a:prstClr val="white"/>
                </a:solidFill>
                <a:effectLst/>
                <a:uLnTx/>
                <a:uFillTx/>
                <a:latin typeface="Palatino Linotype"/>
                <a:ea typeface="+mn-ea"/>
                <a:cs typeface="+mn-cs"/>
                <a:hlinkClick r:id="rId4"/>
              </a:rPr>
              <a:t>https://journals.asm.org/doi/full/10.1128/jmbe.00016-25</a:t>
            </a:r>
            <a:r>
              <a:rPr kumimoji="0" lang="en-US" sz="1400" b="0" i="0" u="none" strike="noStrike" kern="1200" cap="none" spc="0" normalizeH="0" baseline="0" noProof="0" dirty="0">
                <a:ln>
                  <a:noFill/>
                </a:ln>
                <a:solidFill>
                  <a:prstClr val="white"/>
                </a:solidFill>
                <a:effectLst/>
                <a:uLnTx/>
                <a:uFillTx/>
                <a:latin typeface="Palatino Linotype"/>
                <a:ea typeface="+mn-ea"/>
                <a:cs typeface="+mn-cs"/>
              </a:rPr>
              <a:t> </a:t>
            </a:r>
            <a:br>
              <a:rPr kumimoji="0" lang="en-US" sz="1400" b="0" i="0" u="none" strike="noStrike" kern="1200" cap="none" spc="0" normalizeH="0" baseline="0" noProof="0" dirty="0">
                <a:ln>
                  <a:noFill/>
                </a:ln>
                <a:solidFill>
                  <a:prstClr val="white"/>
                </a:solidFill>
                <a:effectLst/>
                <a:uLnTx/>
                <a:uFillTx/>
                <a:latin typeface="Palatino Linotype"/>
                <a:ea typeface="+mn-ea"/>
                <a:cs typeface="+mn-cs"/>
              </a:rPr>
            </a:br>
            <a:endParaRPr kumimoji="0" lang="en-US" sz="1400" b="0" i="0" u="none" strike="noStrike" kern="1200" cap="none" spc="0" normalizeH="0" baseline="0" noProof="0" dirty="0">
              <a:ln>
                <a:noFill/>
              </a:ln>
              <a:solidFill>
                <a:prstClr val="white"/>
              </a:solidFill>
              <a:effectLst/>
              <a:uLnTx/>
              <a:uFillTx/>
              <a:latin typeface="Palatino Linotype"/>
              <a:ea typeface="+mn-ea"/>
              <a:cs typeface="+mn-cs"/>
            </a:endParaRPr>
          </a:p>
        </p:txBody>
      </p:sp>
    </p:spTree>
    <p:extLst>
      <p:ext uri="{BB962C8B-B14F-4D97-AF65-F5344CB8AC3E}">
        <p14:creationId xmlns:p14="http://schemas.microsoft.com/office/powerpoint/2010/main" val="2245863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164940" y="361714"/>
            <a:ext cx="12521879"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 also struggled with whether my religion was compatible with evolution.</a:t>
            </a:r>
          </a:p>
        </p:txBody>
      </p:sp>
      <p:sp>
        <p:nvSpPr>
          <p:cNvPr id="15" name="TextBox 14">
            <a:extLst>
              <a:ext uri="{FF2B5EF4-FFF2-40B4-BE49-F238E27FC236}">
                <a16:creationId xmlns:a16="http://schemas.microsoft.com/office/drawing/2014/main" id="{08370C44-E1EF-56A5-0D86-81F57DBFB538}"/>
              </a:ext>
            </a:extLst>
          </p:cNvPr>
          <p:cNvSpPr txBox="1"/>
          <p:nvPr/>
        </p:nvSpPr>
        <p:spPr>
          <a:xfrm>
            <a:off x="244997" y="5753370"/>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Now I teach evolution with examples of how evolution and religion do not have to be in conflict.</a:t>
            </a:r>
          </a:p>
        </p:txBody>
      </p:sp>
      <p:pic>
        <p:nvPicPr>
          <p:cNvPr id="13" name="Picture 12">
            <a:extLst>
              <a:ext uri="{FF2B5EF4-FFF2-40B4-BE49-F238E27FC236}">
                <a16:creationId xmlns:a16="http://schemas.microsoft.com/office/drawing/2014/main" id="{EE91AA9D-23A5-AB91-B602-6564204315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263" y="2116039"/>
            <a:ext cx="5486400" cy="3400425"/>
          </a:xfrm>
          <a:prstGeom prst="rect">
            <a:avLst/>
          </a:prstGeom>
        </p:spPr>
      </p:pic>
      <p:sp>
        <p:nvSpPr>
          <p:cNvPr id="18" name="TextBox 17">
            <a:extLst>
              <a:ext uri="{FF2B5EF4-FFF2-40B4-BE49-F238E27FC236}">
                <a16:creationId xmlns:a16="http://schemas.microsoft.com/office/drawing/2014/main" id="{F3932C1E-FA01-142A-5606-1972B856138E}"/>
              </a:ext>
            </a:extLst>
          </p:cNvPr>
          <p:cNvSpPr txBox="1"/>
          <p:nvPr/>
        </p:nvSpPr>
        <p:spPr>
          <a:xfrm>
            <a:off x="7645599" y="4741961"/>
            <a:ext cx="319924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 was conflicted….</a:t>
            </a:r>
          </a:p>
        </p:txBody>
      </p:sp>
      <p:sp>
        <p:nvSpPr>
          <p:cNvPr id="20" name="TextBox 19">
            <a:extLst>
              <a:ext uri="{FF2B5EF4-FFF2-40B4-BE49-F238E27FC236}">
                <a16:creationId xmlns:a16="http://schemas.microsoft.com/office/drawing/2014/main" id="{A0195372-A55E-E551-7A28-AA0EBBDF1026}"/>
              </a:ext>
            </a:extLst>
          </p:cNvPr>
          <p:cNvSpPr txBox="1"/>
          <p:nvPr/>
        </p:nvSpPr>
        <p:spPr>
          <a:xfrm>
            <a:off x="1223525" y="1485030"/>
            <a:ext cx="47798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God and evolution?????</a:t>
            </a:r>
          </a:p>
        </p:txBody>
      </p:sp>
      <p:sp>
        <p:nvSpPr>
          <p:cNvPr id="21" name="TextBox 20">
            <a:extLst>
              <a:ext uri="{FF2B5EF4-FFF2-40B4-BE49-F238E27FC236}">
                <a16:creationId xmlns:a16="http://schemas.microsoft.com/office/drawing/2014/main" id="{6932EAED-3824-E327-ED15-04CBF88C39A3}"/>
              </a:ext>
            </a:extLst>
          </p:cNvPr>
          <p:cNvSpPr txBox="1"/>
          <p:nvPr/>
        </p:nvSpPr>
        <p:spPr>
          <a:xfrm>
            <a:off x="7579180" y="1531264"/>
            <a:ext cx="319924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t>
            </a:r>
          </a:p>
        </p:txBody>
      </p:sp>
      <p:sp>
        <p:nvSpPr>
          <p:cNvPr id="2" name="Rectangle 1">
            <a:extLst>
              <a:ext uri="{FF2B5EF4-FFF2-40B4-BE49-F238E27FC236}">
                <a16:creationId xmlns:a16="http://schemas.microsoft.com/office/drawing/2014/main" id="{3BA9DD25-12A2-75FC-180D-A9EA6D972F72}"/>
              </a:ext>
            </a:extLst>
          </p:cNvPr>
          <p:cNvSpPr/>
          <p:nvPr/>
        </p:nvSpPr>
        <p:spPr>
          <a:xfrm>
            <a:off x="8032830" y="2116039"/>
            <a:ext cx="2465408" cy="26259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Palatino Linotype"/>
                <a:ea typeface="+mn-ea"/>
                <a:cs typeface="+mn-cs"/>
              </a:rPr>
              <a:t>INSERT PICTURE OF INSTRUCTOR</a:t>
            </a:r>
          </a:p>
        </p:txBody>
      </p:sp>
    </p:spTree>
    <p:extLst>
      <p:ext uri="{BB962C8B-B14F-4D97-AF65-F5344CB8AC3E}">
        <p14:creationId xmlns:p14="http://schemas.microsoft.com/office/powerpoint/2010/main" val="2152432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394551"/>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 also struggled with whether religion is compatible with evolution.</a:t>
            </a:r>
          </a:p>
        </p:txBody>
      </p:sp>
      <p:sp>
        <p:nvSpPr>
          <p:cNvPr id="15" name="TextBox 14">
            <a:extLst>
              <a:ext uri="{FF2B5EF4-FFF2-40B4-BE49-F238E27FC236}">
                <a16:creationId xmlns:a16="http://schemas.microsoft.com/office/drawing/2014/main" id="{08370C44-E1EF-56A5-0D86-81F57DBFB538}"/>
              </a:ext>
            </a:extLst>
          </p:cNvPr>
          <p:cNvSpPr txBox="1"/>
          <p:nvPr/>
        </p:nvSpPr>
        <p:spPr>
          <a:xfrm>
            <a:off x="244997" y="5753370"/>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Now I teach evolution with examples of how evolution and religion do not have to be in conflict.</a:t>
            </a:r>
          </a:p>
        </p:txBody>
      </p:sp>
      <p:pic>
        <p:nvPicPr>
          <p:cNvPr id="13" name="Picture 12">
            <a:extLst>
              <a:ext uri="{FF2B5EF4-FFF2-40B4-BE49-F238E27FC236}">
                <a16:creationId xmlns:a16="http://schemas.microsoft.com/office/drawing/2014/main" id="{EE91AA9D-23A5-AB91-B602-6564204315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263" y="2116039"/>
            <a:ext cx="5486400" cy="3400425"/>
          </a:xfrm>
          <a:prstGeom prst="rect">
            <a:avLst/>
          </a:prstGeom>
        </p:spPr>
      </p:pic>
      <p:sp>
        <p:nvSpPr>
          <p:cNvPr id="18" name="TextBox 17">
            <a:extLst>
              <a:ext uri="{FF2B5EF4-FFF2-40B4-BE49-F238E27FC236}">
                <a16:creationId xmlns:a16="http://schemas.microsoft.com/office/drawing/2014/main" id="{F3932C1E-FA01-142A-5606-1972B856138E}"/>
              </a:ext>
            </a:extLst>
          </p:cNvPr>
          <p:cNvSpPr txBox="1"/>
          <p:nvPr/>
        </p:nvSpPr>
        <p:spPr>
          <a:xfrm>
            <a:off x="7645599" y="4741961"/>
            <a:ext cx="319924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 was conflicted….</a:t>
            </a:r>
          </a:p>
        </p:txBody>
      </p:sp>
      <p:sp>
        <p:nvSpPr>
          <p:cNvPr id="20" name="TextBox 19">
            <a:extLst>
              <a:ext uri="{FF2B5EF4-FFF2-40B4-BE49-F238E27FC236}">
                <a16:creationId xmlns:a16="http://schemas.microsoft.com/office/drawing/2014/main" id="{A0195372-A55E-E551-7A28-AA0EBBDF1026}"/>
              </a:ext>
            </a:extLst>
          </p:cNvPr>
          <p:cNvSpPr txBox="1"/>
          <p:nvPr/>
        </p:nvSpPr>
        <p:spPr>
          <a:xfrm>
            <a:off x="1223525" y="1485030"/>
            <a:ext cx="47798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God and evolution?????</a:t>
            </a:r>
          </a:p>
        </p:txBody>
      </p:sp>
      <p:sp>
        <p:nvSpPr>
          <p:cNvPr id="21" name="TextBox 20">
            <a:extLst>
              <a:ext uri="{FF2B5EF4-FFF2-40B4-BE49-F238E27FC236}">
                <a16:creationId xmlns:a16="http://schemas.microsoft.com/office/drawing/2014/main" id="{6932EAED-3824-E327-ED15-04CBF88C39A3}"/>
              </a:ext>
            </a:extLst>
          </p:cNvPr>
          <p:cNvSpPr txBox="1"/>
          <p:nvPr/>
        </p:nvSpPr>
        <p:spPr>
          <a:xfrm>
            <a:off x="7579180" y="1531264"/>
            <a:ext cx="319924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t>
            </a:r>
          </a:p>
        </p:txBody>
      </p:sp>
      <p:sp>
        <p:nvSpPr>
          <p:cNvPr id="3" name="Rectangle 2">
            <a:extLst>
              <a:ext uri="{FF2B5EF4-FFF2-40B4-BE49-F238E27FC236}">
                <a16:creationId xmlns:a16="http://schemas.microsoft.com/office/drawing/2014/main" id="{532E75B3-0A66-4833-9014-C8645CF4E1FD}"/>
              </a:ext>
            </a:extLst>
          </p:cNvPr>
          <p:cNvSpPr/>
          <p:nvPr/>
        </p:nvSpPr>
        <p:spPr>
          <a:xfrm>
            <a:off x="8032830" y="2116039"/>
            <a:ext cx="2465408" cy="26259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Palatino Linotype"/>
                <a:ea typeface="+mn-ea"/>
                <a:cs typeface="+mn-cs"/>
              </a:rPr>
              <a:t>INSERT PICTURE OF INSTRUCTOR</a:t>
            </a:r>
          </a:p>
        </p:txBody>
      </p:sp>
    </p:spTree>
    <p:extLst>
      <p:ext uri="{BB962C8B-B14F-4D97-AF65-F5344CB8AC3E}">
        <p14:creationId xmlns:p14="http://schemas.microsoft.com/office/powerpoint/2010/main" val="894293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4" y="379100"/>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During this video lesson we are going to remain respectful of all students’ beliefs, even those who are hesitant towards evolution. </a:t>
            </a:r>
          </a:p>
        </p:txBody>
      </p:sp>
      <p:sp>
        <p:nvSpPr>
          <p:cNvPr id="10" name="TextBox 9">
            <a:extLst>
              <a:ext uri="{FF2B5EF4-FFF2-40B4-BE49-F238E27FC236}">
                <a16:creationId xmlns:a16="http://schemas.microsoft.com/office/drawing/2014/main" id="{8EC94A26-BCB0-D40F-073F-317BE53CB07B}"/>
              </a:ext>
            </a:extLst>
          </p:cNvPr>
          <p:cNvSpPr txBox="1"/>
          <p:nvPr/>
        </p:nvSpPr>
        <p:spPr>
          <a:xfrm>
            <a:off x="134073" y="4992511"/>
            <a:ext cx="11923853"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Ultimately, what you think about evolution is up to you alone.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But it is important you know the evidence for evolution and the views that exist about religion and evolution to inform your decision.</a:t>
            </a:r>
          </a:p>
        </p:txBody>
      </p:sp>
      <p:pic>
        <p:nvPicPr>
          <p:cNvPr id="2" name="Picture 1">
            <a:extLst>
              <a:ext uri="{FF2B5EF4-FFF2-40B4-BE49-F238E27FC236}">
                <a16:creationId xmlns:a16="http://schemas.microsoft.com/office/drawing/2014/main" id="{0712D8E1-1A17-B72E-20F7-6D06F6B0F5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4698" y="1865489"/>
            <a:ext cx="3970178" cy="2887402"/>
          </a:xfrm>
          <a:prstGeom prst="rect">
            <a:avLst/>
          </a:prstGeom>
        </p:spPr>
      </p:pic>
    </p:spTree>
    <p:extLst>
      <p:ext uri="{BB962C8B-B14F-4D97-AF65-F5344CB8AC3E}">
        <p14:creationId xmlns:p14="http://schemas.microsoft.com/office/powerpoint/2010/main" val="875651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12506" y="6105911"/>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Evolution is agnostic about God/god(s)</a:t>
            </a:r>
          </a:p>
        </p:txBody>
      </p:sp>
      <p:sp>
        <p:nvSpPr>
          <p:cNvPr id="8" name="Oval 7">
            <a:extLst>
              <a:ext uri="{FF2B5EF4-FFF2-40B4-BE49-F238E27FC236}">
                <a16:creationId xmlns:a16="http://schemas.microsoft.com/office/drawing/2014/main" id="{963E5733-AFD0-B81B-7EB8-DEDC0CFC2C9D}"/>
              </a:ext>
            </a:extLst>
          </p:cNvPr>
          <p:cNvSpPr/>
          <p:nvPr/>
        </p:nvSpPr>
        <p:spPr>
          <a:xfrm>
            <a:off x="1129158" y="2230681"/>
            <a:ext cx="3654335" cy="352851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 name="TextBox 8">
            <a:extLst>
              <a:ext uri="{FF2B5EF4-FFF2-40B4-BE49-F238E27FC236}">
                <a16:creationId xmlns:a16="http://schemas.microsoft.com/office/drawing/2014/main" id="{5F986A89-2981-1810-940C-1E1C1049B918}"/>
              </a:ext>
            </a:extLst>
          </p:cNvPr>
          <p:cNvSpPr txBox="1"/>
          <p:nvPr/>
        </p:nvSpPr>
        <p:spPr>
          <a:xfrm>
            <a:off x="1426785" y="3008825"/>
            <a:ext cx="3009850"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Natural explanations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Natural phenomenon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How? When? Where? What is the natural cause? </a:t>
            </a:r>
          </a:p>
        </p:txBody>
      </p:sp>
      <p:sp>
        <p:nvSpPr>
          <p:cNvPr id="10" name="TextBox 9">
            <a:extLst>
              <a:ext uri="{FF2B5EF4-FFF2-40B4-BE49-F238E27FC236}">
                <a16:creationId xmlns:a16="http://schemas.microsoft.com/office/drawing/2014/main" id="{A52C0587-E3A2-0E8F-0AAE-9782CDFF34A4}"/>
              </a:ext>
            </a:extLst>
          </p:cNvPr>
          <p:cNvSpPr txBox="1"/>
          <p:nvPr/>
        </p:nvSpPr>
        <p:spPr>
          <a:xfrm>
            <a:off x="1572401" y="1524071"/>
            <a:ext cx="2765777" cy="461665"/>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Science</a:t>
            </a:r>
          </a:p>
        </p:txBody>
      </p:sp>
      <p:sp>
        <p:nvSpPr>
          <p:cNvPr id="11" name="TextBox 10">
            <a:extLst>
              <a:ext uri="{FF2B5EF4-FFF2-40B4-BE49-F238E27FC236}">
                <a16:creationId xmlns:a16="http://schemas.microsoft.com/office/drawing/2014/main" id="{BC842AE7-99DE-9550-FCE4-1A6CAD706395}"/>
              </a:ext>
            </a:extLst>
          </p:cNvPr>
          <p:cNvSpPr txBox="1"/>
          <p:nvPr/>
        </p:nvSpPr>
        <p:spPr>
          <a:xfrm>
            <a:off x="7953057" y="2871552"/>
            <a:ext cx="3167919" cy="25545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What is the purpose of life?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How should one live?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What is moral?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What is the nature of God? Does God exist?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2" name="TextBox 11">
            <a:extLst>
              <a:ext uri="{FF2B5EF4-FFF2-40B4-BE49-F238E27FC236}">
                <a16:creationId xmlns:a16="http://schemas.microsoft.com/office/drawing/2014/main" id="{4C328AB2-70A7-4E3F-67F0-6DA8C157F7AD}"/>
              </a:ext>
            </a:extLst>
          </p:cNvPr>
          <p:cNvSpPr txBox="1"/>
          <p:nvPr/>
        </p:nvSpPr>
        <p:spPr>
          <a:xfrm>
            <a:off x="8630340" y="1524071"/>
            <a:ext cx="1813352" cy="461665"/>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Religion</a:t>
            </a:r>
          </a:p>
        </p:txBody>
      </p:sp>
      <p:cxnSp>
        <p:nvCxnSpPr>
          <p:cNvPr id="13" name="Straight Arrow Connector 12">
            <a:extLst>
              <a:ext uri="{FF2B5EF4-FFF2-40B4-BE49-F238E27FC236}">
                <a16:creationId xmlns:a16="http://schemas.microsoft.com/office/drawing/2014/main" id="{AB7B3BF7-8FA0-E3D3-76DA-D085825CECD6}"/>
              </a:ext>
            </a:extLst>
          </p:cNvPr>
          <p:cNvCxnSpPr/>
          <p:nvPr/>
        </p:nvCxnSpPr>
        <p:spPr>
          <a:xfrm flipV="1">
            <a:off x="5205734" y="3444542"/>
            <a:ext cx="1911702" cy="19302"/>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6C907987-21BE-29F7-29AE-2249EDE93234}"/>
              </a:ext>
            </a:extLst>
          </p:cNvPr>
          <p:cNvSpPr/>
          <p:nvPr/>
        </p:nvSpPr>
        <p:spPr>
          <a:xfrm>
            <a:off x="7676323" y="2230680"/>
            <a:ext cx="3654335" cy="352851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03D05C06-C2A7-AC99-76E6-E4B381512E65}"/>
              </a:ext>
            </a:extLst>
          </p:cNvPr>
          <p:cNvSpPr txBox="1"/>
          <p:nvPr/>
        </p:nvSpPr>
        <p:spPr>
          <a:xfrm>
            <a:off x="337595" y="281636"/>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Science is limited to answering questions about the natural world</a:t>
            </a:r>
          </a:p>
        </p:txBody>
      </p:sp>
    </p:spTree>
    <p:extLst>
      <p:ext uri="{BB962C8B-B14F-4D97-AF65-F5344CB8AC3E}">
        <p14:creationId xmlns:p14="http://schemas.microsoft.com/office/powerpoint/2010/main" val="143826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674DFF5C-9541-CD2A-61A4-EA7655917F06}"/>
              </a:ext>
            </a:extLst>
          </p:cNvPr>
          <p:cNvSpPr txBox="1"/>
          <p:nvPr/>
        </p:nvSpPr>
        <p:spPr>
          <a:xfrm>
            <a:off x="310234" y="6116004"/>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Evolution is agnostic about God/god(s)</a:t>
            </a:r>
          </a:p>
        </p:txBody>
      </p:sp>
      <p:sp>
        <p:nvSpPr>
          <p:cNvPr id="8" name="Oval 7">
            <a:extLst>
              <a:ext uri="{FF2B5EF4-FFF2-40B4-BE49-F238E27FC236}">
                <a16:creationId xmlns:a16="http://schemas.microsoft.com/office/drawing/2014/main" id="{963E5733-AFD0-B81B-7EB8-DEDC0CFC2C9D}"/>
              </a:ext>
            </a:extLst>
          </p:cNvPr>
          <p:cNvSpPr/>
          <p:nvPr/>
        </p:nvSpPr>
        <p:spPr>
          <a:xfrm>
            <a:off x="1129158" y="2230681"/>
            <a:ext cx="3654335" cy="352851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 name="TextBox 8">
            <a:extLst>
              <a:ext uri="{FF2B5EF4-FFF2-40B4-BE49-F238E27FC236}">
                <a16:creationId xmlns:a16="http://schemas.microsoft.com/office/drawing/2014/main" id="{5F986A89-2981-1810-940C-1E1C1049B918}"/>
              </a:ext>
            </a:extLst>
          </p:cNvPr>
          <p:cNvSpPr txBox="1"/>
          <p:nvPr/>
        </p:nvSpPr>
        <p:spPr>
          <a:xfrm>
            <a:off x="1426785" y="3008825"/>
            <a:ext cx="3009850" cy="193899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Natural explanations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Natural phenomenon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How? When? Where? What is the natural cause? </a:t>
            </a:r>
          </a:p>
        </p:txBody>
      </p:sp>
      <p:sp>
        <p:nvSpPr>
          <p:cNvPr id="10" name="TextBox 9">
            <a:extLst>
              <a:ext uri="{FF2B5EF4-FFF2-40B4-BE49-F238E27FC236}">
                <a16:creationId xmlns:a16="http://schemas.microsoft.com/office/drawing/2014/main" id="{A52C0587-E3A2-0E8F-0AAE-9782CDFF34A4}"/>
              </a:ext>
            </a:extLst>
          </p:cNvPr>
          <p:cNvSpPr txBox="1"/>
          <p:nvPr/>
        </p:nvSpPr>
        <p:spPr>
          <a:xfrm>
            <a:off x="1572401" y="1524071"/>
            <a:ext cx="2765777" cy="461665"/>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Science</a:t>
            </a:r>
          </a:p>
        </p:txBody>
      </p:sp>
      <p:sp>
        <p:nvSpPr>
          <p:cNvPr id="11" name="TextBox 10">
            <a:extLst>
              <a:ext uri="{FF2B5EF4-FFF2-40B4-BE49-F238E27FC236}">
                <a16:creationId xmlns:a16="http://schemas.microsoft.com/office/drawing/2014/main" id="{BC842AE7-99DE-9550-FCE4-1A6CAD706395}"/>
              </a:ext>
            </a:extLst>
          </p:cNvPr>
          <p:cNvSpPr txBox="1"/>
          <p:nvPr/>
        </p:nvSpPr>
        <p:spPr>
          <a:xfrm>
            <a:off x="7953057" y="2871552"/>
            <a:ext cx="3167919" cy="25545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What is the purpose of life?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How should one live?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What is moral?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What is the nature of God? Does God exist?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2" name="TextBox 11">
            <a:extLst>
              <a:ext uri="{FF2B5EF4-FFF2-40B4-BE49-F238E27FC236}">
                <a16:creationId xmlns:a16="http://schemas.microsoft.com/office/drawing/2014/main" id="{4C328AB2-70A7-4E3F-67F0-6DA8C157F7AD}"/>
              </a:ext>
            </a:extLst>
          </p:cNvPr>
          <p:cNvSpPr txBox="1"/>
          <p:nvPr/>
        </p:nvSpPr>
        <p:spPr>
          <a:xfrm>
            <a:off x="8630340" y="1524071"/>
            <a:ext cx="1813352" cy="461665"/>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Religion</a:t>
            </a:r>
          </a:p>
        </p:txBody>
      </p:sp>
      <p:cxnSp>
        <p:nvCxnSpPr>
          <p:cNvPr id="13" name="Straight Arrow Connector 12">
            <a:extLst>
              <a:ext uri="{FF2B5EF4-FFF2-40B4-BE49-F238E27FC236}">
                <a16:creationId xmlns:a16="http://schemas.microsoft.com/office/drawing/2014/main" id="{AB7B3BF7-8FA0-E3D3-76DA-D085825CECD6}"/>
              </a:ext>
            </a:extLst>
          </p:cNvPr>
          <p:cNvCxnSpPr/>
          <p:nvPr/>
        </p:nvCxnSpPr>
        <p:spPr>
          <a:xfrm flipV="1">
            <a:off x="5205734" y="3444542"/>
            <a:ext cx="1911702" cy="19302"/>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7E03BA8-271E-1FBD-1C2C-06FEEF60D8C5}"/>
              </a:ext>
            </a:extLst>
          </p:cNvPr>
          <p:cNvSpPr txBox="1"/>
          <p:nvPr/>
        </p:nvSpPr>
        <p:spPr>
          <a:xfrm>
            <a:off x="4995522" y="3663445"/>
            <a:ext cx="2332127"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If science and religion do not answer the same questions, then there is no conflict but only dialogue and collaboration.</a:t>
            </a:r>
          </a:p>
        </p:txBody>
      </p:sp>
      <p:sp>
        <p:nvSpPr>
          <p:cNvPr id="16" name="Oval 15">
            <a:extLst>
              <a:ext uri="{FF2B5EF4-FFF2-40B4-BE49-F238E27FC236}">
                <a16:creationId xmlns:a16="http://schemas.microsoft.com/office/drawing/2014/main" id="{6C907987-21BE-29F7-29AE-2249EDE93234}"/>
              </a:ext>
            </a:extLst>
          </p:cNvPr>
          <p:cNvSpPr/>
          <p:nvPr/>
        </p:nvSpPr>
        <p:spPr>
          <a:xfrm>
            <a:off x="7676323" y="2230680"/>
            <a:ext cx="3654335" cy="352851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03D05C06-C2A7-AC99-76E6-E4B381512E65}"/>
              </a:ext>
            </a:extLst>
          </p:cNvPr>
          <p:cNvSpPr txBox="1"/>
          <p:nvPr/>
        </p:nvSpPr>
        <p:spPr>
          <a:xfrm>
            <a:off x="337595" y="281636"/>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Science is limited to answering questions about the natural world</a:t>
            </a:r>
          </a:p>
        </p:txBody>
      </p:sp>
      <p:sp>
        <p:nvSpPr>
          <p:cNvPr id="15" name="TextBox 14">
            <a:extLst>
              <a:ext uri="{FF2B5EF4-FFF2-40B4-BE49-F238E27FC236}">
                <a16:creationId xmlns:a16="http://schemas.microsoft.com/office/drawing/2014/main" id="{3356BE64-963D-5698-DF65-D02B5CC30087}"/>
              </a:ext>
            </a:extLst>
          </p:cNvPr>
          <p:cNvSpPr txBox="1"/>
          <p:nvPr/>
        </p:nvSpPr>
        <p:spPr>
          <a:xfrm>
            <a:off x="316009" y="6107678"/>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sng" strike="noStrike" kern="1200" cap="none" spc="0" normalizeH="0" baseline="0" noProof="0" dirty="0">
                <a:ln>
                  <a:noFill/>
                </a:ln>
                <a:solidFill>
                  <a:srgbClr val="FFFF00"/>
                </a:solidFill>
                <a:effectLst/>
                <a:uLnTx/>
                <a:uFillTx/>
                <a:latin typeface="Calibri" panose="020F0502020204030204" pitchFamily="34" charset="0"/>
                <a:ea typeface="+mn-ea"/>
                <a:cs typeface="Calibri" panose="020F0502020204030204" pitchFamily="34" charset="0"/>
              </a:rPr>
              <a:t>Evolution is agnostic about God/god(s)</a:t>
            </a:r>
          </a:p>
        </p:txBody>
      </p:sp>
    </p:spTree>
    <p:extLst>
      <p:ext uri="{BB962C8B-B14F-4D97-AF65-F5344CB8AC3E}">
        <p14:creationId xmlns:p14="http://schemas.microsoft.com/office/powerpoint/2010/main" val="2869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5">
            <a:extLst>
              <a:ext uri="{FF2B5EF4-FFF2-40B4-BE49-F238E27FC236}">
                <a16:creationId xmlns:a16="http://schemas.microsoft.com/office/drawing/2014/main" id="{D2A61658-E0F9-65DC-F491-C99BD80CAED8}"/>
              </a:ext>
            </a:extLst>
          </p:cNvPr>
          <p:cNvSpPr txBox="1">
            <a:spLocks/>
          </p:cNvSpPr>
          <p:nvPr/>
        </p:nvSpPr>
        <p:spPr>
          <a:xfrm>
            <a:off x="4261522" y="1439218"/>
            <a:ext cx="7091710" cy="944388"/>
          </a:xfrm>
          <a:prstGeom prst="rect">
            <a:avLst/>
          </a:prstGeom>
        </p:spPr>
        <p:txBody>
          <a:bodyPr>
            <a:normAutofit/>
          </a:bodyPr>
          <a:lstStyle>
            <a:lvl1pPr marL="282157" indent="-263347" algn="l" defTabSz="940523" rtl="0" eaLnBrk="1" latinLnBrk="0" hangingPunct="1">
              <a:spcBef>
                <a:spcPct val="20000"/>
              </a:spcBef>
              <a:spcAft>
                <a:spcPts val="0"/>
              </a:spcAft>
              <a:buSzPct val="60000"/>
              <a:buFont typeface="Wingdings" pitchFamily="2" charset="2"/>
              <a:buChar char=""/>
              <a:defRPr sz="2156" kern="1200">
                <a:solidFill>
                  <a:schemeClr val="tx1"/>
                </a:solidFill>
                <a:effectLst>
                  <a:outerShdw blurRad="38100" dist="38100" dir="2700000" algn="tl">
                    <a:srgbClr val="000000">
                      <a:alpha val="43137"/>
                    </a:srgbClr>
                  </a:outerShdw>
                </a:effectLst>
                <a:latin typeface="+mn-lt"/>
                <a:ea typeface="+mn-ea"/>
                <a:cs typeface="+mn-cs"/>
              </a:defRPr>
            </a:lvl1pPr>
            <a:lvl2pPr marL="658366" indent="-263347" algn="l" defTabSz="940523" rtl="0" eaLnBrk="1" latinLnBrk="0" hangingPunct="1">
              <a:spcBef>
                <a:spcPct val="20000"/>
              </a:spcBef>
              <a:buSzPct val="60000"/>
              <a:buFont typeface="Wingdings" pitchFamily="2" charset="2"/>
              <a:buChar char=""/>
              <a:defRPr sz="1950" kern="1200">
                <a:solidFill>
                  <a:schemeClr val="tx1"/>
                </a:solidFill>
                <a:effectLst>
                  <a:outerShdw blurRad="38100" dist="38100" dir="2700000" algn="tl">
                    <a:srgbClr val="000000">
                      <a:alpha val="43137"/>
                    </a:srgbClr>
                  </a:outerShdw>
                </a:effectLst>
                <a:latin typeface="+mn-lt"/>
                <a:ea typeface="+mn-ea"/>
                <a:cs typeface="+mn-cs"/>
              </a:defRPr>
            </a:lvl2pPr>
            <a:lvl3pPr marL="1034576" indent="-263347" algn="l" defTabSz="940523" rtl="0" eaLnBrk="1" latinLnBrk="0" hangingPunct="1">
              <a:spcBef>
                <a:spcPct val="20000"/>
              </a:spcBef>
              <a:buSzPct val="60000"/>
              <a:buFont typeface="Wingdings" pitchFamily="2" charset="2"/>
              <a:buChar char=""/>
              <a:defRPr sz="1744" kern="1200">
                <a:solidFill>
                  <a:schemeClr val="tx1"/>
                </a:solidFill>
                <a:effectLst>
                  <a:outerShdw blurRad="38100" dist="38100" dir="2700000" algn="tl">
                    <a:srgbClr val="000000">
                      <a:alpha val="43137"/>
                    </a:srgbClr>
                  </a:outerShdw>
                </a:effectLst>
                <a:latin typeface="+mn-lt"/>
                <a:ea typeface="+mn-ea"/>
                <a:cs typeface="+mn-cs"/>
              </a:defRPr>
            </a:lvl3pPr>
            <a:lvl4pPr marL="1410785" indent="-263347" algn="l" defTabSz="940523" rtl="0" eaLnBrk="1" latinLnBrk="0" hangingPunct="1">
              <a:spcBef>
                <a:spcPct val="20000"/>
              </a:spcBef>
              <a:buSzPct val="60000"/>
              <a:buFont typeface="Wingdings" pitchFamily="2" charset="2"/>
              <a:buChar char=""/>
              <a:defRPr sz="1650" kern="1200">
                <a:solidFill>
                  <a:schemeClr val="tx1"/>
                </a:solidFill>
                <a:effectLst>
                  <a:outerShdw blurRad="38100" dist="38100" dir="2700000" algn="tl">
                    <a:srgbClr val="000000">
                      <a:alpha val="43137"/>
                    </a:srgbClr>
                  </a:outerShdw>
                </a:effectLst>
                <a:latin typeface="+mn-lt"/>
                <a:ea typeface="+mn-ea"/>
                <a:cs typeface="+mn-cs"/>
              </a:defRPr>
            </a:lvl4pPr>
            <a:lvl5pPr marL="1692942" indent="-263347" algn="l" defTabSz="940523" rtl="0" eaLnBrk="1" latinLnBrk="0" hangingPunct="1">
              <a:spcBef>
                <a:spcPct val="20000"/>
              </a:spcBef>
              <a:buSzPct val="60000"/>
              <a:buFont typeface="Wingdings" pitchFamily="2" charset="2"/>
              <a:buChar char=""/>
              <a:defRPr sz="1538" kern="1200">
                <a:solidFill>
                  <a:schemeClr val="tx1"/>
                </a:solidFill>
                <a:effectLst>
                  <a:outerShdw blurRad="38100" dist="38100" dir="2700000" algn="tl">
                    <a:srgbClr val="000000">
                      <a:alpha val="43137"/>
                    </a:srgbClr>
                  </a:outerShdw>
                </a:effectLst>
                <a:latin typeface="+mn-lt"/>
                <a:ea typeface="+mn-ea"/>
                <a:cs typeface="+mn-cs"/>
              </a:defRPr>
            </a:lvl5pPr>
            <a:lvl6pPr marL="2022125"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6pPr>
            <a:lvl7pPr marL="2304282"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86439"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8pPr>
            <a:lvl9pPr marL="2915622" indent="-263347" algn="l" defTabSz="940523" rtl="0" eaLnBrk="1" latinLnBrk="0" hangingPunct="1">
              <a:spcBef>
                <a:spcPct val="20000"/>
              </a:spcBef>
              <a:buSzPct val="60000"/>
              <a:buFont typeface="Wingdings" pitchFamily="2" charset="2"/>
              <a:buChar char=""/>
              <a:defRPr sz="1444" kern="1200">
                <a:solidFill>
                  <a:schemeClr val="tx1"/>
                </a:solidFill>
                <a:effectLst>
                  <a:outerShdw blurRad="38100" dist="38100" dir="2700000" algn="ctr" rotWithShape="0">
                    <a:srgbClr val="000000">
                      <a:alpha val="43000"/>
                    </a:srgbClr>
                  </a:outerShdw>
                </a:effectLst>
                <a:latin typeface="+mn-lt"/>
                <a:ea typeface="+mn-ea"/>
                <a:cs typeface="+mn-cs"/>
              </a:defRPr>
            </a:lvl9pPr>
          </a:lstStyle>
          <a:p>
            <a:pPr marL="0" marR="0" lvl="0" indent="0" algn="l" defTabSz="940523" rtl="0" eaLnBrk="1" fontAlgn="auto" latinLnBrk="0" hangingPunct="1">
              <a:lnSpc>
                <a:spcPct val="100000"/>
              </a:lnSpc>
              <a:spcBef>
                <a:spcPct val="20000"/>
              </a:spcBef>
              <a:spcAft>
                <a:spcPts val="0"/>
              </a:spcAft>
              <a:buClrTx/>
              <a:buSzPct val="60000"/>
              <a:buFont typeface="Wingdings" pitchFamily="2" charset="2"/>
              <a:buNone/>
              <a:tabLst/>
              <a:defRPr/>
            </a:pPr>
            <a:r>
              <a:rPr kumimoji="0" lang="en-US" sz="2156"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harter IT Cby BT"/>
                <a:ea typeface="+mn-ea"/>
                <a:cs typeface="+mn-cs"/>
              </a:rPr>
              <a:t>Thomas Henry Huxley, an early evolutionary biologist, coined the term agnostic to describe what was scientific in 1884:</a:t>
            </a:r>
          </a:p>
        </p:txBody>
      </p:sp>
      <p:sp>
        <p:nvSpPr>
          <p:cNvPr id="18" name="Speech Bubble: Rectangle with Corners Rounded 17">
            <a:extLst>
              <a:ext uri="{FF2B5EF4-FFF2-40B4-BE49-F238E27FC236}">
                <a16:creationId xmlns:a16="http://schemas.microsoft.com/office/drawing/2014/main" id="{5AD09055-61A2-6FCC-B8FD-F73EEF2A17FF}"/>
              </a:ext>
            </a:extLst>
          </p:cNvPr>
          <p:cNvSpPr/>
          <p:nvPr/>
        </p:nvSpPr>
        <p:spPr>
          <a:xfrm>
            <a:off x="4117298" y="2787561"/>
            <a:ext cx="7380158" cy="2400888"/>
          </a:xfrm>
          <a:prstGeom prst="wedgeRoundRectCallout">
            <a:avLst/>
          </a:prstGeom>
          <a:ln w="762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ysClr val="windowText" lastClr="000000"/>
                </a:solidFill>
                <a:effectLst/>
                <a:uLnTx/>
                <a:uFillTx/>
                <a:latin typeface="Charter IT Cby BT"/>
                <a:ea typeface="+mn-ea"/>
                <a:cs typeface="+mn-cs"/>
              </a:rPr>
              <a:t>“Agnosticism is of the essence of science … It means that [we] shall not say [we] know or believe that which [we] have no scientific grounds for professing to know or believe … Agnosticism simply says that we know nothing of what may be beyond natural  phenomena.”</a:t>
            </a:r>
            <a:endParaRPr kumimoji="0" lang="en-US" sz="2400" b="0" i="0" u="none" strike="noStrike" kern="1200" cap="none" spc="0" normalizeH="0" baseline="0" noProof="0" dirty="0">
              <a:ln>
                <a:noFill/>
              </a:ln>
              <a:solidFill>
                <a:sysClr val="windowText" lastClr="000000"/>
              </a:solidFill>
              <a:effectLst/>
              <a:uLnTx/>
              <a:uFillTx/>
              <a:latin typeface="Palatino Linotype"/>
              <a:ea typeface="+mn-ea"/>
              <a:cs typeface="+mn-cs"/>
            </a:endParaRPr>
          </a:p>
        </p:txBody>
      </p:sp>
      <p:pic>
        <p:nvPicPr>
          <p:cNvPr id="19" name="Picture 18" descr="A picture containing person, person, wall, clothing&#10;&#10;Description automatically generated">
            <a:extLst>
              <a:ext uri="{FF2B5EF4-FFF2-40B4-BE49-F238E27FC236}">
                <a16:creationId xmlns:a16="http://schemas.microsoft.com/office/drawing/2014/main" id="{68F7166D-A452-463D-70C7-2ED86B02D2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544" y="1572909"/>
            <a:ext cx="2941667" cy="3857123"/>
          </a:xfrm>
          <a:prstGeom prst="rect">
            <a:avLst/>
          </a:prstGeom>
        </p:spPr>
      </p:pic>
    </p:spTree>
    <p:extLst>
      <p:ext uri="{BB962C8B-B14F-4D97-AF65-F5344CB8AC3E}">
        <p14:creationId xmlns:p14="http://schemas.microsoft.com/office/powerpoint/2010/main" val="4107506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265051"/>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There is a spectrum of viewpoints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on the relationship between religion and evolution</a:t>
            </a:r>
          </a:p>
        </p:txBody>
      </p:sp>
      <p:sp>
        <p:nvSpPr>
          <p:cNvPr id="20" name="TextBox 19">
            <a:extLst>
              <a:ext uri="{FF2B5EF4-FFF2-40B4-BE49-F238E27FC236}">
                <a16:creationId xmlns:a16="http://schemas.microsoft.com/office/drawing/2014/main" id="{BFDB545F-91D1-694F-D3F6-19F3BD7CAB9B}"/>
              </a:ext>
            </a:extLst>
          </p:cNvPr>
          <p:cNvSpPr txBox="1"/>
          <p:nvPr/>
        </p:nvSpPr>
        <p:spPr>
          <a:xfrm rot="-5400000">
            <a:off x="966297" y="3915600"/>
            <a:ext cx="28262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Young Earth creationism</a:t>
            </a:r>
          </a:p>
        </p:txBody>
      </p:sp>
      <p:sp>
        <p:nvSpPr>
          <p:cNvPr id="21" name="TextBox 20">
            <a:extLst>
              <a:ext uri="{FF2B5EF4-FFF2-40B4-BE49-F238E27FC236}">
                <a16:creationId xmlns:a16="http://schemas.microsoft.com/office/drawing/2014/main" id="{FF6F9768-A25A-333E-758C-449FDAACE6BF}"/>
              </a:ext>
            </a:extLst>
          </p:cNvPr>
          <p:cNvSpPr txBox="1"/>
          <p:nvPr/>
        </p:nvSpPr>
        <p:spPr>
          <a:xfrm rot="-5400000">
            <a:off x="1733156" y="3769764"/>
            <a:ext cx="25092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Old Earth creationism</a:t>
            </a:r>
          </a:p>
        </p:txBody>
      </p:sp>
      <p:sp>
        <p:nvSpPr>
          <p:cNvPr id="22" name="TextBox 21">
            <a:extLst>
              <a:ext uri="{FF2B5EF4-FFF2-40B4-BE49-F238E27FC236}">
                <a16:creationId xmlns:a16="http://schemas.microsoft.com/office/drawing/2014/main" id="{1BA3AF97-4B21-E95C-0056-2D4547775D36}"/>
              </a:ext>
            </a:extLst>
          </p:cNvPr>
          <p:cNvSpPr txBox="1"/>
          <p:nvPr/>
        </p:nvSpPr>
        <p:spPr>
          <a:xfrm rot="-5400000">
            <a:off x="2209620" y="3924756"/>
            <a:ext cx="2772926"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Progressive creationism</a:t>
            </a:r>
          </a:p>
        </p:txBody>
      </p:sp>
      <p:sp>
        <p:nvSpPr>
          <p:cNvPr id="23" name="TextBox 22">
            <a:extLst>
              <a:ext uri="{FF2B5EF4-FFF2-40B4-BE49-F238E27FC236}">
                <a16:creationId xmlns:a16="http://schemas.microsoft.com/office/drawing/2014/main" id="{E4C2EFEB-1A3C-4F46-3A45-BECD72E8A470}"/>
              </a:ext>
            </a:extLst>
          </p:cNvPr>
          <p:cNvSpPr txBox="1"/>
          <p:nvPr/>
        </p:nvSpPr>
        <p:spPr>
          <a:xfrm rot="-5400000">
            <a:off x="2789858" y="3844629"/>
            <a:ext cx="26126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Human exceptionalism</a:t>
            </a:r>
          </a:p>
        </p:txBody>
      </p:sp>
      <p:sp>
        <p:nvSpPr>
          <p:cNvPr id="24" name="TextBox 23">
            <a:extLst>
              <a:ext uri="{FF2B5EF4-FFF2-40B4-BE49-F238E27FC236}">
                <a16:creationId xmlns:a16="http://schemas.microsoft.com/office/drawing/2014/main" id="{A8307BC1-7E5C-8DA2-218E-1BD4FEEA3835}"/>
              </a:ext>
            </a:extLst>
          </p:cNvPr>
          <p:cNvSpPr txBox="1"/>
          <p:nvPr/>
        </p:nvSpPr>
        <p:spPr>
          <a:xfrm rot="-5400000">
            <a:off x="4069825" y="3909670"/>
            <a:ext cx="28728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Interventionist evolution</a:t>
            </a:r>
          </a:p>
        </p:txBody>
      </p:sp>
      <p:sp>
        <p:nvSpPr>
          <p:cNvPr id="25" name="TextBox 24">
            <a:extLst>
              <a:ext uri="{FF2B5EF4-FFF2-40B4-BE49-F238E27FC236}">
                <a16:creationId xmlns:a16="http://schemas.microsoft.com/office/drawing/2014/main" id="{ED05E352-C7D5-EEEE-7ADB-9DBD88CB0520}"/>
              </a:ext>
            </a:extLst>
          </p:cNvPr>
          <p:cNvSpPr txBox="1"/>
          <p:nvPr/>
        </p:nvSpPr>
        <p:spPr>
          <a:xfrm rot="-5400000">
            <a:off x="5003090" y="3550209"/>
            <a:ext cx="207009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Theistic evolution</a:t>
            </a:r>
          </a:p>
        </p:txBody>
      </p:sp>
      <p:sp>
        <p:nvSpPr>
          <p:cNvPr id="26" name="TextBox 25">
            <a:extLst>
              <a:ext uri="{FF2B5EF4-FFF2-40B4-BE49-F238E27FC236}">
                <a16:creationId xmlns:a16="http://schemas.microsoft.com/office/drawing/2014/main" id="{2EC17BE3-D13C-02CA-5A6F-BB7480CAC400}"/>
              </a:ext>
            </a:extLst>
          </p:cNvPr>
          <p:cNvSpPr txBox="1"/>
          <p:nvPr/>
        </p:nvSpPr>
        <p:spPr>
          <a:xfrm rot="-5400000">
            <a:off x="5593878" y="3520973"/>
            <a:ext cx="196536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Deistic evolution</a:t>
            </a:r>
          </a:p>
        </p:txBody>
      </p:sp>
      <p:sp>
        <p:nvSpPr>
          <p:cNvPr id="27" name="TextBox 26">
            <a:extLst>
              <a:ext uri="{FF2B5EF4-FFF2-40B4-BE49-F238E27FC236}">
                <a16:creationId xmlns:a16="http://schemas.microsoft.com/office/drawing/2014/main" id="{A63BD518-1FE0-663C-8306-B763BF7592CE}"/>
              </a:ext>
            </a:extLst>
          </p:cNvPr>
          <p:cNvSpPr txBox="1"/>
          <p:nvPr/>
        </p:nvSpPr>
        <p:spPr>
          <a:xfrm rot="-5400000">
            <a:off x="7612898" y="3560509"/>
            <a:ext cx="21745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Agnostic evolution</a:t>
            </a:r>
          </a:p>
        </p:txBody>
      </p:sp>
      <p:sp>
        <p:nvSpPr>
          <p:cNvPr id="28" name="TextBox 27">
            <a:extLst>
              <a:ext uri="{FF2B5EF4-FFF2-40B4-BE49-F238E27FC236}">
                <a16:creationId xmlns:a16="http://schemas.microsoft.com/office/drawing/2014/main" id="{6F2F2CFA-F19F-2C8B-AE77-D98A15BD5FFF}"/>
              </a:ext>
            </a:extLst>
          </p:cNvPr>
          <p:cNvSpPr txBox="1"/>
          <p:nvPr/>
        </p:nvSpPr>
        <p:spPr>
          <a:xfrm rot="-5400000">
            <a:off x="8213117" y="3560510"/>
            <a:ext cx="2174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Atheistic evolution</a:t>
            </a:r>
          </a:p>
        </p:txBody>
      </p:sp>
      <p:sp>
        <p:nvSpPr>
          <p:cNvPr id="29" name="TextBox 28">
            <a:extLst>
              <a:ext uri="{FF2B5EF4-FFF2-40B4-BE49-F238E27FC236}">
                <a16:creationId xmlns:a16="http://schemas.microsoft.com/office/drawing/2014/main" id="{3C98D2DA-B0FF-7645-A71C-4BCD2D0CF37E}"/>
              </a:ext>
            </a:extLst>
          </p:cNvPr>
          <p:cNvSpPr txBox="1"/>
          <p:nvPr/>
        </p:nvSpPr>
        <p:spPr>
          <a:xfrm>
            <a:off x="2104981" y="2229942"/>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Special creationism</a:t>
            </a:r>
          </a:p>
        </p:txBody>
      </p:sp>
      <p:sp>
        <p:nvSpPr>
          <p:cNvPr id="30" name="TextBox 29">
            <a:extLst>
              <a:ext uri="{FF2B5EF4-FFF2-40B4-BE49-F238E27FC236}">
                <a16:creationId xmlns:a16="http://schemas.microsoft.com/office/drawing/2014/main" id="{57AFAC7B-A9C5-EE14-06AC-C311DC301D6F}"/>
              </a:ext>
            </a:extLst>
          </p:cNvPr>
          <p:cNvSpPr txBox="1"/>
          <p:nvPr/>
        </p:nvSpPr>
        <p:spPr>
          <a:xfrm>
            <a:off x="5006255" y="2213718"/>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 God</a:t>
            </a:r>
          </a:p>
        </p:txBody>
      </p:sp>
      <p:sp>
        <p:nvSpPr>
          <p:cNvPr id="31" name="TextBox 30">
            <a:extLst>
              <a:ext uri="{FF2B5EF4-FFF2-40B4-BE49-F238E27FC236}">
                <a16:creationId xmlns:a16="http://schemas.microsoft.com/office/drawing/2014/main" id="{5D7144FF-3C9D-2CA0-B0B6-8D6C7213AE42}"/>
              </a:ext>
            </a:extLst>
          </p:cNvPr>
          <p:cNvSpPr txBox="1"/>
          <p:nvPr/>
        </p:nvSpPr>
        <p:spPr>
          <a:xfrm>
            <a:off x="7771562" y="2213718"/>
            <a:ext cx="2657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without God</a:t>
            </a:r>
          </a:p>
        </p:txBody>
      </p:sp>
      <p:sp>
        <p:nvSpPr>
          <p:cNvPr id="32" name="TextBox 31">
            <a:extLst>
              <a:ext uri="{FF2B5EF4-FFF2-40B4-BE49-F238E27FC236}">
                <a16:creationId xmlns:a16="http://schemas.microsoft.com/office/drawing/2014/main" id="{4BB99E19-6003-920B-23A3-B9DF169DAF4C}"/>
              </a:ext>
            </a:extLst>
          </p:cNvPr>
          <p:cNvSpPr txBox="1"/>
          <p:nvPr/>
        </p:nvSpPr>
        <p:spPr>
          <a:xfrm>
            <a:off x="5325737" y="5691275"/>
            <a:ext cx="4940311" cy="400110"/>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alibri" panose="020F0502020204030204"/>
                <a:ea typeface="+mn-ea"/>
                <a:cs typeface="+mn-cs"/>
              </a:rPr>
              <a:t>Not in direct conflict with scientific evidence</a:t>
            </a:r>
          </a:p>
        </p:txBody>
      </p:sp>
      <p:sp>
        <p:nvSpPr>
          <p:cNvPr id="33" name="Left Bracket 32">
            <a:extLst>
              <a:ext uri="{FF2B5EF4-FFF2-40B4-BE49-F238E27FC236}">
                <a16:creationId xmlns:a16="http://schemas.microsoft.com/office/drawing/2014/main" id="{819A2A67-6379-FE17-7414-1B61C02D9A99}"/>
              </a:ext>
            </a:extLst>
          </p:cNvPr>
          <p:cNvSpPr/>
          <p:nvPr/>
        </p:nvSpPr>
        <p:spPr>
          <a:xfrm rot="16200000">
            <a:off x="7571507" y="2752546"/>
            <a:ext cx="400109" cy="5371605"/>
          </a:xfrm>
          <a:prstGeom prst="leftBracket">
            <a:avLst/>
          </a:prstGeom>
          <a:noFill/>
          <a:ln w="38100" cap="flat" cmpd="sng" algn="ctr">
            <a:solidFill>
              <a:srgbClr val="FFFF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459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265051"/>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There is a spectrum of viewpoints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on the relationship between religion and evolution</a:t>
            </a:r>
          </a:p>
        </p:txBody>
      </p:sp>
      <p:sp>
        <p:nvSpPr>
          <p:cNvPr id="20" name="TextBox 19">
            <a:extLst>
              <a:ext uri="{FF2B5EF4-FFF2-40B4-BE49-F238E27FC236}">
                <a16:creationId xmlns:a16="http://schemas.microsoft.com/office/drawing/2014/main" id="{BFDB545F-91D1-694F-D3F6-19F3BD7CAB9B}"/>
              </a:ext>
            </a:extLst>
          </p:cNvPr>
          <p:cNvSpPr txBox="1"/>
          <p:nvPr/>
        </p:nvSpPr>
        <p:spPr>
          <a:xfrm rot="-5400000">
            <a:off x="966297" y="3915600"/>
            <a:ext cx="28262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Young Earth creationism</a:t>
            </a:r>
          </a:p>
        </p:txBody>
      </p:sp>
      <p:sp>
        <p:nvSpPr>
          <p:cNvPr id="21" name="TextBox 20">
            <a:extLst>
              <a:ext uri="{FF2B5EF4-FFF2-40B4-BE49-F238E27FC236}">
                <a16:creationId xmlns:a16="http://schemas.microsoft.com/office/drawing/2014/main" id="{FF6F9768-A25A-333E-758C-449FDAACE6BF}"/>
              </a:ext>
            </a:extLst>
          </p:cNvPr>
          <p:cNvSpPr txBox="1"/>
          <p:nvPr/>
        </p:nvSpPr>
        <p:spPr>
          <a:xfrm rot="-5400000">
            <a:off x="1733156" y="3769764"/>
            <a:ext cx="25092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Old Earth creationism</a:t>
            </a:r>
          </a:p>
        </p:txBody>
      </p:sp>
      <p:sp>
        <p:nvSpPr>
          <p:cNvPr id="22" name="TextBox 21">
            <a:extLst>
              <a:ext uri="{FF2B5EF4-FFF2-40B4-BE49-F238E27FC236}">
                <a16:creationId xmlns:a16="http://schemas.microsoft.com/office/drawing/2014/main" id="{1BA3AF97-4B21-E95C-0056-2D4547775D36}"/>
              </a:ext>
            </a:extLst>
          </p:cNvPr>
          <p:cNvSpPr txBox="1"/>
          <p:nvPr/>
        </p:nvSpPr>
        <p:spPr>
          <a:xfrm rot="-5400000">
            <a:off x="2209620" y="3924756"/>
            <a:ext cx="2772926"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Progressive creationism</a:t>
            </a:r>
          </a:p>
        </p:txBody>
      </p:sp>
      <p:sp>
        <p:nvSpPr>
          <p:cNvPr id="23" name="TextBox 22">
            <a:extLst>
              <a:ext uri="{FF2B5EF4-FFF2-40B4-BE49-F238E27FC236}">
                <a16:creationId xmlns:a16="http://schemas.microsoft.com/office/drawing/2014/main" id="{E4C2EFEB-1A3C-4F46-3A45-BECD72E8A470}"/>
              </a:ext>
            </a:extLst>
          </p:cNvPr>
          <p:cNvSpPr txBox="1"/>
          <p:nvPr/>
        </p:nvSpPr>
        <p:spPr>
          <a:xfrm rot="-5400000">
            <a:off x="2789858" y="3844629"/>
            <a:ext cx="26126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Human exceptionalism</a:t>
            </a:r>
          </a:p>
        </p:txBody>
      </p:sp>
      <p:sp>
        <p:nvSpPr>
          <p:cNvPr id="24" name="TextBox 23">
            <a:extLst>
              <a:ext uri="{FF2B5EF4-FFF2-40B4-BE49-F238E27FC236}">
                <a16:creationId xmlns:a16="http://schemas.microsoft.com/office/drawing/2014/main" id="{A8307BC1-7E5C-8DA2-218E-1BD4FEEA3835}"/>
              </a:ext>
            </a:extLst>
          </p:cNvPr>
          <p:cNvSpPr txBox="1"/>
          <p:nvPr/>
        </p:nvSpPr>
        <p:spPr>
          <a:xfrm rot="-5400000">
            <a:off x="4069825" y="3909670"/>
            <a:ext cx="28728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Interventionist evolution</a:t>
            </a:r>
          </a:p>
        </p:txBody>
      </p:sp>
      <p:sp>
        <p:nvSpPr>
          <p:cNvPr id="25" name="TextBox 24">
            <a:extLst>
              <a:ext uri="{FF2B5EF4-FFF2-40B4-BE49-F238E27FC236}">
                <a16:creationId xmlns:a16="http://schemas.microsoft.com/office/drawing/2014/main" id="{ED05E352-C7D5-EEEE-7ADB-9DBD88CB0520}"/>
              </a:ext>
            </a:extLst>
          </p:cNvPr>
          <p:cNvSpPr txBox="1"/>
          <p:nvPr/>
        </p:nvSpPr>
        <p:spPr>
          <a:xfrm rot="-5400000">
            <a:off x="5003090" y="3550209"/>
            <a:ext cx="207009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Theistic evolution</a:t>
            </a:r>
          </a:p>
        </p:txBody>
      </p:sp>
      <p:sp>
        <p:nvSpPr>
          <p:cNvPr id="26" name="TextBox 25">
            <a:extLst>
              <a:ext uri="{FF2B5EF4-FFF2-40B4-BE49-F238E27FC236}">
                <a16:creationId xmlns:a16="http://schemas.microsoft.com/office/drawing/2014/main" id="{2EC17BE3-D13C-02CA-5A6F-BB7480CAC400}"/>
              </a:ext>
            </a:extLst>
          </p:cNvPr>
          <p:cNvSpPr txBox="1"/>
          <p:nvPr/>
        </p:nvSpPr>
        <p:spPr>
          <a:xfrm rot="-5400000">
            <a:off x="5593878" y="3520973"/>
            <a:ext cx="196536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Deistic evolution</a:t>
            </a:r>
          </a:p>
        </p:txBody>
      </p:sp>
      <p:sp>
        <p:nvSpPr>
          <p:cNvPr id="27" name="TextBox 26">
            <a:extLst>
              <a:ext uri="{FF2B5EF4-FFF2-40B4-BE49-F238E27FC236}">
                <a16:creationId xmlns:a16="http://schemas.microsoft.com/office/drawing/2014/main" id="{A63BD518-1FE0-663C-8306-B763BF7592CE}"/>
              </a:ext>
            </a:extLst>
          </p:cNvPr>
          <p:cNvSpPr txBox="1"/>
          <p:nvPr/>
        </p:nvSpPr>
        <p:spPr>
          <a:xfrm rot="-5400000">
            <a:off x="7612898" y="3560509"/>
            <a:ext cx="21745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Agnostic evolution</a:t>
            </a:r>
          </a:p>
        </p:txBody>
      </p:sp>
      <p:sp>
        <p:nvSpPr>
          <p:cNvPr id="28" name="TextBox 27">
            <a:extLst>
              <a:ext uri="{FF2B5EF4-FFF2-40B4-BE49-F238E27FC236}">
                <a16:creationId xmlns:a16="http://schemas.microsoft.com/office/drawing/2014/main" id="{6F2F2CFA-F19F-2C8B-AE77-D98A15BD5FFF}"/>
              </a:ext>
            </a:extLst>
          </p:cNvPr>
          <p:cNvSpPr txBox="1"/>
          <p:nvPr/>
        </p:nvSpPr>
        <p:spPr>
          <a:xfrm rot="-5400000">
            <a:off x="8213117" y="3560510"/>
            <a:ext cx="2174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Atheistic evolution</a:t>
            </a:r>
          </a:p>
        </p:txBody>
      </p:sp>
      <p:sp>
        <p:nvSpPr>
          <p:cNvPr id="29" name="TextBox 28">
            <a:extLst>
              <a:ext uri="{FF2B5EF4-FFF2-40B4-BE49-F238E27FC236}">
                <a16:creationId xmlns:a16="http://schemas.microsoft.com/office/drawing/2014/main" id="{3C98D2DA-B0FF-7645-A71C-4BCD2D0CF37E}"/>
              </a:ext>
            </a:extLst>
          </p:cNvPr>
          <p:cNvSpPr txBox="1"/>
          <p:nvPr/>
        </p:nvSpPr>
        <p:spPr>
          <a:xfrm>
            <a:off x="2104981" y="2229942"/>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Special creationism</a:t>
            </a:r>
          </a:p>
        </p:txBody>
      </p:sp>
      <p:sp>
        <p:nvSpPr>
          <p:cNvPr id="30" name="TextBox 29">
            <a:extLst>
              <a:ext uri="{FF2B5EF4-FFF2-40B4-BE49-F238E27FC236}">
                <a16:creationId xmlns:a16="http://schemas.microsoft.com/office/drawing/2014/main" id="{57AFAC7B-A9C5-EE14-06AC-C311DC301D6F}"/>
              </a:ext>
            </a:extLst>
          </p:cNvPr>
          <p:cNvSpPr txBox="1"/>
          <p:nvPr/>
        </p:nvSpPr>
        <p:spPr>
          <a:xfrm>
            <a:off x="5006255" y="2213718"/>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 God</a:t>
            </a:r>
          </a:p>
        </p:txBody>
      </p:sp>
      <p:sp>
        <p:nvSpPr>
          <p:cNvPr id="31" name="TextBox 30">
            <a:extLst>
              <a:ext uri="{FF2B5EF4-FFF2-40B4-BE49-F238E27FC236}">
                <a16:creationId xmlns:a16="http://schemas.microsoft.com/office/drawing/2014/main" id="{5D7144FF-3C9D-2CA0-B0B6-8D6C7213AE42}"/>
              </a:ext>
            </a:extLst>
          </p:cNvPr>
          <p:cNvSpPr txBox="1"/>
          <p:nvPr/>
        </p:nvSpPr>
        <p:spPr>
          <a:xfrm>
            <a:off x="7771562" y="2213718"/>
            <a:ext cx="2657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without God</a:t>
            </a:r>
          </a:p>
        </p:txBody>
      </p:sp>
      <p:sp>
        <p:nvSpPr>
          <p:cNvPr id="2" name="Rectangle 1">
            <a:extLst>
              <a:ext uri="{FF2B5EF4-FFF2-40B4-BE49-F238E27FC236}">
                <a16:creationId xmlns:a16="http://schemas.microsoft.com/office/drawing/2014/main" id="{89B53771-5792-2F37-6216-AE7087044F82}"/>
              </a:ext>
            </a:extLst>
          </p:cNvPr>
          <p:cNvSpPr/>
          <p:nvPr/>
        </p:nvSpPr>
        <p:spPr>
          <a:xfrm>
            <a:off x="7771562" y="2213718"/>
            <a:ext cx="2657552" cy="3332444"/>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alatino Linotype"/>
              <a:ea typeface="+mn-ea"/>
              <a:cs typeface="+mn-cs"/>
            </a:endParaRPr>
          </a:p>
        </p:txBody>
      </p:sp>
    </p:spTree>
    <p:extLst>
      <p:ext uri="{BB962C8B-B14F-4D97-AF65-F5344CB8AC3E}">
        <p14:creationId xmlns:p14="http://schemas.microsoft.com/office/powerpoint/2010/main" val="787894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409755" y="219578"/>
            <a:ext cx="11516810"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Evolution </a:t>
            </a:r>
            <a:r>
              <a:rPr kumimoji="0" lang="en-US" sz="4000" b="1"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without</a:t>
            </a: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God/god(s)</a:t>
            </a:r>
          </a:p>
        </p:txBody>
      </p:sp>
      <p:sp>
        <p:nvSpPr>
          <p:cNvPr id="37" name="TextBox 36">
            <a:extLst>
              <a:ext uri="{FF2B5EF4-FFF2-40B4-BE49-F238E27FC236}">
                <a16:creationId xmlns:a16="http://schemas.microsoft.com/office/drawing/2014/main" id="{661FCBEF-DA90-18BD-751D-0DF0E9330E13}"/>
              </a:ext>
            </a:extLst>
          </p:cNvPr>
          <p:cNvSpPr txBox="1"/>
          <p:nvPr/>
        </p:nvSpPr>
        <p:spPr>
          <a:xfrm>
            <a:off x="7568093" y="1800494"/>
            <a:ext cx="309368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Agnostic evolutionist</a:t>
            </a:r>
          </a:p>
        </p:txBody>
      </p:sp>
      <p:sp>
        <p:nvSpPr>
          <p:cNvPr id="38" name="TextBox 37">
            <a:extLst>
              <a:ext uri="{FF2B5EF4-FFF2-40B4-BE49-F238E27FC236}">
                <a16:creationId xmlns:a16="http://schemas.microsoft.com/office/drawing/2014/main" id="{E1AB7F3A-4ED2-84FC-D7AB-C4A7314166C9}"/>
              </a:ext>
            </a:extLst>
          </p:cNvPr>
          <p:cNvSpPr txBox="1"/>
          <p:nvPr/>
        </p:nvSpPr>
        <p:spPr>
          <a:xfrm>
            <a:off x="2006275" y="1800494"/>
            <a:ext cx="294295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Atheistic evolutionist</a:t>
            </a:r>
          </a:p>
        </p:txBody>
      </p:sp>
      <p:sp>
        <p:nvSpPr>
          <p:cNvPr id="39" name="TextBox 38">
            <a:extLst>
              <a:ext uri="{FF2B5EF4-FFF2-40B4-BE49-F238E27FC236}">
                <a16:creationId xmlns:a16="http://schemas.microsoft.com/office/drawing/2014/main" id="{9BFF38C7-8E65-2B0E-3004-F1AD91D17EE3}"/>
              </a:ext>
            </a:extLst>
          </p:cNvPr>
          <p:cNvSpPr txBox="1"/>
          <p:nvPr/>
        </p:nvSpPr>
        <p:spPr>
          <a:xfrm>
            <a:off x="2240389" y="6053647"/>
            <a:ext cx="771122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sng" strike="noStrike" kern="1200" cap="none" spc="0" normalizeH="0" baseline="0" noProof="0" dirty="0">
                <a:ln>
                  <a:noFill/>
                </a:ln>
                <a:solidFill>
                  <a:srgbClr val="FFFF00"/>
                </a:solidFill>
                <a:effectLst/>
                <a:uLnTx/>
                <a:uFillTx/>
                <a:latin typeface="Calibri" panose="020F0502020204030204"/>
                <a:ea typeface="+mn-ea"/>
                <a:cs typeface="+mn-cs"/>
              </a:rPr>
              <a:t>Not in direct conflict with scientific evidence</a:t>
            </a:r>
          </a:p>
        </p:txBody>
      </p:sp>
      <p:sp>
        <p:nvSpPr>
          <p:cNvPr id="40" name="TextBox 39">
            <a:extLst>
              <a:ext uri="{FF2B5EF4-FFF2-40B4-BE49-F238E27FC236}">
                <a16:creationId xmlns:a16="http://schemas.microsoft.com/office/drawing/2014/main" id="{D095A837-E7D3-6DFA-CE46-C4542846AC79}"/>
              </a:ext>
            </a:extLst>
          </p:cNvPr>
          <p:cNvSpPr txBox="1"/>
          <p:nvPr/>
        </p:nvSpPr>
        <p:spPr>
          <a:xfrm>
            <a:off x="1185059" y="2318158"/>
            <a:ext cx="4585387" cy="1200329"/>
          </a:xfrm>
          <a:prstGeom prst="rect">
            <a:avLst/>
          </a:prstGeom>
          <a:no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Life shares a common ancestor and you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do not believe any God/god(s) was involved in evolution</a:t>
            </a:r>
          </a:p>
        </p:txBody>
      </p:sp>
      <p:sp>
        <p:nvSpPr>
          <p:cNvPr id="44" name="TextBox 43">
            <a:extLst>
              <a:ext uri="{FF2B5EF4-FFF2-40B4-BE49-F238E27FC236}">
                <a16:creationId xmlns:a16="http://schemas.microsoft.com/office/drawing/2014/main" id="{144DA4E3-98CF-7FB4-3565-50E1BEC12E69}"/>
              </a:ext>
            </a:extLst>
          </p:cNvPr>
          <p:cNvSpPr txBox="1"/>
          <p:nvPr/>
        </p:nvSpPr>
        <p:spPr>
          <a:xfrm>
            <a:off x="6840642" y="2318159"/>
            <a:ext cx="4593221" cy="1200329"/>
          </a:xfrm>
          <a:prstGeom prst="rect">
            <a:avLst/>
          </a:prstGeom>
          <a:noFill/>
          <a:ln w="1905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Life shares a common ancestor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you are unsure if any God/god(s)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was involved in evolution</a:t>
            </a:r>
          </a:p>
        </p:txBody>
      </p:sp>
      <p:pic>
        <p:nvPicPr>
          <p:cNvPr id="4" name="Picture 3">
            <a:extLst>
              <a:ext uri="{FF2B5EF4-FFF2-40B4-BE49-F238E27FC236}">
                <a16:creationId xmlns:a16="http://schemas.microsoft.com/office/drawing/2014/main" id="{CD2174F0-7721-A6E4-59BF-410224216791}"/>
              </a:ext>
            </a:extLst>
          </p:cNvPr>
          <p:cNvPicPr>
            <a:picLocks noChangeAspect="1"/>
          </p:cNvPicPr>
          <p:nvPr/>
        </p:nvPicPr>
        <p:blipFill rotWithShape="1">
          <a:blip r:embed="rId3" cstate="hqprint">
            <a:lum bright="70000" contrast="-70000"/>
            <a:extLst>
              <a:ext uri="{28A0092B-C50C-407E-A947-70E740481C1C}">
                <a14:useLocalDpi xmlns:a14="http://schemas.microsoft.com/office/drawing/2010/main" val="0"/>
              </a:ext>
            </a:extLst>
          </a:blip>
          <a:srcRect l="24839" t="12006" r="24768" b="23977"/>
          <a:stretch/>
        </p:blipFill>
        <p:spPr>
          <a:xfrm>
            <a:off x="8178635" y="3652854"/>
            <a:ext cx="1917233" cy="1893785"/>
          </a:xfrm>
          <a:prstGeom prst="rect">
            <a:avLst/>
          </a:prstGeom>
        </p:spPr>
      </p:pic>
      <p:pic>
        <p:nvPicPr>
          <p:cNvPr id="46" name="Picture 45">
            <a:extLst>
              <a:ext uri="{FF2B5EF4-FFF2-40B4-BE49-F238E27FC236}">
                <a16:creationId xmlns:a16="http://schemas.microsoft.com/office/drawing/2014/main" id="{174E9874-C695-6407-4B81-B48C79DFFED1}"/>
              </a:ext>
            </a:extLst>
          </p:cNvPr>
          <p:cNvPicPr>
            <a:picLocks noChangeAspect="1"/>
          </p:cNvPicPr>
          <p:nvPr/>
        </p:nvPicPr>
        <p:blipFill rotWithShape="1">
          <a:blip r:embed="rId3" cstate="hqprint">
            <a:lum bright="70000" contrast="-70000"/>
            <a:extLst>
              <a:ext uri="{28A0092B-C50C-407E-A947-70E740481C1C}">
                <a14:useLocalDpi xmlns:a14="http://schemas.microsoft.com/office/drawing/2010/main" val="0"/>
              </a:ext>
            </a:extLst>
          </a:blip>
          <a:srcRect l="24839" t="12006" r="24768" b="23977"/>
          <a:stretch/>
        </p:blipFill>
        <p:spPr>
          <a:xfrm>
            <a:off x="2686442" y="3652854"/>
            <a:ext cx="1917233" cy="1893785"/>
          </a:xfrm>
          <a:prstGeom prst="rect">
            <a:avLst/>
          </a:prstGeom>
        </p:spPr>
      </p:pic>
      <p:sp>
        <p:nvSpPr>
          <p:cNvPr id="47" name="TextBox 46">
            <a:extLst>
              <a:ext uri="{FF2B5EF4-FFF2-40B4-BE49-F238E27FC236}">
                <a16:creationId xmlns:a16="http://schemas.microsoft.com/office/drawing/2014/main" id="{DC7BCFDC-2E69-649F-5AAA-28694A0F2BB9}"/>
              </a:ext>
            </a:extLst>
          </p:cNvPr>
          <p:cNvSpPr txBox="1"/>
          <p:nvPr/>
        </p:nvSpPr>
        <p:spPr>
          <a:xfrm>
            <a:off x="3299592" y="5546639"/>
            <a:ext cx="690932"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All Life</a:t>
            </a:r>
          </a:p>
        </p:txBody>
      </p:sp>
      <p:sp>
        <p:nvSpPr>
          <p:cNvPr id="48" name="TextBox 47">
            <a:extLst>
              <a:ext uri="{FF2B5EF4-FFF2-40B4-BE49-F238E27FC236}">
                <a16:creationId xmlns:a16="http://schemas.microsoft.com/office/drawing/2014/main" id="{29C979C6-52AF-F0DA-31D2-7EF93016AEB8}"/>
              </a:ext>
            </a:extLst>
          </p:cNvPr>
          <p:cNvSpPr txBox="1"/>
          <p:nvPr/>
        </p:nvSpPr>
        <p:spPr>
          <a:xfrm>
            <a:off x="8769469" y="5546639"/>
            <a:ext cx="690932"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All Life</a:t>
            </a:r>
          </a:p>
        </p:txBody>
      </p:sp>
    </p:spTree>
    <p:extLst>
      <p:ext uri="{BB962C8B-B14F-4D97-AF65-F5344CB8AC3E}">
        <p14:creationId xmlns:p14="http://schemas.microsoft.com/office/powerpoint/2010/main" val="408124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animBg="1"/>
      <p:bldP spid="44" grpId="0" animBg="1"/>
      <p:bldP spid="47" grpId="0"/>
      <p:bldP spid="4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265051"/>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There is a spectrum of viewpoints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on the relationship between religion and evolution</a:t>
            </a:r>
          </a:p>
        </p:txBody>
      </p:sp>
      <p:sp>
        <p:nvSpPr>
          <p:cNvPr id="20" name="TextBox 19">
            <a:extLst>
              <a:ext uri="{FF2B5EF4-FFF2-40B4-BE49-F238E27FC236}">
                <a16:creationId xmlns:a16="http://schemas.microsoft.com/office/drawing/2014/main" id="{BFDB545F-91D1-694F-D3F6-19F3BD7CAB9B}"/>
              </a:ext>
            </a:extLst>
          </p:cNvPr>
          <p:cNvSpPr txBox="1"/>
          <p:nvPr/>
        </p:nvSpPr>
        <p:spPr>
          <a:xfrm rot="-5400000">
            <a:off x="966297" y="3915600"/>
            <a:ext cx="28262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Young Earth creationism</a:t>
            </a:r>
          </a:p>
        </p:txBody>
      </p:sp>
      <p:sp>
        <p:nvSpPr>
          <p:cNvPr id="21" name="TextBox 20">
            <a:extLst>
              <a:ext uri="{FF2B5EF4-FFF2-40B4-BE49-F238E27FC236}">
                <a16:creationId xmlns:a16="http://schemas.microsoft.com/office/drawing/2014/main" id="{FF6F9768-A25A-333E-758C-449FDAACE6BF}"/>
              </a:ext>
            </a:extLst>
          </p:cNvPr>
          <p:cNvSpPr txBox="1"/>
          <p:nvPr/>
        </p:nvSpPr>
        <p:spPr>
          <a:xfrm rot="-5400000">
            <a:off x="1733156" y="3769764"/>
            <a:ext cx="25092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Old Earth creationism</a:t>
            </a:r>
          </a:p>
        </p:txBody>
      </p:sp>
      <p:sp>
        <p:nvSpPr>
          <p:cNvPr id="22" name="TextBox 21">
            <a:extLst>
              <a:ext uri="{FF2B5EF4-FFF2-40B4-BE49-F238E27FC236}">
                <a16:creationId xmlns:a16="http://schemas.microsoft.com/office/drawing/2014/main" id="{1BA3AF97-4B21-E95C-0056-2D4547775D36}"/>
              </a:ext>
            </a:extLst>
          </p:cNvPr>
          <p:cNvSpPr txBox="1"/>
          <p:nvPr/>
        </p:nvSpPr>
        <p:spPr>
          <a:xfrm rot="-5400000">
            <a:off x="2209620" y="3924756"/>
            <a:ext cx="2772926"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Progressive creationism</a:t>
            </a:r>
          </a:p>
        </p:txBody>
      </p:sp>
      <p:sp>
        <p:nvSpPr>
          <p:cNvPr id="23" name="TextBox 22">
            <a:extLst>
              <a:ext uri="{FF2B5EF4-FFF2-40B4-BE49-F238E27FC236}">
                <a16:creationId xmlns:a16="http://schemas.microsoft.com/office/drawing/2014/main" id="{E4C2EFEB-1A3C-4F46-3A45-BECD72E8A470}"/>
              </a:ext>
            </a:extLst>
          </p:cNvPr>
          <p:cNvSpPr txBox="1"/>
          <p:nvPr/>
        </p:nvSpPr>
        <p:spPr>
          <a:xfrm rot="-5400000">
            <a:off x="2789858" y="3844629"/>
            <a:ext cx="26126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Human exceptionalism</a:t>
            </a:r>
          </a:p>
        </p:txBody>
      </p:sp>
      <p:sp>
        <p:nvSpPr>
          <p:cNvPr id="24" name="TextBox 23">
            <a:extLst>
              <a:ext uri="{FF2B5EF4-FFF2-40B4-BE49-F238E27FC236}">
                <a16:creationId xmlns:a16="http://schemas.microsoft.com/office/drawing/2014/main" id="{A8307BC1-7E5C-8DA2-218E-1BD4FEEA3835}"/>
              </a:ext>
            </a:extLst>
          </p:cNvPr>
          <p:cNvSpPr txBox="1"/>
          <p:nvPr/>
        </p:nvSpPr>
        <p:spPr>
          <a:xfrm rot="-5400000">
            <a:off x="4069825" y="3909670"/>
            <a:ext cx="28728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Interventionist evolution</a:t>
            </a:r>
          </a:p>
        </p:txBody>
      </p:sp>
      <p:sp>
        <p:nvSpPr>
          <p:cNvPr id="25" name="TextBox 24">
            <a:extLst>
              <a:ext uri="{FF2B5EF4-FFF2-40B4-BE49-F238E27FC236}">
                <a16:creationId xmlns:a16="http://schemas.microsoft.com/office/drawing/2014/main" id="{ED05E352-C7D5-EEEE-7ADB-9DBD88CB0520}"/>
              </a:ext>
            </a:extLst>
          </p:cNvPr>
          <p:cNvSpPr txBox="1"/>
          <p:nvPr/>
        </p:nvSpPr>
        <p:spPr>
          <a:xfrm rot="-5400000">
            <a:off x="5003090" y="3550209"/>
            <a:ext cx="207009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Theistic evolution</a:t>
            </a:r>
          </a:p>
        </p:txBody>
      </p:sp>
      <p:sp>
        <p:nvSpPr>
          <p:cNvPr id="26" name="TextBox 25">
            <a:extLst>
              <a:ext uri="{FF2B5EF4-FFF2-40B4-BE49-F238E27FC236}">
                <a16:creationId xmlns:a16="http://schemas.microsoft.com/office/drawing/2014/main" id="{2EC17BE3-D13C-02CA-5A6F-BB7480CAC400}"/>
              </a:ext>
            </a:extLst>
          </p:cNvPr>
          <p:cNvSpPr txBox="1"/>
          <p:nvPr/>
        </p:nvSpPr>
        <p:spPr>
          <a:xfrm rot="-5400000">
            <a:off x="5593878" y="3520973"/>
            <a:ext cx="196536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Deistic evolution</a:t>
            </a:r>
          </a:p>
        </p:txBody>
      </p:sp>
      <p:sp>
        <p:nvSpPr>
          <p:cNvPr id="27" name="TextBox 26">
            <a:extLst>
              <a:ext uri="{FF2B5EF4-FFF2-40B4-BE49-F238E27FC236}">
                <a16:creationId xmlns:a16="http://schemas.microsoft.com/office/drawing/2014/main" id="{A63BD518-1FE0-663C-8306-B763BF7592CE}"/>
              </a:ext>
            </a:extLst>
          </p:cNvPr>
          <p:cNvSpPr txBox="1"/>
          <p:nvPr/>
        </p:nvSpPr>
        <p:spPr>
          <a:xfrm rot="-5400000">
            <a:off x="7612898" y="3560509"/>
            <a:ext cx="21745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Agnostic evolution</a:t>
            </a:r>
          </a:p>
        </p:txBody>
      </p:sp>
      <p:sp>
        <p:nvSpPr>
          <p:cNvPr id="28" name="TextBox 27">
            <a:extLst>
              <a:ext uri="{FF2B5EF4-FFF2-40B4-BE49-F238E27FC236}">
                <a16:creationId xmlns:a16="http://schemas.microsoft.com/office/drawing/2014/main" id="{6F2F2CFA-F19F-2C8B-AE77-D98A15BD5FFF}"/>
              </a:ext>
            </a:extLst>
          </p:cNvPr>
          <p:cNvSpPr txBox="1"/>
          <p:nvPr/>
        </p:nvSpPr>
        <p:spPr>
          <a:xfrm rot="-5400000">
            <a:off x="8213117" y="3560510"/>
            <a:ext cx="2174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Atheistic evolution</a:t>
            </a:r>
          </a:p>
        </p:txBody>
      </p:sp>
      <p:sp>
        <p:nvSpPr>
          <p:cNvPr id="29" name="TextBox 28">
            <a:extLst>
              <a:ext uri="{FF2B5EF4-FFF2-40B4-BE49-F238E27FC236}">
                <a16:creationId xmlns:a16="http://schemas.microsoft.com/office/drawing/2014/main" id="{3C98D2DA-B0FF-7645-A71C-4BCD2D0CF37E}"/>
              </a:ext>
            </a:extLst>
          </p:cNvPr>
          <p:cNvSpPr txBox="1"/>
          <p:nvPr/>
        </p:nvSpPr>
        <p:spPr>
          <a:xfrm>
            <a:off x="2104981" y="2229942"/>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Special creationism</a:t>
            </a:r>
          </a:p>
        </p:txBody>
      </p:sp>
      <p:sp>
        <p:nvSpPr>
          <p:cNvPr id="30" name="TextBox 29">
            <a:extLst>
              <a:ext uri="{FF2B5EF4-FFF2-40B4-BE49-F238E27FC236}">
                <a16:creationId xmlns:a16="http://schemas.microsoft.com/office/drawing/2014/main" id="{57AFAC7B-A9C5-EE14-06AC-C311DC301D6F}"/>
              </a:ext>
            </a:extLst>
          </p:cNvPr>
          <p:cNvSpPr txBox="1"/>
          <p:nvPr/>
        </p:nvSpPr>
        <p:spPr>
          <a:xfrm>
            <a:off x="5006255" y="2213718"/>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 God</a:t>
            </a:r>
          </a:p>
        </p:txBody>
      </p:sp>
      <p:sp>
        <p:nvSpPr>
          <p:cNvPr id="31" name="TextBox 30">
            <a:extLst>
              <a:ext uri="{FF2B5EF4-FFF2-40B4-BE49-F238E27FC236}">
                <a16:creationId xmlns:a16="http://schemas.microsoft.com/office/drawing/2014/main" id="{5D7144FF-3C9D-2CA0-B0B6-8D6C7213AE42}"/>
              </a:ext>
            </a:extLst>
          </p:cNvPr>
          <p:cNvSpPr txBox="1"/>
          <p:nvPr/>
        </p:nvSpPr>
        <p:spPr>
          <a:xfrm>
            <a:off x="7771562" y="2213718"/>
            <a:ext cx="2657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without God</a:t>
            </a:r>
          </a:p>
        </p:txBody>
      </p:sp>
      <p:sp>
        <p:nvSpPr>
          <p:cNvPr id="2" name="Rectangle 1">
            <a:extLst>
              <a:ext uri="{FF2B5EF4-FFF2-40B4-BE49-F238E27FC236}">
                <a16:creationId xmlns:a16="http://schemas.microsoft.com/office/drawing/2014/main" id="{89B53771-5792-2F37-6216-AE7087044F82}"/>
              </a:ext>
            </a:extLst>
          </p:cNvPr>
          <p:cNvSpPr/>
          <p:nvPr/>
        </p:nvSpPr>
        <p:spPr>
          <a:xfrm>
            <a:off x="1893621" y="2238284"/>
            <a:ext cx="2657552" cy="3332444"/>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alatino Linotype"/>
              <a:ea typeface="+mn-ea"/>
              <a:cs typeface="+mn-cs"/>
            </a:endParaRPr>
          </a:p>
        </p:txBody>
      </p:sp>
    </p:spTree>
    <p:extLst>
      <p:ext uri="{BB962C8B-B14F-4D97-AF65-F5344CB8AC3E}">
        <p14:creationId xmlns:p14="http://schemas.microsoft.com/office/powerpoint/2010/main" val="1920754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28737" y="219580"/>
            <a:ext cx="11516810"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Special Creationism</a:t>
            </a:r>
          </a:p>
        </p:txBody>
      </p:sp>
      <p:sp>
        <p:nvSpPr>
          <p:cNvPr id="37" name="TextBox 36">
            <a:extLst>
              <a:ext uri="{FF2B5EF4-FFF2-40B4-BE49-F238E27FC236}">
                <a16:creationId xmlns:a16="http://schemas.microsoft.com/office/drawing/2014/main" id="{661FCBEF-DA90-18BD-751D-0DF0E9330E13}"/>
              </a:ext>
            </a:extLst>
          </p:cNvPr>
          <p:cNvSpPr txBox="1"/>
          <p:nvPr/>
        </p:nvSpPr>
        <p:spPr>
          <a:xfrm>
            <a:off x="8881360" y="1224413"/>
            <a:ext cx="284280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Young and Old Earth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special creationism</a:t>
            </a:r>
          </a:p>
        </p:txBody>
      </p:sp>
      <p:sp>
        <p:nvSpPr>
          <p:cNvPr id="38" name="TextBox 37">
            <a:extLst>
              <a:ext uri="{FF2B5EF4-FFF2-40B4-BE49-F238E27FC236}">
                <a16:creationId xmlns:a16="http://schemas.microsoft.com/office/drawing/2014/main" id="{E1AB7F3A-4ED2-84FC-D7AB-C4A7314166C9}"/>
              </a:ext>
            </a:extLst>
          </p:cNvPr>
          <p:cNvSpPr txBox="1"/>
          <p:nvPr/>
        </p:nvSpPr>
        <p:spPr>
          <a:xfrm>
            <a:off x="479253" y="1284163"/>
            <a:ext cx="294295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Human special creationism</a:t>
            </a:r>
          </a:p>
        </p:txBody>
      </p:sp>
      <p:sp>
        <p:nvSpPr>
          <p:cNvPr id="39" name="TextBox 38">
            <a:extLst>
              <a:ext uri="{FF2B5EF4-FFF2-40B4-BE49-F238E27FC236}">
                <a16:creationId xmlns:a16="http://schemas.microsoft.com/office/drawing/2014/main" id="{9BFF38C7-8E65-2B0E-3004-F1AD91D17EE3}"/>
              </a:ext>
            </a:extLst>
          </p:cNvPr>
          <p:cNvSpPr txBox="1"/>
          <p:nvPr/>
        </p:nvSpPr>
        <p:spPr>
          <a:xfrm>
            <a:off x="1994208" y="6024557"/>
            <a:ext cx="820358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sng" strike="noStrike" kern="1200" cap="none" spc="0" normalizeH="0" baseline="0" noProof="0" dirty="0">
                <a:ln>
                  <a:noFill/>
                </a:ln>
                <a:solidFill>
                  <a:srgbClr val="FFFF00"/>
                </a:solidFill>
                <a:effectLst/>
                <a:uLnTx/>
                <a:uFillTx/>
                <a:latin typeface="Calibri" panose="020F0502020204030204"/>
                <a:ea typeface="+mn-ea"/>
                <a:cs typeface="+mn-cs"/>
              </a:rPr>
              <a:t>All in direct conflict with scientific evidence</a:t>
            </a:r>
          </a:p>
        </p:txBody>
      </p:sp>
      <p:sp>
        <p:nvSpPr>
          <p:cNvPr id="40" name="TextBox 39">
            <a:extLst>
              <a:ext uri="{FF2B5EF4-FFF2-40B4-BE49-F238E27FC236}">
                <a16:creationId xmlns:a16="http://schemas.microsoft.com/office/drawing/2014/main" id="{D095A837-E7D3-6DFA-CE46-C4542846AC79}"/>
              </a:ext>
            </a:extLst>
          </p:cNvPr>
          <p:cNvSpPr txBox="1"/>
          <p:nvPr/>
        </p:nvSpPr>
        <p:spPr>
          <a:xfrm>
            <a:off x="191916" y="2139509"/>
            <a:ext cx="3517629" cy="1631216"/>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Almost all forms of life evolved from earlier forms, but humans were created by God in their present form separate from the rest of life.</a:t>
            </a:r>
            <a:endPar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TextBox 43">
            <a:extLst>
              <a:ext uri="{FF2B5EF4-FFF2-40B4-BE49-F238E27FC236}">
                <a16:creationId xmlns:a16="http://schemas.microsoft.com/office/drawing/2014/main" id="{144DA4E3-98CF-7FB4-3565-50E1BEC12E69}"/>
              </a:ext>
            </a:extLst>
          </p:cNvPr>
          <p:cNvSpPr txBox="1"/>
          <p:nvPr/>
        </p:nvSpPr>
        <p:spPr>
          <a:xfrm>
            <a:off x="8589722" y="2139509"/>
            <a:ext cx="3517629" cy="1015663"/>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All forms of life were first brought into being in their present form by God.</a:t>
            </a:r>
          </a:p>
        </p:txBody>
      </p:sp>
      <p:sp>
        <p:nvSpPr>
          <p:cNvPr id="10" name="TextBox 9">
            <a:extLst>
              <a:ext uri="{FF2B5EF4-FFF2-40B4-BE49-F238E27FC236}">
                <a16:creationId xmlns:a16="http://schemas.microsoft.com/office/drawing/2014/main" id="{B5EA030E-5C5C-91F4-C51B-312F7B60EEE7}"/>
              </a:ext>
            </a:extLst>
          </p:cNvPr>
          <p:cNvSpPr txBox="1"/>
          <p:nvPr/>
        </p:nvSpPr>
        <p:spPr>
          <a:xfrm>
            <a:off x="4898443" y="1240511"/>
            <a:ext cx="2628818"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Special creationism of “kinds”</a:t>
            </a:r>
          </a:p>
        </p:txBody>
      </p:sp>
      <p:sp>
        <p:nvSpPr>
          <p:cNvPr id="12" name="TextBox 11">
            <a:extLst>
              <a:ext uri="{FF2B5EF4-FFF2-40B4-BE49-F238E27FC236}">
                <a16:creationId xmlns:a16="http://schemas.microsoft.com/office/drawing/2014/main" id="{62D86903-D027-0CA4-273C-DA2DA0D2F753}"/>
              </a:ext>
            </a:extLst>
          </p:cNvPr>
          <p:cNvSpPr txBox="1"/>
          <p:nvPr/>
        </p:nvSpPr>
        <p:spPr>
          <a:xfrm>
            <a:off x="4196551" y="2139509"/>
            <a:ext cx="3956124" cy="1631216"/>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God created kinds of organisms such as reptiles, birds, and humans separate from one another, and organisms have evolved slowly from those first kinds.</a:t>
            </a:r>
            <a:endPar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AD903EB8-6CAB-8D90-97E6-9E456F75E916}"/>
              </a:ext>
            </a:extLst>
          </p:cNvPr>
          <p:cNvGrpSpPr/>
          <p:nvPr/>
        </p:nvGrpSpPr>
        <p:grpSpPr>
          <a:xfrm>
            <a:off x="4049775" y="3936793"/>
            <a:ext cx="4268745" cy="1206396"/>
            <a:chOff x="3969169" y="2902281"/>
            <a:chExt cx="4268745" cy="1327036"/>
          </a:xfrm>
        </p:grpSpPr>
        <p:pic>
          <p:nvPicPr>
            <p:cNvPr id="11" name="Graphic 10" descr="Withering Tree with solid fill">
              <a:extLst>
                <a:ext uri="{FF2B5EF4-FFF2-40B4-BE49-F238E27FC236}">
                  <a16:creationId xmlns:a16="http://schemas.microsoft.com/office/drawing/2014/main" id="{3662F351-DEC1-5843-9178-6BD049C55D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25892" y="2902281"/>
              <a:ext cx="871013" cy="1321107"/>
            </a:xfrm>
            <a:prstGeom prst="rect">
              <a:avLst/>
            </a:prstGeom>
          </p:spPr>
        </p:pic>
        <p:pic>
          <p:nvPicPr>
            <p:cNvPr id="28" name="Graphic 27" descr="Withering Tree with solid fill">
              <a:extLst>
                <a:ext uri="{FF2B5EF4-FFF2-40B4-BE49-F238E27FC236}">
                  <a16:creationId xmlns:a16="http://schemas.microsoft.com/office/drawing/2014/main" id="{A5123BE0-6AEC-9344-0E14-830CDD55EF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0056" y="2908209"/>
              <a:ext cx="871013" cy="1321107"/>
            </a:xfrm>
            <a:prstGeom prst="rect">
              <a:avLst/>
            </a:prstGeom>
          </p:spPr>
        </p:pic>
        <p:pic>
          <p:nvPicPr>
            <p:cNvPr id="29" name="Graphic 28" descr="Withering Tree with solid fill">
              <a:extLst>
                <a:ext uri="{FF2B5EF4-FFF2-40B4-BE49-F238E27FC236}">
                  <a16:creationId xmlns:a16="http://schemas.microsoft.com/office/drawing/2014/main" id="{72610C79-209C-A917-48D4-7A4E6605A1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01977" y="2905246"/>
              <a:ext cx="871013" cy="1321107"/>
            </a:xfrm>
            <a:prstGeom prst="rect">
              <a:avLst/>
            </a:prstGeom>
          </p:spPr>
        </p:pic>
        <p:pic>
          <p:nvPicPr>
            <p:cNvPr id="30" name="Graphic 29" descr="Withering Tree with solid fill">
              <a:extLst>
                <a:ext uri="{FF2B5EF4-FFF2-40B4-BE49-F238E27FC236}">
                  <a16:creationId xmlns:a16="http://schemas.microsoft.com/office/drawing/2014/main" id="{548AA069-5CAB-EF45-77D0-C6C7DD35FA0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69169" y="2908210"/>
              <a:ext cx="871013" cy="1321107"/>
            </a:xfrm>
            <a:prstGeom prst="rect">
              <a:avLst/>
            </a:prstGeom>
          </p:spPr>
        </p:pic>
        <p:pic>
          <p:nvPicPr>
            <p:cNvPr id="32" name="Graphic 31" descr="Withering Tree with solid fill">
              <a:extLst>
                <a:ext uri="{FF2B5EF4-FFF2-40B4-BE49-F238E27FC236}">
                  <a16:creationId xmlns:a16="http://schemas.microsoft.com/office/drawing/2014/main" id="{6888EAD0-7A65-E4CD-E00F-731A113D96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83911" y="2902283"/>
              <a:ext cx="871013" cy="1321107"/>
            </a:xfrm>
            <a:prstGeom prst="rect">
              <a:avLst/>
            </a:prstGeom>
          </p:spPr>
        </p:pic>
        <p:pic>
          <p:nvPicPr>
            <p:cNvPr id="33" name="Graphic 32" descr="Withering Tree with solid fill">
              <a:extLst>
                <a:ext uri="{FF2B5EF4-FFF2-40B4-BE49-F238E27FC236}">
                  <a16:creationId xmlns:a16="http://schemas.microsoft.com/office/drawing/2014/main" id="{2D8A5C5E-52A5-A454-B92F-15B9D7FC55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6901" y="2902282"/>
              <a:ext cx="871013" cy="1321107"/>
            </a:xfrm>
            <a:prstGeom prst="rect">
              <a:avLst/>
            </a:prstGeom>
          </p:spPr>
        </p:pic>
      </p:grpSp>
      <p:pic>
        <p:nvPicPr>
          <p:cNvPr id="43" name="Picture 42">
            <a:extLst>
              <a:ext uri="{FF2B5EF4-FFF2-40B4-BE49-F238E27FC236}">
                <a16:creationId xmlns:a16="http://schemas.microsoft.com/office/drawing/2014/main" id="{0E61FE6F-1F18-57FF-DAD4-66CE49A9BC88}"/>
              </a:ext>
            </a:extLst>
          </p:cNvPr>
          <p:cNvPicPr>
            <a:picLocks noChangeAspect="1"/>
          </p:cNvPicPr>
          <p:nvPr/>
        </p:nvPicPr>
        <p:blipFill rotWithShape="1">
          <a:blip r:embed="rId4" cstate="hqprint">
            <a:lum bright="70000" contrast="-70000"/>
            <a:extLst>
              <a:ext uri="{28A0092B-C50C-407E-A947-70E740481C1C}">
                <a14:useLocalDpi xmlns:a14="http://schemas.microsoft.com/office/drawing/2010/main" val="0"/>
              </a:ext>
            </a:extLst>
          </a:blip>
          <a:srcRect l="24839" t="12006" r="24768" b="23977"/>
          <a:stretch/>
        </p:blipFill>
        <p:spPr>
          <a:xfrm>
            <a:off x="691167" y="4038077"/>
            <a:ext cx="1525374" cy="1506718"/>
          </a:xfrm>
          <a:prstGeom prst="rect">
            <a:avLst/>
          </a:prstGeom>
        </p:spPr>
      </p:pic>
      <p:pic>
        <p:nvPicPr>
          <p:cNvPr id="45" name="Picture 44">
            <a:extLst>
              <a:ext uri="{FF2B5EF4-FFF2-40B4-BE49-F238E27FC236}">
                <a16:creationId xmlns:a16="http://schemas.microsoft.com/office/drawing/2014/main" id="{EA6712AE-CF94-2E32-868C-DBD67CAB5B54}"/>
              </a:ext>
            </a:extLst>
          </p:cNvPr>
          <p:cNvPicPr>
            <a:picLocks noChangeAspect="1"/>
          </p:cNvPicPr>
          <p:nvPr/>
        </p:nvPicPr>
        <p:blipFill rotWithShape="1">
          <a:blip r:embed="rId5" cstate="hqprint">
            <a:lum bright="70000" contrast="-70000"/>
            <a:extLst>
              <a:ext uri="{28A0092B-C50C-407E-A947-70E740481C1C}">
                <a14:useLocalDpi xmlns:a14="http://schemas.microsoft.com/office/drawing/2010/main" val="0"/>
              </a:ext>
            </a:extLst>
          </a:blip>
          <a:srcRect/>
          <a:stretch/>
        </p:blipFill>
        <p:spPr>
          <a:xfrm>
            <a:off x="2651802" y="4084980"/>
            <a:ext cx="160021" cy="1620775"/>
          </a:xfrm>
          <a:prstGeom prst="rect">
            <a:avLst/>
          </a:prstGeom>
        </p:spPr>
      </p:pic>
      <p:sp>
        <p:nvSpPr>
          <p:cNvPr id="46" name="TextBox 45">
            <a:extLst>
              <a:ext uri="{FF2B5EF4-FFF2-40B4-BE49-F238E27FC236}">
                <a16:creationId xmlns:a16="http://schemas.microsoft.com/office/drawing/2014/main" id="{2608A8A8-1D64-41DC-2CA5-877E7EF6F6BE}"/>
              </a:ext>
            </a:extLst>
          </p:cNvPr>
          <p:cNvSpPr txBox="1"/>
          <p:nvPr/>
        </p:nvSpPr>
        <p:spPr>
          <a:xfrm>
            <a:off x="2216541" y="5573837"/>
            <a:ext cx="1063866" cy="338554"/>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Humans</a:t>
            </a:r>
          </a:p>
        </p:txBody>
      </p:sp>
      <p:sp>
        <p:nvSpPr>
          <p:cNvPr id="47" name="TextBox 46">
            <a:extLst>
              <a:ext uri="{FF2B5EF4-FFF2-40B4-BE49-F238E27FC236}">
                <a16:creationId xmlns:a16="http://schemas.microsoft.com/office/drawing/2014/main" id="{D65288A3-DA40-2615-BD77-A485C72C5CEF}"/>
              </a:ext>
            </a:extLst>
          </p:cNvPr>
          <p:cNvSpPr txBox="1"/>
          <p:nvPr/>
        </p:nvSpPr>
        <p:spPr>
          <a:xfrm>
            <a:off x="571713" y="5567213"/>
            <a:ext cx="1622708" cy="338554"/>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Non-humans</a:t>
            </a:r>
          </a:p>
        </p:txBody>
      </p:sp>
      <p:sp>
        <p:nvSpPr>
          <p:cNvPr id="48" name="TextBox 47">
            <a:extLst>
              <a:ext uri="{FF2B5EF4-FFF2-40B4-BE49-F238E27FC236}">
                <a16:creationId xmlns:a16="http://schemas.microsoft.com/office/drawing/2014/main" id="{9D725E73-9391-1AA6-170F-B10977C66FC6}"/>
              </a:ext>
            </a:extLst>
          </p:cNvPr>
          <p:cNvSpPr txBox="1"/>
          <p:nvPr/>
        </p:nvSpPr>
        <p:spPr>
          <a:xfrm>
            <a:off x="4109793" y="5025160"/>
            <a:ext cx="690932"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Birds</a:t>
            </a:r>
          </a:p>
        </p:txBody>
      </p:sp>
      <p:sp>
        <p:nvSpPr>
          <p:cNvPr id="49" name="TextBox 48">
            <a:extLst>
              <a:ext uri="{FF2B5EF4-FFF2-40B4-BE49-F238E27FC236}">
                <a16:creationId xmlns:a16="http://schemas.microsoft.com/office/drawing/2014/main" id="{16081866-7F10-1E58-5EFB-9085F2108C24}"/>
              </a:ext>
            </a:extLst>
          </p:cNvPr>
          <p:cNvSpPr txBox="1"/>
          <p:nvPr/>
        </p:nvSpPr>
        <p:spPr>
          <a:xfrm>
            <a:off x="4752823" y="5023527"/>
            <a:ext cx="826969"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Reptiles</a:t>
            </a:r>
          </a:p>
        </p:txBody>
      </p:sp>
      <p:sp>
        <p:nvSpPr>
          <p:cNvPr id="50" name="TextBox 49">
            <a:extLst>
              <a:ext uri="{FF2B5EF4-FFF2-40B4-BE49-F238E27FC236}">
                <a16:creationId xmlns:a16="http://schemas.microsoft.com/office/drawing/2014/main" id="{05EB8B64-4DD1-009E-A376-E8A27A520430}"/>
              </a:ext>
            </a:extLst>
          </p:cNvPr>
          <p:cNvSpPr txBox="1"/>
          <p:nvPr/>
        </p:nvSpPr>
        <p:spPr>
          <a:xfrm>
            <a:off x="7458634" y="5035552"/>
            <a:ext cx="921544" cy="31880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Mammals</a:t>
            </a:r>
          </a:p>
        </p:txBody>
      </p:sp>
      <p:sp>
        <p:nvSpPr>
          <p:cNvPr id="51" name="TextBox 50">
            <a:extLst>
              <a:ext uri="{FF2B5EF4-FFF2-40B4-BE49-F238E27FC236}">
                <a16:creationId xmlns:a16="http://schemas.microsoft.com/office/drawing/2014/main" id="{ADE06137-BBDF-22F8-D55A-A966BE0CD021}"/>
              </a:ext>
            </a:extLst>
          </p:cNvPr>
          <p:cNvSpPr txBox="1"/>
          <p:nvPr/>
        </p:nvSpPr>
        <p:spPr>
          <a:xfrm>
            <a:off x="5413097" y="5019891"/>
            <a:ext cx="826969"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Fish</a:t>
            </a:r>
          </a:p>
        </p:txBody>
      </p:sp>
      <p:sp>
        <p:nvSpPr>
          <p:cNvPr id="52" name="TextBox 51">
            <a:extLst>
              <a:ext uri="{FF2B5EF4-FFF2-40B4-BE49-F238E27FC236}">
                <a16:creationId xmlns:a16="http://schemas.microsoft.com/office/drawing/2014/main" id="{E1151469-D334-A2A5-C393-7F9A4EA16062}"/>
              </a:ext>
            </a:extLst>
          </p:cNvPr>
          <p:cNvSpPr txBox="1"/>
          <p:nvPr/>
        </p:nvSpPr>
        <p:spPr>
          <a:xfrm>
            <a:off x="6075217" y="5023527"/>
            <a:ext cx="826969"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Bacteria</a:t>
            </a:r>
          </a:p>
        </p:txBody>
      </p:sp>
      <p:sp>
        <p:nvSpPr>
          <p:cNvPr id="53" name="TextBox 52">
            <a:extLst>
              <a:ext uri="{FF2B5EF4-FFF2-40B4-BE49-F238E27FC236}">
                <a16:creationId xmlns:a16="http://schemas.microsoft.com/office/drawing/2014/main" id="{8BE4D36E-5700-EC7D-B828-AF796682E5CE}"/>
              </a:ext>
            </a:extLst>
          </p:cNvPr>
          <p:cNvSpPr txBox="1"/>
          <p:nvPr/>
        </p:nvSpPr>
        <p:spPr>
          <a:xfrm>
            <a:off x="6857623" y="5038735"/>
            <a:ext cx="678918"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Plants</a:t>
            </a:r>
          </a:p>
        </p:txBody>
      </p:sp>
      <p:grpSp>
        <p:nvGrpSpPr>
          <p:cNvPr id="5" name="Group 4">
            <a:extLst>
              <a:ext uri="{FF2B5EF4-FFF2-40B4-BE49-F238E27FC236}">
                <a16:creationId xmlns:a16="http://schemas.microsoft.com/office/drawing/2014/main" id="{B82CD33C-28E2-BDE5-751A-25729F722D3A}"/>
              </a:ext>
            </a:extLst>
          </p:cNvPr>
          <p:cNvGrpSpPr/>
          <p:nvPr/>
        </p:nvGrpSpPr>
        <p:grpSpPr>
          <a:xfrm>
            <a:off x="8591702" y="3289534"/>
            <a:ext cx="3533443" cy="1474758"/>
            <a:chOff x="8591702" y="3289534"/>
            <a:chExt cx="3533443" cy="1474758"/>
          </a:xfrm>
        </p:grpSpPr>
        <p:pic>
          <p:nvPicPr>
            <p:cNvPr id="13" name="Picture 12">
              <a:extLst>
                <a:ext uri="{FF2B5EF4-FFF2-40B4-BE49-F238E27FC236}">
                  <a16:creationId xmlns:a16="http://schemas.microsoft.com/office/drawing/2014/main" id="{85745481-EDE6-D1CB-833C-2D760BABA6A1}"/>
                </a:ext>
              </a:extLst>
            </p:cNvPr>
            <p:cNvPicPr>
              <a:picLocks noChangeAspect="1"/>
            </p:cNvPicPr>
            <p:nvPr/>
          </p:nvPicPr>
          <p:blipFill rotWithShape="1">
            <a:blip r:embed="rId5" cstate="hqprint">
              <a:lum bright="70000" contrast="-70000"/>
              <a:extLst>
                <a:ext uri="{28A0092B-C50C-407E-A947-70E740481C1C}">
                  <a14:useLocalDpi xmlns:a14="http://schemas.microsoft.com/office/drawing/2010/main" val="0"/>
                </a:ext>
              </a:extLst>
            </a:blip>
            <a:srcRect/>
            <a:stretch/>
          </p:blipFill>
          <p:spPr>
            <a:xfrm>
              <a:off x="9636419" y="3289535"/>
              <a:ext cx="170452" cy="1422601"/>
            </a:xfrm>
            <a:prstGeom prst="rect">
              <a:avLst/>
            </a:prstGeom>
          </p:spPr>
        </p:pic>
        <p:pic>
          <p:nvPicPr>
            <p:cNvPr id="20" name="Picture 19">
              <a:extLst>
                <a:ext uri="{FF2B5EF4-FFF2-40B4-BE49-F238E27FC236}">
                  <a16:creationId xmlns:a16="http://schemas.microsoft.com/office/drawing/2014/main" id="{CD659673-9402-6237-BB70-27163A0FDE29}"/>
                </a:ext>
              </a:extLst>
            </p:cNvPr>
            <p:cNvPicPr>
              <a:picLocks noChangeAspect="1"/>
            </p:cNvPicPr>
            <p:nvPr/>
          </p:nvPicPr>
          <p:blipFill rotWithShape="1">
            <a:blip r:embed="rId5" cstate="hqprint">
              <a:lum bright="70000" contrast="-70000"/>
              <a:extLst>
                <a:ext uri="{28A0092B-C50C-407E-A947-70E740481C1C}">
                  <a14:useLocalDpi xmlns:a14="http://schemas.microsoft.com/office/drawing/2010/main" val="0"/>
                </a:ext>
              </a:extLst>
            </a:blip>
            <a:srcRect/>
            <a:stretch/>
          </p:blipFill>
          <p:spPr>
            <a:xfrm>
              <a:off x="10104586" y="3297776"/>
              <a:ext cx="170452" cy="1422601"/>
            </a:xfrm>
            <a:prstGeom prst="rect">
              <a:avLst/>
            </a:prstGeom>
          </p:spPr>
        </p:pic>
        <p:pic>
          <p:nvPicPr>
            <p:cNvPr id="21" name="Picture 20">
              <a:extLst>
                <a:ext uri="{FF2B5EF4-FFF2-40B4-BE49-F238E27FC236}">
                  <a16:creationId xmlns:a16="http://schemas.microsoft.com/office/drawing/2014/main" id="{8A49CE6E-3872-284E-4A2D-AB8D1217CC6E}"/>
                </a:ext>
              </a:extLst>
            </p:cNvPr>
            <p:cNvPicPr>
              <a:picLocks noChangeAspect="1"/>
            </p:cNvPicPr>
            <p:nvPr/>
          </p:nvPicPr>
          <p:blipFill rotWithShape="1">
            <a:blip r:embed="rId5" cstate="hqprint">
              <a:lum bright="70000" contrast="-70000"/>
              <a:extLst>
                <a:ext uri="{28A0092B-C50C-407E-A947-70E740481C1C}">
                  <a14:useLocalDpi xmlns:a14="http://schemas.microsoft.com/office/drawing/2010/main" val="0"/>
                </a:ext>
              </a:extLst>
            </a:blip>
            <a:srcRect/>
            <a:stretch/>
          </p:blipFill>
          <p:spPr>
            <a:xfrm>
              <a:off x="10553843" y="3291070"/>
              <a:ext cx="170452" cy="1422601"/>
            </a:xfrm>
            <a:prstGeom prst="rect">
              <a:avLst/>
            </a:prstGeom>
          </p:spPr>
        </p:pic>
        <p:pic>
          <p:nvPicPr>
            <p:cNvPr id="22" name="Picture 21">
              <a:extLst>
                <a:ext uri="{FF2B5EF4-FFF2-40B4-BE49-F238E27FC236}">
                  <a16:creationId xmlns:a16="http://schemas.microsoft.com/office/drawing/2014/main" id="{8300107E-D696-CD22-96DA-C0478A8D4278}"/>
                </a:ext>
              </a:extLst>
            </p:cNvPr>
            <p:cNvPicPr>
              <a:picLocks noChangeAspect="1"/>
            </p:cNvPicPr>
            <p:nvPr/>
          </p:nvPicPr>
          <p:blipFill rotWithShape="1">
            <a:blip r:embed="rId5" cstate="hqprint">
              <a:lum bright="70000" contrast="-70000"/>
              <a:extLst>
                <a:ext uri="{28A0092B-C50C-407E-A947-70E740481C1C}">
                  <a14:useLocalDpi xmlns:a14="http://schemas.microsoft.com/office/drawing/2010/main" val="0"/>
                </a:ext>
              </a:extLst>
            </a:blip>
            <a:srcRect/>
            <a:stretch/>
          </p:blipFill>
          <p:spPr>
            <a:xfrm>
              <a:off x="11014898" y="3289535"/>
              <a:ext cx="170452" cy="1422601"/>
            </a:xfrm>
            <a:prstGeom prst="rect">
              <a:avLst/>
            </a:prstGeom>
          </p:spPr>
        </p:pic>
        <p:pic>
          <p:nvPicPr>
            <p:cNvPr id="23" name="Picture 22">
              <a:extLst>
                <a:ext uri="{FF2B5EF4-FFF2-40B4-BE49-F238E27FC236}">
                  <a16:creationId xmlns:a16="http://schemas.microsoft.com/office/drawing/2014/main" id="{BEEA571F-84F1-5739-CFE0-FE4E0B18F8F0}"/>
                </a:ext>
              </a:extLst>
            </p:cNvPr>
            <p:cNvPicPr>
              <a:picLocks noChangeAspect="1"/>
            </p:cNvPicPr>
            <p:nvPr/>
          </p:nvPicPr>
          <p:blipFill rotWithShape="1">
            <a:blip r:embed="rId5" cstate="hqprint">
              <a:lum bright="70000" contrast="-70000"/>
              <a:extLst>
                <a:ext uri="{28A0092B-C50C-407E-A947-70E740481C1C}">
                  <a14:useLocalDpi xmlns:a14="http://schemas.microsoft.com/office/drawing/2010/main" val="0"/>
                </a:ext>
              </a:extLst>
            </a:blip>
            <a:srcRect/>
            <a:stretch/>
          </p:blipFill>
          <p:spPr>
            <a:xfrm>
              <a:off x="11410216" y="3289534"/>
              <a:ext cx="170452" cy="1422601"/>
            </a:xfrm>
            <a:prstGeom prst="rect">
              <a:avLst/>
            </a:prstGeom>
          </p:spPr>
        </p:pic>
        <p:pic>
          <p:nvPicPr>
            <p:cNvPr id="35" name="Picture 34">
              <a:extLst>
                <a:ext uri="{FF2B5EF4-FFF2-40B4-BE49-F238E27FC236}">
                  <a16:creationId xmlns:a16="http://schemas.microsoft.com/office/drawing/2014/main" id="{C4E24B56-2DAE-1DD6-2709-50D1F58A186B}"/>
                </a:ext>
              </a:extLst>
            </p:cNvPr>
            <p:cNvPicPr>
              <a:picLocks noChangeAspect="1"/>
            </p:cNvPicPr>
            <p:nvPr/>
          </p:nvPicPr>
          <p:blipFill rotWithShape="1">
            <a:blip r:embed="rId5" cstate="hqprint">
              <a:lum bright="70000" contrast="-70000"/>
              <a:extLst>
                <a:ext uri="{28A0092B-C50C-407E-A947-70E740481C1C}">
                  <a14:useLocalDpi xmlns:a14="http://schemas.microsoft.com/office/drawing/2010/main" val="0"/>
                </a:ext>
              </a:extLst>
            </a:blip>
            <a:srcRect/>
            <a:stretch/>
          </p:blipFill>
          <p:spPr>
            <a:xfrm>
              <a:off x="9205777" y="3316802"/>
              <a:ext cx="170452" cy="1422593"/>
            </a:xfrm>
            <a:prstGeom prst="rect">
              <a:avLst/>
            </a:prstGeom>
          </p:spPr>
        </p:pic>
        <p:pic>
          <p:nvPicPr>
            <p:cNvPr id="36" name="Picture 35">
              <a:extLst>
                <a:ext uri="{FF2B5EF4-FFF2-40B4-BE49-F238E27FC236}">
                  <a16:creationId xmlns:a16="http://schemas.microsoft.com/office/drawing/2014/main" id="{CCEE6236-28CD-F6EF-2884-A85EBA1B8195}"/>
                </a:ext>
              </a:extLst>
            </p:cNvPr>
            <p:cNvPicPr>
              <a:picLocks noChangeAspect="1"/>
            </p:cNvPicPr>
            <p:nvPr/>
          </p:nvPicPr>
          <p:blipFill rotWithShape="1">
            <a:blip r:embed="rId5" cstate="hqprint">
              <a:lum bright="70000" contrast="-70000"/>
              <a:extLst>
                <a:ext uri="{28A0092B-C50C-407E-A947-70E740481C1C}">
                  <a14:useLocalDpi xmlns:a14="http://schemas.microsoft.com/office/drawing/2010/main" val="0"/>
                </a:ext>
              </a:extLst>
            </a:blip>
            <a:srcRect/>
            <a:stretch/>
          </p:blipFill>
          <p:spPr>
            <a:xfrm>
              <a:off x="8776822" y="3319157"/>
              <a:ext cx="170452" cy="1422593"/>
            </a:xfrm>
            <a:prstGeom prst="rect">
              <a:avLst/>
            </a:prstGeom>
          </p:spPr>
        </p:pic>
        <p:sp>
          <p:nvSpPr>
            <p:cNvPr id="41" name="TextBox 40">
              <a:extLst>
                <a:ext uri="{FF2B5EF4-FFF2-40B4-BE49-F238E27FC236}">
                  <a16:creationId xmlns:a16="http://schemas.microsoft.com/office/drawing/2014/main" id="{DABD1A30-5F79-640F-F0DA-6C0A107B15E0}"/>
                </a:ext>
              </a:extLst>
            </p:cNvPr>
            <p:cNvSpPr txBox="1"/>
            <p:nvPr/>
          </p:nvSpPr>
          <p:spPr>
            <a:xfrm>
              <a:off x="8591702" y="4518071"/>
              <a:ext cx="519264" cy="24622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Tigers</a:t>
              </a:r>
            </a:p>
          </p:txBody>
        </p:sp>
        <p:sp>
          <p:nvSpPr>
            <p:cNvPr id="42" name="TextBox 41">
              <a:extLst>
                <a:ext uri="{FF2B5EF4-FFF2-40B4-BE49-F238E27FC236}">
                  <a16:creationId xmlns:a16="http://schemas.microsoft.com/office/drawing/2014/main" id="{01121E4A-3446-2F2D-164A-95D5AFCC7DB8}"/>
                </a:ext>
              </a:extLst>
            </p:cNvPr>
            <p:cNvSpPr txBox="1"/>
            <p:nvPr/>
          </p:nvSpPr>
          <p:spPr>
            <a:xfrm>
              <a:off x="9015872" y="4515840"/>
              <a:ext cx="519264" cy="24622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Lions</a:t>
              </a:r>
            </a:p>
          </p:txBody>
        </p:sp>
        <p:sp>
          <p:nvSpPr>
            <p:cNvPr id="54" name="TextBox 53">
              <a:extLst>
                <a:ext uri="{FF2B5EF4-FFF2-40B4-BE49-F238E27FC236}">
                  <a16:creationId xmlns:a16="http://schemas.microsoft.com/office/drawing/2014/main" id="{DCE8DA90-85F5-949A-0A1D-35F60700970C}"/>
                </a:ext>
              </a:extLst>
            </p:cNvPr>
            <p:cNvSpPr txBox="1"/>
            <p:nvPr/>
          </p:nvSpPr>
          <p:spPr>
            <a:xfrm>
              <a:off x="9430352" y="4515840"/>
              <a:ext cx="607314" cy="24622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Bobcats</a:t>
              </a:r>
            </a:p>
          </p:txBody>
        </p:sp>
        <p:sp>
          <p:nvSpPr>
            <p:cNvPr id="55" name="TextBox 54">
              <a:extLst>
                <a:ext uri="{FF2B5EF4-FFF2-40B4-BE49-F238E27FC236}">
                  <a16:creationId xmlns:a16="http://schemas.microsoft.com/office/drawing/2014/main" id="{A1A11B7D-8E4D-AAFC-F2AC-5B048B99B6F4}"/>
                </a:ext>
              </a:extLst>
            </p:cNvPr>
            <p:cNvSpPr txBox="1"/>
            <p:nvPr/>
          </p:nvSpPr>
          <p:spPr>
            <a:xfrm>
              <a:off x="9912243" y="4515840"/>
              <a:ext cx="607314" cy="24622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Ocelots</a:t>
              </a:r>
            </a:p>
          </p:txBody>
        </p:sp>
        <p:sp>
          <p:nvSpPr>
            <p:cNvPr id="56" name="TextBox 55">
              <a:extLst>
                <a:ext uri="{FF2B5EF4-FFF2-40B4-BE49-F238E27FC236}">
                  <a16:creationId xmlns:a16="http://schemas.microsoft.com/office/drawing/2014/main" id="{6B499082-4A38-D201-6368-720738AD2F37}"/>
                </a:ext>
              </a:extLst>
            </p:cNvPr>
            <p:cNvSpPr txBox="1"/>
            <p:nvPr/>
          </p:nvSpPr>
          <p:spPr>
            <a:xfrm>
              <a:off x="10373298" y="4515838"/>
              <a:ext cx="607314" cy="24622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Pigeons</a:t>
              </a:r>
            </a:p>
          </p:txBody>
        </p:sp>
        <p:sp>
          <p:nvSpPr>
            <p:cNvPr id="58" name="TextBox 57">
              <a:extLst>
                <a:ext uri="{FF2B5EF4-FFF2-40B4-BE49-F238E27FC236}">
                  <a16:creationId xmlns:a16="http://schemas.microsoft.com/office/drawing/2014/main" id="{27EF23E0-134D-BF4A-616B-3D679E7DCEB3}"/>
                </a:ext>
              </a:extLst>
            </p:cNvPr>
            <p:cNvSpPr txBox="1"/>
            <p:nvPr/>
          </p:nvSpPr>
          <p:spPr>
            <a:xfrm>
              <a:off x="10791564" y="4515836"/>
              <a:ext cx="607314" cy="24622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Hawks</a:t>
              </a:r>
            </a:p>
          </p:txBody>
        </p:sp>
        <p:sp>
          <p:nvSpPr>
            <p:cNvPr id="59" name="TextBox 58">
              <a:extLst>
                <a:ext uri="{FF2B5EF4-FFF2-40B4-BE49-F238E27FC236}">
                  <a16:creationId xmlns:a16="http://schemas.microsoft.com/office/drawing/2014/main" id="{305A031B-5E66-CE33-ECFC-57297566ADCF}"/>
                </a:ext>
              </a:extLst>
            </p:cNvPr>
            <p:cNvSpPr txBox="1"/>
            <p:nvPr/>
          </p:nvSpPr>
          <p:spPr>
            <a:xfrm>
              <a:off x="11179408" y="4515836"/>
              <a:ext cx="607314" cy="24622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Eagles</a:t>
              </a:r>
            </a:p>
          </p:txBody>
        </p:sp>
        <p:pic>
          <p:nvPicPr>
            <p:cNvPr id="60" name="Picture 59">
              <a:extLst>
                <a:ext uri="{FF2B5EF4-FFF2-40B4-BE49-F238E27FC236}">
                  <a16:creationId xmlns:a16="http://schemas.microsoft.com/office/drawing/2014/main" id="{9DCFF30A-61E9-C616-64EC-1B197F0698BA}"/>
                </a:ext>
              </a:extLst>
            </p:cNvPr>
            <p:cNvPicPr>
              <a:picLocks noChangeAspect="1"/>
            </p:cNvPicPr>
            <p:nvPr/>
          </p:nvPicPr>
          <p:blipFill rotWithShape="1">
            <a:blip r:embed="rId5" cstate="hqprint">
              <a:lum bright="70000" contrast="-70000"/>
              <a:extLst>
                <a:ext uri="{28A0092B-C50C-407E-A947-70E740481C1C}">
                  <a14:useLocalDpi xmlns:a14="http://schemas.microsoft.com/office/drawing/2010/main" val="0"/>
                </a:ext>
              </a:extLst>
            </a:blip>
            <a:srcRect/>
            <a:stretch/>
          </p:blipFill>
          <p:spPr>
            <a:xfrm>
              <a:off x="11769294" y="3297776"/>
              <a:ext cx="170452" cy="1422601"/>
            </a:xfrm>
            <a:prstGeom prst="rect">
              <a:avLst/>
            </a:prstGeom>
          </p:spPr>
        </p:pic>
        <p:sp>
          <p:nvSpPr>
            <p:cNvPr id="61" name="TextBox 60">
              <a:extLst>
                <a:ext uri="{FF2B5EF4-FFF2-40B4-BE49-F238E27FC236}">
                  <a16:creationId xmlns:a16="http://schemas.microsoft.com/office/drawing/2014/main" id="{4B9D5A20-D154-084C-52EC-0CF1B25481BB}"/>
                </a:ext>
              </a:extLst>
            </p:cNvPr>
            <p:cNvSpPr txBox="1"/>
            <p:nvPr/>
          </p:nvSpPr>
          <p:spPr>
            <a:xfrm>
              <a:off x="11517831" y="4515835"/>
              <a:ext cx="607314" cy="24622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Mice</a:t>
              </a:r>
            </a:p>
          </p:txBody>
        </p:sp>
      </p:grpSp>
    </p:spTree>
    <p:extLst>
      <p:ext uri="{BB962C8B-B14F-4D97-AF65-F5344CB8AC3E}">
        <p14:creationId xmlns:p14="http://schemas.microsoft.com/office/powerpoint/2010/main" val="328465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P spid="44" grpId="0" animBg="1"/>
      <p:bldP spid="10" grpId="0"/>
      <p:bldP spid="12" grpId="0" animBg="1"/>
      <p:bldP spid="46" grpId="0"/>
      <p:bldP spid="47" grpId="0"/>
      <p:bldP spid="48" grpId="0"/>
      <p:bldP spid="49" grpId="0"/>
      <p:bldP spid="50" grpId="0"/>
      <p:bldP spid="51" grpId="0"/>
      <p:bldP spid="52" grpId="0"/>
      <p:bldP spid="5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265051"/>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There is a spectrum of viewpoints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on the relationship between religion and evolution</a:t>
            </a:r>
          </a:p>
        </p:txBody>
      </p:sp>
      <p:sp>
        <p:nvSpPr>
          <p:cNvPr id="20" name="TextBox 19">
            <a:extLst>
              <a:ext uri="{FF2B5EF4-FFF2-40B4-BE49-F238E27FC236}">
                <a16:creationId xmlns:a16="http://schemas.microsoft.com/office/drawing/2014/main" id="{BFDB545F-91D1-694F-D3F6-19F3BD7CAB9B}"/>
              </a:ext>
            </a:extLst>
          </p:cNvPr>
          <p:cNvSpPr txBox="1"/>
          <p:nvPr/>
        </p:nvSpPr>
        <p:spPr>
          <a:xfrm rot="-5400000">
            <a:off x="966297" y="3915600"/>
            <a:ext cx="28262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Young Earth creationism</a:t>
            </a:r>
          </a:p>
        </p:txBody>
      </p:sp>
      <p:sp>
        <p:nvSpPr>
          <p:cNvPr id="21" name="TextBox 20">
            <a:extLst>
              <a:ext uri="{FF2B5EF4-FFF2-40B4-BE49-F238E27FC236}">
                <a16:creationId xmlns:a16="http://schemas.microsoft.com/office/drawing/2014/main" id="{FF6F9768-A25A-333E-758C-449FDAACE6BF}"/>
              </a:ext>
            </a:extLst>
          </p:cNvPr>
          <p:cNvSpPr txBox="1"/>
          <p:nvPr/>
        </p:nvSpPr>
        <p:spPr>
          <a:xfrm rot="-5400000">
            <a:off x="1733156" y="3769764"/>
            <a:ext cx="25092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Old Earth creationism</a:t>
            </a:r>
          </a:p>
        </p:txBody>
      </p:sp>
      <p:sp>
        <p:nvSpPr>
          <p:cNvPr id="22" name="TextBox 21">
            <a:extLst>
              <a:ext uri="{FF2B5EF4-FFF2-40B4-BE49-F238E27FC236}">
                <a16:creationId xmlns:a16="http://schemas.microsoft.com/office/drawing/2014/main" id="{1BA3AF97-4B21-E95C-0056-2D4547775D36}"/>
              </a:ext>
            </a:extLst>
          </p:cNvPr>
          <p:cNvSpPr txBox="1"/>
          <p:nvPr/>
        </p:nvSpPr>
        <p:spPr>
          <a:xfrm rot="-5400000">
            <a:off x="2209620" y="3924756"/>
            <a:ext cx="2772926"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Progressive creationism</a:t>
            </a:r>
          </a:p>
        </p:txBody>
      </p:sp>
      <p:sp>
        <p:nvSpPr>
          <p:cNvPr id="23" name="TextBox 22">
            <a:extLst>
              <a:ext uri="{FF2B5EF4-FFF2-40B4-BE49-F238E27FC236}">
                <a16:creationId xmlns:a16="http://schemas.microsoft.com/office/drawing/2014/main" id="{E4C2EFEB-1A3C-4F46-3A45-BECD72E8A470}"/>
              </a:ext>
            </a:extLst>
          </p:cNvPr>
          <p:cNvSpPr txBox="1"/>
          <p:nvPr/>
        </p:nvSpPr>
        <p:spPr>
          <a:xfrm rot="-5400000">
            <a:off x="2789858" y="3844629"/>
            <a:ext cx="26126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Human exceptionalism</a:t>
            </a:r>
          </a:p>
        </p:txBody>
      </p:sp>
      <p:sp>
        <p:nvSpPr>
          <p:cNvPr id="24" name="TextBox 23">
            <a:extLst>
              <a:ext uri="{FF2B5EF4-FFF2-40B4-BE49-F238E27FC236}">
                <a16:creationId xmlns:a16="http://schemas.microsoft.com/office/drawing/2014/main" id="{A8307BC1-7E5C-8DA2-218E-1BD4FEEA3835}"/>
              </a:ext>
            </a:extLst>
          </p:cNvPr>
          <p:cNvSpPr txBox="1"/>
          <p:nvPr/>
        </p:nvSpPr>
        <p:spPr>
          <a:xfrm rot="-5400000">
            <a:off x="4069825" y="3909670"/>
            <a:ext cx="28728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Interventionist evolution</a:t>
            </a:r>
          </a:p>
        </p:txBody>
      </p:sp>
      <p:sp>
        <p:nvSpPr>
          <p:cNvPr id="25" name="TextBox 24">
            <a:extLst>
              <a:ext uri="{FF2B5EF4-FFF2-40B4-BE49-F238E27FC236}">
                <a16:creationId xmlns:a16="http://schemas.microsoft.com/office/drawing/2014/main" id="{ED05E352-C7D5-EEEE-7ADB-9DBD88CB0520}"/>
              </a:ext>
            </a:extLst>
          </p:cNvPr>
          <p:cNvSpPr txBox="1"/>
          <p:nvPr/>
        </p:nvSpPr>
        <p:spPr>
          <a:xfrm rot="-5400000">
            <a:off x="5003090" y="3550209"/>
            <a:ext cx="207009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Theistic evolution</a:t>
            </a:r>
          </a:p>
        </p:txBody>
      </p:sp>
      <p:sp>
        <p:nvSpPr>
          <p:cNvPr id="26" name="TextBox 25">
            <a:extLst>
              <a:ext uri="{FF2B5EF4-FFF2-40B4-BE49-F238E27FC236}">
                <a16:creationId xmlns:a16="http://schemas.microsoft.com/office/drawing/2014/main" id="{2EC17BE3-D13C-02CA-5A6F-BB7480CAC400}"/>
              </a:ext>
            </a:extLst>
          </p:cNvPr>
          <p:cNvSpPr txBox="1"/>
          <p:nvPr/>
        </p:nvSpPr>
        <p:spPr>
          <a:xfrm rot="-5400000">
            <a:off x="5593878" y="3520973"/>
            <a:ext cx="196536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Deistic evolution</a:t>
            </a:r>
          </a:p>
        </p:txBody>
      </p:sp>
      <p:sp>
        <p:nvSpPr>
          <p:cNvPr id="27" name="TextBox 26">
            <a:extLst>
              <a:ext uri="{FF2B5EF4-FFF2-40B4-BE49-F238E27FC236}">
                <a16:creationId xmlns:a16="http://schemas.microsoft.com/office/drawing/2014/main" id="{A63BD518-1FE0-663C-8306-B763BF7592CE}"/>
              </a:ext>
            </a:extLst>
          </p:cNvPr>
          <p:cNvSpPr txBox="1"/>
          <p:nvPr/>
        </p:nvSpPr>
        <p:spPr>
          <a:xfrm rot="-5400000">
            <a:off x="7612898" y="3560509"/>
            <a:ext cx="21745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Agnostic evolution</a:t>
            </a:r>
          </a:p>
        </p:txBody>
      </p:sp>
      <p:sp>
        <p:nvSpPr>
          <p:cNvPr id="28" name="TextBox 27">
            <a:extLst>
              <a:ext uri="{FF2B5EF4-FFF2-40B4-BE49-F238E27FC236}">
                <a16:creationId xmlns:a16="http://schemas.microsoft.com/office/drawing/2014/main" id="{6F2F2CFA-F19F-2C8B-AE77-D98A15BD5FFF}"/>
              </a:ext>
            </a:extLst>
          </p:cNvPr>
          <p:cNvSpPr txBox="1"/>
          <p:nvPr/>
        </p:nvSpPr>
        <p:spPr>
          <a:xfrm rot="-5400000">
            <a:off x="8213117" y="3560510"/>
            <a:ext cx="2174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Atheistic evolution</a:t>
            </a:r>
          </a:p>
        </p:txBody>
      </p:sp>
      <p:sp>
        <p:nvSpPr>
          <p:cNvPr id="29" name="TextBox 28">
            <a:extLst>
              <a:ext uri="{FF2B5EF4-FFF2-40B4-BE49-F238E27FC236}">
                <a16:creationId xmlns:a16="http://schemas.microsoft.com/office/drawing/2014/main" id="{3C98D2DA-B0FF-7645-A71C-4BCD2D0CF37E}"/>
              </a:ext>
            </a:extLst>
          </p:cNvPr>
          <p:cNvSpPr txBox="1"/>
          <p:nvPr/>
        </p:nvSpPr>
        <p:spPr>
          <a:xfrm>
            <a:off x="2104981" y="2229942"/>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Special creationism</a:t>
            </a:r>
          </a:p>
        </p:txBody>
      </p:sp>
      <p:sp>
        <p:nvSpPr>
          <p:cNvPr id="30" name="TextBox 29">
            <a:extLst>
              <a:ext uri="{FF2B5EF4-FFF2-40B4-BE49-F238E27FC236}">
                <a16:creationId xmlns:a16="http://schemas.microsoft.com/office/drawing/2014/main" id="{57AFAC7B-A9C5-EE14-06AC-C311DC301D6F}"/>
              </a:ext>
            </a:extLst>
          </p:cNvPr>
          <p:cNvSpPr txBox="1"/>
          <p:nvPr/>
        </p:nvSpPr>
        <p:spPr>
          <a:xfrm>
            <a:off x="5006255" y="2213718"/>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 God</a:t>
            </a:r>
          </a:p>
        </p:txBody>
      </p:sp>
      <p:sp>
        <p:nvSpPr>
          <p:cNvPr id="31" name="TextBox 30">
            <a:extLst>
              <a:ext uri="{FF2B5EF4-FFF2-40B4-BE49-F238E27FC236}">
                <a16:creationId xmlns:a16="http://schemas.microsoft.com/office/drawing/2014/main" id="{5D7144FF-3C9D-2CA0-B0B6-8D6C7213AE42}"/>
              </a:ext>
            </a:extLst>
          </p:cNvPr>
          <p:cNvSpPr txBox="1"/>
          <p:nvPr/>
        </p:nvSpPr>
        <p:spPr>
          <a:xfrm>
            <a:off x="7771562" y="2213718"/>
            <a:ext cx="2657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without God</a:t>
            </a:r>
          </a:p>
        </p:txBody>
      </p:sp>
      <p:sp>
        <p:nvSpPr>
          <p:cNvPr id="2" name="Rectangle 1">
            <a:extLst>
              <a:ext uri="{FF2B5EF4-FFF2-40B4-BE49-F238E27FC236}">
                <a16:creationId xmlns:a16="http://schemas.microsoft.com/office/drawing/2014/main" id="{89B53771-5792-2F37-6216-AE7087044F82}"/>
              </a:ext>
            </a:extLst>
          </p:cNvPr>
          <p:cNvSpPr/>
          <p:nvPr/>
        </p:nvSpPr>
        <p:spPr>
          <a:xfrm>
            <a:off x="4788833" y="2211178"/>
            <a:ext cx="2657552" cy="3473434"/>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alatino Linotype"/>
              <a:ea typeface="+mn-ea"/>
              <a:cs typeface="+mn-cs"/>
            </a:endParaRPr>
          </a:p>
        </p:txBody>
      </p:sp>
    </p:spTree>
    <p:extLst>
      <p:ext uri="{BB962C8B-B14F-4D97-AF65-F5344CB8AC3E}">
        <p14:creationId xmlns:p14="http://schemas.microsoft.com/office/powerpoint/2010/main" val="1649478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75037" y="219578"/>
            <a:ext cx="11516810"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Evolution </a:t>
            </a:r>
            <a:r>
              <a:rPr kumimoji="0" lang="en-US" sz="4000" b="1"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with</a:t>
            </a:r>
            <a:r>
              <a:rPr kumimoji="0" lang="en-US" sz="40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God/god(s)</a:t>
            </a:r>
          </a:p>
        </p:txBody>
      </p:sp>
      <p:sp>
        <p:nvSpPr>
          <p:cNvPr id="37" name="TextBox 36">
            <a:extLst>
              <a:ext uri="{FF2B5EF4-FFF2-40B4-BE49-F238E27FC236}">
                <a16:creationId xmlns:a16="http://schemas.microsoft.com/office/drawing/2014/main" id="{661FCBEF-DA90-18BD-751D-0DF0E9330E13}"/>
              </a:ext>
            </a:extLst>
          </p:cNvPr>
          <p:cNvSpPr txBox="1"/>
          <p:nvPr/>
        </p:nvSpPr>
        <p:spPr>
          <a:xfrm>
            <a:off x="332422" y="1882700"/>
            <a:ext cx="34062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Interventionist evolution</a:t>
            </a:r>
          </a:p>
        </p:txBody>
      </p:sp>
      <p:sp>
        <p:nvSpPr>
          <p:cNvPr id="38" name="TextBox 37">
            <a:extLst>
              <a:ext uri="{FF2B5EF4-FFF2-40B4-BE49-F238E27FC236}">
                <a16:creationId xmlns:a16="http://schemas.microsoft.com/office/drawing/2014/main" id="{E1AB7F3A-4ED2-84FC-D7AB-C4A7314166C9}"/>
              </a:ext>
            </a:extLst>
          </p:cNvPr>
          <p:cNvSpPr txBox="1"/>
          <p:nvPr/>
        </p:nvSpPr>
        <p:spPr>
          <a:xfrm>
            <a:off x="8763693" y="1810802"/>
            <a:ext cx="294295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Deistic evolution</a:t>
            </a:r>
          </a:p>
        </p:txBody>
      </p:sp>
      <p:sp>
        <p:nvSpPr>
          <p:cNvPr id="39" name="TextBox 38">
            <a:extLst>
              <a:ext uri="{FF2B5EF4-FFF2-40B4-BE49-F238E27FC236}">
                <a16:creationId xmlns:a16="http://schemas.microsoft.com/office/drawing/2014/main" id="{9BFF38C7-8E65-2B0E-3004-F1AD91D17EE3}"/>
              </a:ext>
            </a:extLst>
          </p:cNvPr>
          <p:cNvSpPr txBox="1"/>
          <p:nvPr/>
        </p:nvSpPr>
        <p:spPr>
          <a:xfrm>
            <a:off x="2240389" y="6185483"/>
            <a:ext cx="771122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sng" strike="noStrike" kern="1200" cap="none" spc="0" normalizeH="0" baseline="0" noProof="0" dirty="0">
                <a:ln>
                  <a:noFill/>
                </a:ln>
                <a:solidFill>
                  <a:srgbClr val="FFFF00"/>
                </a:solidFill>
                <a:effectLst/>
                <a:uLnTx/>
                <a:uFillTx/>
                <a:latin typeface="Calibri" panose="020F0502020204030204"/>
                <a:ea typeface="+mn-ea"/>
                <a:cs typeface="+mn-cs"/>
              </a:rPr>
              <a:t>Not in direct conflict with scientific evidence</a:t>
            </a:r>
          </a:p>
        </p:txBody>
      </p:sp>
      <p:sp>
        <p:nvSpPr>
          <p:cNvPr id="40" name="TextBox 39">
            <a:extLst>
              <a:ext uri="{FF2B5EF4-FFF2-40B4-BE49-F238E27FC236}">
                <a16:creationId xmlns:a16="http://schemas.microsoft.com/office/drawing/2014/main" id="{D095A837-E7D3-6DFA-CE46-C4542846AC79}"/>
              </a:ext>
            </a:extLst>
          </p:cNvPr>
          <p:cNvSpPr txBox="1"/>
          <p:nvPr/>
        </p:nvSpPr>
        <p:spPr>
          <a:xfrm>
            <a:off x="8577414" y="2440455"/>
            <a:ext cx="3517629" cy="132343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Life shares a common ancestor,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God set evolution in motion without a specific purpose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or plan.</a:t>
            </a:r>
          </a:p>
        </p:txBody>
      </p:sp>
      <p:sp>
        <p:nvSpPr>
          <p:cNvPr id="44" name="TextBox 43">
            <a:extLst>
              <a:ext uri="{FF2B5EF4-FFF2-40B4-BE49-F238E27FC236}">
                <a16:creationId xmlns:a16="http://schemas.microsoft.com/office/drawing/2014/main" id="{144DA4E3-98CF-7FB4-3565-50E1BEC12E69}"/>
              </a:ext>
            </a:extLst>
          </p:cNvPr>
          <p:cNvSpPr txBox="1"/>
          <p:nvPr/>
        </p:nvSpPr>
        <p:spPr>
          <a:xfrm>
            <a:off x="204104" y="2452028"/>
            <a:ext cx="3517629" cy="132343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Life shares a common ancestor,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God intervenes to shape or override the evolutionary process</a:t>
            </a:r>
          </a:p>
        </p:txBody>
      </p:sp>
      <p:sp>
        <p:nvSpPr>
          <p:cNvPr id="10" name="TextBox 9">
            <a:extLst>
              <a:ext uri="{FF2B5EF4-FFF2-40B4-BE49-F238E27FC236}">
                <a16:creationId xmlns:a16="http://schemas.microsoft.com/office/drawing/2014/main" id="{B5EA030E-5C5C-91F4-C51B-312F7B60EEE7}"/>
              </a:ext>
            </a:extLst>
          </p:cNvPr>
          <p:cNvSpPr txBox="1"/>
          <p:nvPr/>
        </p:nvSpPr>
        <p:spPr>
          <a:xfrm>
            <a:off x="4545300" y="1533086"/>
            <a:ext cx="340620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Theistic evolution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(evolutionary creation) </a:t>
            </a:r>
          </a:p>
        </p:txBody>
      </p:sp>
      <p:sp>
        <p:nvSpPr>
          <p:cNvPr id="12" name="TextBox 11">
            <a:extLst>
              <a:ext uri="{FF2B5EF4-FFF2-40B4-BE49-F238E27FC236}">
                <a16:creationId xmlns:a16="http://schemas.microsoft.com/office/drawing/2014/main" id="{62D86903-D027-0CA4-273C-DA2DA0D2F753}"/>
              </a:ext>
            </a:extLst>
          </p:cNvPr>
          <p:cNvSpPr txBox="1"/>
          <p:nvPr/>
        </p:nvSpPr>
        <p:spPr>
          <a:xfrm>
            <a:off x="4528412" y="2428877"/>
            <a:ext cx="3517630" cy="1323439"/>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Life shares a common ancestor,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 God planned evolution perfectly so that no intervention was necessary</a:t>
            </a:r>
          </a:p>
        </p:txBody>
      </p:sp>
      <p:pic>
        <p:nvPicPr>
          <p:cNvPr id="13" name="Picture 12">
            <a:extLst>
              <a:ext uri="{FF2B5EF4-FFF2-40B4-BE49-F238E27FC236}">
                <a16:creationId xmlns:a16="http://schemas.microsoft.com/office/drawing/2014/main" id="{876AF1AD-8903-3FE5-06BE-F5EB3EF6E419}"/>
              </a:ext>
            </a:extLst>
          </p:cNvPr>
          <p:cNvPicPr>
            <a:picLocks noChangeAspect="1"/>
          </p:cNvPicPr>
          <p:nvPr/>
        </p:nvPicPr>
        <p:blipFill rotWithShape="1">
          <a:blip r:embed="rId3" cstate="hqprint">
            <a:lum bright="70000" contrast="-70000"/>
            <a:extLst>
              <a:ext uri="{28A0092B-C50C-407E-A947-70E740481C1C}">
                <a14:useLocalDpi xmlns:a14="http://schemas.microsoft.com/office/drawing/2010/main" val="0"/>
              </a:ext>
            </a:extLst>
          </a:blip>
          <a:srcRect l="24839" t="12006" r="24768" b="23977"/>
          <a:stretch/>
        </p:blipFill>
        <p:spPr>
          <a:xfrm>
            <a:off x="909440" y="3940022"/>
            <a:ext cx="1917233" cy="1893785"/>
          </a:xfrm>
          <a:prstGeom prst="rect">
            <a:avLst/>
          </a:prstGeom>
        </p:spPr>
      </p:pic>
      <p:pic>
        <p:nvPicPr>
          <p:cNvPr id="14" name="Picture 13">
            <a:extLst>
              <a:ext uri="{FF2B5EF4-FFF2-40B4-BE49-F238E27FC236}">
                <a16:creationId xmlns:a16="http://schemas.microsoft.com/office/drawing/2014/main" id="{9249E614-23F4-85ED-B957-12C2129161E7}"/>
              </a:ext>
            </a:extLst>
          </p:cNvPr>
          <p:cNvPicPr>
            <a:picLocks noChangeAspect="1"/>
          </p:cNvPicPr>
          <p:nvPr/>
        </p:nvPicPr>
        <p:blipFill rotWithShape="1">
          <a:blip r:embed="rId3" cstate="hqprint">
            <a:lum bright="70000" contrast="-70000"/>
            <a:extLst>
              <a:ext uri="{28A0092B-C50C-407E-A947-70E740481C1C}">
                <a14:useLocalDpi xmlns:a14="http://schemas.microsoft.com/office/drawing/2010/main" val="0"/>
              </a:ext>
            </a:extLst>
          </a:blip>
          <a:srcRect l="24839" t="12006" r="24768" b="23977"/>
          <a:stretch/>
        </p:blipFill>
        <p:spPr>
          <a:xfrm>
            <a:off x="5326957" y="3974650"/>
            <a:ext cx="1917233" cy="1893785"/>
          </a:xfrm>
          <a:prstGeom prst="rect">
            <a:avLst/>
          </a:prstGeom>
        </p:spPr>
      </p:pic>
      <p:pic>
        <p:nvPicPr>
          <p:cNvPr id="15" name="Picture 14">
            <a:extLst>
              <a:ext uri="{FF2B5EF4-FFF2-40B4-BE49-F238E27FC236}">
                <a16:creationId xmlns:a16="http://schemas.microsoft.com/office/drawing/2014/main" id="{EDE6572A-5AD1-EE04-3974-1B80D000AA6B}"/>
              </a:ext>
            </a:extLst>
          </p:cNvPr>
          <p:cNvPicPr>
            <a:picLocks noChangeAspect="1"/>
          </p:cNvPicPr>
          <p:nvPr/>
        </p:nvPicPr>
        <p:blipFill rotWithShape="1">
          <a:blip r:embed="rId3" cstate="hqprint">
            <a:lum bright="70000" contrast="-70000"/>
            <a:extLst>
              <a:ext uri="{28A0092B-C50C-407E-A947-70E740481C1C}">
                <a14:useLocalDpi xmlns:a14="http://schemas.microsoft.com/office/drawing/2010/main" val="0"/>
              </a:ext>
            </a:extLst>
          </a:blip>
          <a:srcRect l="24839" t="12006" r="24768" b="23977"/>
          <a:stretch/>
        </p:blipFill>
        <p:spPr>
          <a:xfrm>
            <a:off x="9276553" y="3987382"/>
            <a:ext cx="1917233" cy="1893785"/>
          </a:xfrm>
          <a:prstGeom prst="rect">
            <a:avLst/>
          </a:prstGeom>
        </p:spPr>
      </p:pic>
      <p:sp>
        <p:nvSpPr>
          <p:cNvPr id="16" name="TextBox 15">
            <a:extLst>
              <a:ext uri="{FF2B5EF4-FFF2-40B4-BE49-F238E27FC236}">
                <a16:creationId xmlns:a16="http://schemas.microsoft.com/office/drawing/2014/main" id="{BDFE1213-CC04-D54D-2C5F-90C1818A57FC}"/>
              </a:ext>
            </a:extLst>
          </p:cNvPr>
          <p:cNvSpPr txBox="1"/>
          <p:nvPr/>
        </p:nvSpPr>
        <p:spPr>
          <a:xfrm>
            <a:off x="1522590" y="5833807"/>
            <a:ext cx="690932"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All Life</a:t>
            </a:r>
          </a:p>
        </p:txBody>
      </p:sp>
      <p:sp>
        <p:nvSpPr>
          <p:cNvPr id="17" name="TextBox 16">
            <a:extLst>
              <a:ext uri="{FF2B5EF4-FFF2-40B4-BE49-F238E27FC236}">
                <a16:creationId xmlns:a16="http://schemas.microsoft.com/office/drawing/2014/main" id="{2EA4453E-7540-682B-723C-B9266B78B71C}"/>
              </a:ext>
            </a:extLst>
          </p:cNvPr>
          <p:cNvSpPr txBox="1"/>
          <p:nvPr/>
        </p:nvSpPr>
        <p:spPr>
          <a:xfrm>
            <a:off x="5940107" y="5868435"/>
            <a:ext cx="690932"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All Life</a:t>
            </a:r>
          </a:p>
        </p:txBody>
      </p:sp>
      <p:sp>
        <p:nvSpPr>
          <p:cNvPr id="18" name="TextBox 17">
            <a:extLst>
              <a:ext uri="{FF2B5EF4-FFF2-40B4-BE49-F238E27FC236}">
                <a16:creationId xmlns:a16="http://schemas.microsoft.com/office/drawing/2014/main" id="{1F154FD8-113B-CBDD-9C2C-16B9DE6F5657}"/>
              </a:ext>
            </a:extLst>
          </p:cNvPr>
          <p:cNvSpPr txBox="1"/>
          <p:nvPr/>
        </p:nvSpPr>
        <p:spPr>
          <a:xfrm>
            <a:off x="9909027" y="5846745"/>
            <a:ext cx="690932"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All Life</a:t>
            </a:r>
          </a:p>
        </p:txBody>
      </p:sp>
    </p:spTree>
    <p:extLst>
      <p:ext uri="{BB962C8B-B14F-4D97-AF65-F5344CB8AC3E}">
        <p14:creationId xmlns:p14="http://schemas.microsoft.com/office/powerpoint/2010/main" val="57364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animBg="1"/>
      <p:bldP spid="44" grpId="0" animBg="1"/>
      <p:bldP spid="12" grpId="0" animBg="1"/>
      <p:bldP spid="16" grpId="0"/>
      <p:bldP spid="17"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27321" y="287895"/>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There is a spectrum of viewpoints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on the relationship between religion and evolution</a:t>
            </a:r>
          </a:p>
        </p:txBody>
      </p:sp>
      <p:sp>
        <p:nvSpPr>
          <p:cNvPr id="20" name="TextBox 19">
            <a:extLst>
              <a:ext uri="{FF2B5EF4-FFF2-40B4-BE49-F238E27FC236}">
                <a16:creationId xmlns:a16="http://schemas.microsoft.com/office/drawing/2014/main" id="{BFDB545F-91D1-694F-D3F6-19F3BD7CAB9B}"/>
              </a:ext>
            </a:extLst>
          </p:cNvPr>
          <p:cNvSpPr txBox="1"/>
          <p:nvPr/>
        </p:nvSpPr>
        <p:spPr>
          <a:xfrm rot="-5400000">
            <a:off x="538034" y="3507237"/>
            <a:ext cx="28262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Young Earth creationism</a:t>
            </a:r>
          </a:p>
        </p:txBody>
      </p:sp>
      <p:sp>
        <p:nvSpPr>
          <p:cNvPr id="21" name="TextBox 20">
            <a:extLst>
              <a:ext uri="{FF2B5EF4-FFF2-40B4-BE49-F238E27FC236}">
                <a16:creationId xmlns:a16="http://schemas.microsoft.com/office/drawing/2014/main" id="{FF6F9768-A25A-333E-758C-449FDAACE6BF}"/>
              </a:ext>
            </a:extLst>
          </p:cNvPr>
          <p:cNvSpPr txBox="1"/>
          <p:nvPr/>
        </p:nvSpPr>
        <p:spPr>
          <a:xfrm rot="-5400000">
            <a:off x="1304893" y="3361401"/>
            <a:ext cx="25092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Old Earth creationism</a:t>
            </a:r>
          </a:p>
        </p:txBody>
      </p:sp>
      <p:sp>
        <p:nvSpPr>
          <p:cNvPr id="22" name="TextBox 21">
            <a:extLst>
              <a:ext uri="{FF2B5EF4-FFF2-40B4-BE49-F238E27FC236}">
                <a16:creationId xmlns:a16="http://schemas.microsoft.com/office/drawing/2014/main" id="{1BA3AF97-4B21-E95C-0056-2D4547775D36}"/>
              </a:ext>
            </a:extLst>
          </p:cNvPr>
          <p:cNvSpPr txBox="1"/>
          <p:nvPr/>
        </p:nvSpPr>
        <p:spPr>
          <a:xfrm rot="-5400000">
            <a:off x="1781357" y="3516393"/>
            <a:ext cx="2772926"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Progressive creationism</a:t>
            </a:r>
          </a:p>
        </p:txBody>
      </p:sp>
      <p:sp>
        <p:nvSpPr>
          <p:cNvPr id="23" name="TextBox 22">
            <a:extLst>
              <a:ext uri="{FF2B5EF4-FFF2-40B4-BE49-F238E27FC236}">
                <a16:creationId xmlns:a16="http://schemas.microsoft.com/office/drawing/2014/main" id="{E4C2EFEB-1A3C-4F46-3A45-BECD72E8A470}"/>
              </a:ext>
            </a:extLst>
          </p:cNvPr>
          <p:cNvSpPr txBox="1"/>
          <p:nvPr/>
        </p:nvSpPr>
        <p:spPr>
          <a:xfrm rot="-5400000">
            <a:off x="2361595" y="3436266"/>
            <a:ext cx="26126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Human exceptionalism</a:t>
            </a:r>
          </a:p>
        </p:txBody>
      </p:sp>
      <p:sp>
        <p:nvSpPr>
          <p:cNvPr id="24" name="TextBox 23">
            <a:extLst>
              <a:ext uri="{FF2B5EF4-FFF2-40B4-BE49-F238E27FC236}">
                <a16:creationId xmlns:a16="http://schemas.microsoft.com/office/drawing/2014/main" id="{A8307BC1-7E5C-8DA2-218E-1BD4FEEA3835}"/>
              </a:ext>
            </a:extLst>
          </p:cNvPr>
          <p:cNvSpPr txBox="1"/>
          <p:nvPr/>
        </p:nvSpPr>
        <p:spPr>
          <a:xfrm rot="-5400000">
            <a:off x="3641562" y="3501307"/>
            <a:ext cx="28728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Interventionist evolution</a:t>
            </a:r>
          </a:p>
        </p:txBody>
      </p:sp>
      <p:sp>
        <p:nvSpPr>
          <p:cNvPr id="25" name="TextBox 24">
            <a:extLst>
              <a:ext uri="{FF2B5EF4-FFF2-40B4-BE49-F238E27FC236}">
                <a16:creationId xmlns:a16="http://schemas.microsoft.com/office/drawing/2014/main" id="{ED05E352-C7D5-EEEE-7ADB-9DBD88CB0520}"/>
              </a:ext>
            </a:extLst>
          </p:cNvPr>
          <p:cNvSpPr txBox="1"/>
          <p:nvPr/>
        </p:nvSpPr>
        <p:spPr>
          <a:xfrm rot="-5400000">
            <a:off x="4574827" y="3141846"/>
            <a:ext cx="207009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Theistic evolution</a:t>
            </a:r>
          </a:p>
        </p:txBody>
      </p:sp>
      <p:sp>
        <p:nvSpPr>
          <p:cNvPr id="26" name="TextBox 25">
            <a:extLst>
              <a:ext uri="{FF2B5EF4-FFF2-40B4-BE49-F238E27FC236}">
                <a16:creationId xmlns:a16="http://schemas.microsoft.com/office/drawing/2014/main" id="{2EC17BE3-D13C-02CA-5A6F-BB7480CAC400}"/>
              </a:ext>
            </a:extLst>
          </p:cNvPr>
          <p:cNvSpPr txBox="1"/>
          <p:nvPr/>
        </p:nvSpPr>
        <p:spPr>
          <a:xfrm rot="-5400000">
            <a:off x="5165615" y="3112610"/>
            <a:ext cx="196536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Deistic evolution</a:t>
            </a:r>
          </a:p>
        </p:txBody>
      </p:sp>
      <p:sp>
        <p:nvSpPr>
          <p:cNvPr id="27" name="TextBox 26">
            <a:extLst>
              <a:ext uri="{FF2B5EF4-FFF2-40B4-BE49-F238E27FC236}">
                <a16:creationId xmlns:a16="http://schemas.microsoft.com/office/drawing/2014/main" id="{A63BD518-1FE0-663C-8306-B763BF7592CE}"/>
              </a:ext>
            </a:extLst>
          </p:cNvPr>
          <p:cNvSpPr txBox="1"/>
          <p:nvPr/>
        </p:nvSpPr>
        <p:spPr>
          <a:xfrm rot="-5400000">
            <a:off x="7184635" y="3152146"/>
            <a:ext cx="21745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Agnostic evolution</a:t>
            </a:r>
          </a:p>
        </p:txBody>
      </p:sp>
      <p:sp>
        <p:nvSpPr>
          <p:cNvPr id="28" name="TextBox 27">
            <a:extLst>
              <a:ext uri="{FF2B5EF4-FFF2-40B4-BE49-F238E27FC236}">
                <a16:creationId xmlns:a16="http://schemas.microsoft.com/office/drawing/2014/main" id="{6F2F2CFA-F19F-2C8B-AE77-D98A15BD5FFF}"/>
              </a:ext>
            </a:extLst>
          </p:cNvPr>
          <p:cNvSpPr txBox="1"/>
          <p:nvPr/>
        </p:nvSpPr>
        <p:spPr>
          <a:xfrm rot="-5400000">
            <a:off x="7784854" y="3152147"/>
            <a:ext cx="2174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Atheistic evolution</a:t>
            </a:r>
          </a:p>
        </p:txBody>
      </p:sp>
      <p:sp>
        <p:nvSpPr>
          <p:cNvPr id="29" name="TextBox 28">
            <a:extLst>
              <a:ext uri="{FF2B5EF4-FFF2-40B4-BE49-F238E27FC236}">
                <a16:creationId xmlns:a16="http://schemas.microsoft.com/office/drawing/2014/main" id="{3C98D2DA-B0FF-7645-A71C-4BCD2D0CF37E}"/>
              </a:ext>
            </a:extLst>
          </p:cNvPr>
          <p:cNvSpPr txBox="1"/>
          <p:nvPr/>
        </p:nvSpPr>
        <p:spPr>
          <a:xfrm>
            <a:off x="1676718" y="1821579"/>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Special creationism</a:t>
            </a:r>
          </a:p>
        </p:txBody>
      </p:sp>
      <p:sp>
        <p:nvSpPr>
          <p:cNvPr id="30" name="TextBox 29">
            <a:extLst>
              <a:ext uri="{FF2B5EF4-FFF2-40B4-BE49-F238E27FC236}">
                <a16:creationId xmlns:a16="http://schemas.microsoft.com/office/drawing/2014/main" id="{57AFAC7B-A9C5-EE14-06AC-C311DC301D6F}"/>
              </a:ext>
            </a:extLst>
          </p:cNvPr>
          <p:cNvSpPr txBox="1"/>
          <p:nvPr/>
        </p:nvSpPr>
        <p:spPr>
          <a:xfrm>
            <a:off x="4577992" y="1805355"/>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 God</a:t>
            </a:r>
          </a:p>
        </p:txBody>
      </p:sp>
      <p:sp>
        <p:nvSpPr>
          <p:cNvPr id="31" name="TextBox 30">
            <a:extLst>
              <a:ext uri="{FF2B5EF4-FFF2-40B4-BE49-F238E27FC236}">
                <a16:creationId xmlns:a16="http://schemas.microsoft.com/office/drawing/2014/main" id="{5D7144FF-3C9D-2CA0-B0B6-8D6C7213AE42}"/>
              </a:ext>
            </a:extLst>
          </p:cNvPr>
          <p:cNvSpPr txBox="1"/>
          <p:nvPr/>
        </p:nvSpPr>
        <p:spPr>
          <a:xfrm>
            <a:off x="7343299" y="1805355"/>
            <a:ext cx="2657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without God</a:t>
            </a:r>
          </a:p>
        </p:txBody>
      </p:sp>
      <p:sp>
        <p:nvSpPr>
          <p:cNvPr id="19" name="TextBox 18">
            <a:extLst>
              <a:ext uri="{FF2B5EF4-FFF2-40B4-BE49-F238E27FC236}">
                <a16:creationId xmlns:a16="http://schemas.microsoft.com/office/drawing/2014/main" id="{50502730-3223-5657-4F52-4CCA3943CE99}"/>
              </a:ext>
            </a:extLst>
          </p:cNvPr>
          <p:cNvSpPr txBox="1"/>
          <p:nvPr/>
        </p:nvSpPr>
        <p:spPr>
          <a:xfrm>
            <a:off x="4924020" y="5450185"/>
            <a:ext cx="4940311" cy="400110"/>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alibri" panose="020F0502020204030204"/>
                <a:ea typeface="+mn-ea"/>
                <a:cs typeface="+mn-cs"/>
              </a:rPr>
              <a:t>Not in direct conflict with scientific evidence</a:t>
            </a:r>
          </a:p>
        </p:txBody>
      </p:sp>
      <p:sp>
        <p:nvSpPr>
          <p:cNvPr id="35" name="Left Bracket 34">
            <a:extLst>
              <a:ext uri="{FF2B5EF4-FFF2-40B4-BE49-F238E27FC236}">
                <a16:creationId xmlns:a16="http://schemas.microsoft.com/office/drawing/2014/main" id="{13BDC2BF-D1A1-D847-A5DE-9303CC025040}"/>
              </a:ext>
            </a:extLst>
          </p:cNvPr>
          <p:cNvSpPr/>
          <p:nvPr/>
        </p:nvSpPr>
        <p:spPr>
          <a:xfrm rot="16200000">
            <a:off x="7169790" y="2511456"/>
            <a:ext cx="400109" cy="5371605"/>
          </a:xfrm>
          <a:prstGeom prst="leftBracket">
            <a:avLst/>
          </a:prstGeom>
          <a:noFill/>
          <a:ln w="38100" cap="flat" cmpd="sng" algn="ctr">
            <a:solidFill>
              <a:srgbClr val="FFFF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0967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210385" y="254152"/>
            <a:ext cx="1151681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There is a spectrum of viewpoints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on the relationship between religion and evolution</a:t>
            </a:r>
          </a:p>
        </p:txBody>
      </p:sp>
      <p:sp>
        <p:nvSpPr>
          <p:cNvPr id="20" name="TextBox 19">
            <a:extLst>
              <a:ext uri="{FF2B5EF4-FFF2-40B4-BE49-F238E27FC236}">
                <a16:creationId xmlns:a16="http://schemas.microsoft.com/office/drawing/2014/main" id="{BFDB545F-91D1-694F-D3F6-19F3BD7CAB9B}"/>
              </a:ext>
            </a:extLst>
          </p:cNvPr>
          <p:cNvSpPr txBox="1"/>
          <p:nvPr/>
        </p:nvSpPr>
        <p:spPr>
          <a:xfrm rot="-5400000">
            <a:off x="538034" y="3507238"/>
            <a:ext cx="28262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Young Earth creationism</a:t>
            </a:r>
          </a:p>
        </p:txBody>
      </p:sp>
      <p:sp>
        <p:nvSpPr>
          <p:cNvPr id="21" name="TextBox 20">
            <a:extLst>
              <a:ext uri="{FF2B5EF4-FFF2-40B4-BE49-F238E27FC236}">
                <a16:creationId xmlns:a16="http://schemas.microsoft.com/office/drawing/2014/main" id="{FF6F9768-A25A-333E-758C-449FDAACE6BF}"/>
              </a:ext>
            </a:extLst>
          </p:cNvPr>
          <p:cNvSpPr txBox="1"/>
          <p:nvPr/>
        </p:nvSpPr>
        <p:spPr>
          <a:xfrm rot="-5400000">
            <a:off x="1304893" y="3361402"/>
            <a:ext cx="250920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Old Earth creationism</a:t>
            </a:r>
          </a:p>
        </p:txBody>
      </p:sp>
      <p:sp>
        <p:nvSpPr>
          <p:cNvPr id="22" name="TextBox 21">
            <a:extLst>
              <a:ext uri="{FF2B5EF4-FFF2-40B4-BE49-F238E27FC236}">
                <a16:creationId xmlns:a16="http://schemas.microsoft.com/office/drawing/2014/main" id="{1BA3AF97-4B21-E95C-0056-2D4547775D36}"/>
              </a:ext>
            </a:extLst>
          </p:cNvPr>
          <p:cNvSpPr txBox="1"/>
          <p:nvPr/>
        </p:nvSpPr>
        <p:spPr>
          <a:xfrm rot="-5400000">
            <a:off x="1781357" y="3516394"/>
            <a:ext cx="2772926"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Progressive creationism</a:t>
            </a:r>
          </a:p>
        </p:txBody>
      </p:sp>
      <p:sp>
        <p:nvSpPr>
          <p:cNvPr id="23" name="TextBox 22">
            <a:extLst>
              <a:ext uri="{FF2B5EF4-FFF2-40B4-BE49-F238E27FC236}">
                <a16:creationId xmlns:a16="http://schemas.microsoft.com/office/drawing/2014/main" id="{E4C2EFEB-1A3C-4F46-3A45-BECD72E8A470}"/>
              </a:ext>
            </a:extLst>
          </p:cNvPr>
          <p:cNvSpPr txBox="1"/>
          <p:nvPr/>
        </p:nvSpPr>
        <p:spPr>
          <a:xfrm rot="-5400000">
            <a:off x="2361595" y="3436267"/>
            <a:ext cx="26126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Human exceptionalism</a:t>
            </a:r>
          </a:p>
        </p:txBody>
      </p:sp>
      <p:sp>
        <p:nvSpPr>
          <p:cNvPr id="24" name="TextBox 23">
            <a:extLst>
              <a:ext uri="{FF2B5EF4-FFF2-40B4-BE49-F238E27FC236}">
                <a16:creationId xmlns:a16="http://schemas.microsoft.com/office/drawing/2014/main" id="{A8307BC1-7E5C-8DA2-218E-1BD4FEEA3835}"/>
              </a:ext>
            </a:extLst>
          </p:cNvPr>
          <p:cNvSpPr txBox="1"/>
          <p:nvPr/>
        </p:nvSpPr>
        <p:spPr>
          <a:xfrm rot="-5400000">
            <a:off x="3641562" y="3501308"/>
            <a:ext cx="28728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Interventionist evolution</a:t>
            </a:r>
          </a:p>
        </p:txBody>
      </p:sp>
      <p:sp>
        <p:nvSpPr>
          <p:cNvPr id="25" name="TextBox 24">
            <a:extLst>
              <a:ext uri="{FF2B5EF4-FFF2-40B4-BE49-F238E27FC236}">
                <a16:creationId xmlns:a16="http://schemas.microsoft.com/office/drawing/2014/main" id="{ED05E352-C7D5-EEEE-7ADB-9DBD88CB0520}"/>
              </a:ext>
            </a:extLst>
          </p:cNvPr>
          <p:cNvSpPr txBox="1"/>
          <p:nvPr/>
        </p:nvSpPr>
        <p:spPr>
          <a:xfrm rot="-5400000">
            <a:off x="4574827" y="3141847"/>
            <a:ext cx="207009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Theistic evolution</a:t>
            </a:r>
          </a:p>
        </p:txBody>
      </p:sp>
      <p:sp>
        <p:nvSpPr>
          <p:cNvPr id="26" name="TextBox 25">
            <a:extLst>
              <a:ext uri="{FF2B5EF4-FFF2-40B4-BE49-F238E27FC236}">
                <a16:creationId xmlns:a16="http://schemas.microsoft.com/office/drawing/2014/main" id="{2EC17BE3-D13C-02CA-5A6F-BB7480CAC400}"/>
              </a:ext>
            </a:extLst>
          </p:cNvPr>
          <p:cNvSpPr txBox="1"/>
          <p:nvPr/>
        </p:nvSpPr>
        <p:spPr>
          <a:xfrm rot="-5400000">
            <a:off x="5165615" y="3112611"/>
            <a:ext cx="196536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Deistic evolution</a:t>
            </a:r>
          </a:p>
        </p:txBody>
      </p:sp>
      <p:sp>
        <p:nvSpPr>
          <p:cNvPr id="27" name="TextBox 26">
            <a:extLst>
              <a:ext uri="{FF2B5EF4-FFF2-40B4-BE49-F238E27FC236}">
                <a16:creationId xmlns:a16="http://schemas.microsoft.com/office/drawing/2014/main" id="{A63BD518-1FE0-663C-8306-B763BF7592CE}"/>
              </a:ext>
            </a:extLst>
          </p:cNvPr>
          <p:cNvSpPr txBox="1"/>
          <p:nvPr/>
        </p:nvSpPr>
        <p:spPr>
          <a:xfrm rot="-5400000">
            <a:off x="7184635" y="3152147"/>
            <a:ext cx="21745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Agnostic evolution</a:t>
            </a:r>
          </a:p>
        </p:txBody>
      </p:sp>
      <p:sp>
        <p:nvSpPr>
          <p:cNvPr id="28" name="TextBox 27">
            <a:extLst>
              <a:ext uri="{FF2B5EF4-FFF2-40B4-BE49-F238E27FC236}">
                <a16:creationId xmlns:a16="http://schemas.microsoft.com/office/drawing/2014/main" id="{6F2F2CFA-F19F-2C8B-AE77-D98A15BD5FFF}"/>
              </a:ext>
            </a:extLst>
          </p:cNvPr>
          <p:cNvSpPr txBox="1"/>
          <p:nvPr/>
        </p:nvSpPr>
        <p:spPr>
          <a:xfrm rot="-5400000">
            <a:off x="7784854" y="3152148"/>
            <a:ext cx="2174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Atheistic evolution</a:t>
            </a:r>
          </a:p>
        </p:txBody>
      </p:sp>
      <p:sp>
        <p:nvSpPr>
          <p:cNvPr id="29" name="TextBox 28">
            <a:extLst>
              <a:ext uri="{FF2B5EF4-FFF2-40B4-BE49-F238E27FC236}">
                <a16:creationId xmlns:a16="http://schemas.microsoft.com/office/drawing/2014/main" id="{3C98D2DA-B0FF-7645-A71C-4BCD2D0CF37E}"/>
              </a:ext>
            </a:extLst>
          </p:cNvPr>
          <p:cNvSpPr txBox="1"/>
          <p:nvPr/>
        </p:nvSpPr>
        <p:spPr>
          <a:xfrm>
            <a:off x="1676718" y="1821580"/>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Special creationism</a:t>
            </a:r>
          </a:p>
        </p:txBody>
      </p:sp>
      <p:sp>
        <p:nvSpPr>
          <p:cNvPr id="30" name="TextBox 29">
            <a:extLst>
              <a:ext uri="{FF2B5EF4-FFF2-40B4-BE49-F238E27FC236}">
                <a16:creationId xmlns:a16="http://schemas.microsoft.com/office/drawing/2014/main" id="{57AFAC7B-A9C5-EE14-06AC-C311DC301D6F}"/>
              </a:ext>
            </a:extLst>
          </p:cNvPr>
          <p:cNvSpPr txBox="1"/>
          <p:nvPr/>
        </p:nvSpPr>
        <p:spPr>
          <a:xfrm>
            <a:off x="4577992" y="1805356"/>
            <a:ext cx="2257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 God</a:t>
            </a:r>
          </a:p>
        </p:txBody>
      </p:sp>
      <p:sp>
        <p:nvSpPr>
          <p:cNvPr id="31" name="TextBox 30">
            <a:extLst>
              <a:ext uri="{FF2B5EF4-FFF2-40B4-BE49-F238E27FC236}">
                <a16:creationId xmlns:a16="http://schemas.microsoft.com/office/drawing/2014/main" id="{5D7144FF-3C9D-2CA0-B0B6-8D6C7213AE42}"/>
              </a:ext>
            </a:extLst>
          </p:cNvPr>
          <p:cNvSpPr txBox="1"/>
          <p:nvPr/>
        </p:nvSpPr>
        <p:spPr>
          <a:xfrm>
            <a:off x="7343299" y="1805356"/>
            <a:ext cx="265755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white"/>
                </a:solidFill>
                <a:effectLst/>
                <a:uLnTx/>
                <a:uFillTx/>
                <a:latin typeface="Calibri" panose="020F0502020204030204"/>
                <a:ea typeface="+mn-ea"/>
                <a:cs typeface="+mn-cs"/>
              </a:rPr>
              <a:t>Evolution without God</a:t>
            </a:r>
          </a:p>
        </p:txBody>
      </p:sp>
      <p:sp>
        <p:nvSpPr>
          <p:cNvPr id="32" name="TextBox 31">
            <a:extLst>
              <a:ext uri="{FF2B5EF4-FFF2-40B4-BE49-F238E27FC236}">
                <a16:creationId xmlns:a16="http://schemas.microsoft.com/office/drawing/2014/main" id="{4BB99E19-6003-920B-23A3-B9DF169DAF4C}"/>
              </a:ext>
            </a:extLst>
          </p:cNvPr>
          <p:cNvSpPr txBox="1"/>
          <p:nvPr/>
        </p:nvSpPr>
        <p:spPr>
          <a:xfrm>
            <a:off x="4131874" y="5377901"/>
            <a:ext cx="4940311" cy="70788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alibri" panose="020F0502020204030204"/>
                <a:ea typeface="+mn-ea"/>
                <a:cs typeface="+mn-cs"/>
              </a:rPr>
              <a:t>Evolution and religion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alibri" panose="020F0502020204030204"/>
                <a:ea typeface="+mn-ea"/>
                <a:cs typeface="+mn-cs"/>
              </a:rPr>
              <a:t>are potentially compatible here</a:t>
            </a:r>
          </a:p>
        </p:txBody>
      </p:sp>
      <p:sp>
        <p:nvSpPr>
          <p:cNvPr id="33" name="Left Bracket 32">
            <a:extLst>
              <a:ext uri="{FF2B5EF4-FFF2-40B4-BE49-F238E27FC236}">
                <a16:creationId xmlns:a16="http://schemas.microsoft.com/office/drawing/2014/main" id="{819A2A67-6379-FE17-7414-1B61C02D9A99}"/>
              </a:ext>
            </a:extLst>
          </p:cNvPr>
          <p:cNvSpPr/>
          <p:nvPr/>
        </p:nvSpPr>
        <p:spPr>
          <a:xfrm rot="16200000">
            <a:off x="6481495" y="3253640"/>
            <a:ext cx="340070" cy="3547168"/>
          </a:xfrm>
          <a:prstGeom prst="leftBracket">
            <a:avLst>
              <a:gd name="adj" fmla="val 20937"/>
            </a:avLst>
          </a:prstGeom>
          <a:noFill/>
          <a:ln w="38100" cap="flat" cmpd="sng" algn="ctr">
            <a:solidFill>
              <a:srgbClr val="FFFF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3" name="Straight Connector 2">
            <a:extLst>
              <a:ext uri="{FF2B5EF4-FFF2-40B4-BE49-F238E27FC236}">
                <a16:creationId xmlns:a16="http://schemas.microsoft.com/office/drawing/2014/main" id="{46B7923A-EE09-E6F1-00F1-AAEBE50B32D4}"/>
              </a:ext>
            </a:extLst>
          </p:cNvPr>
          <p:cNvCxnSpPr>
            <a:cxnSpLocks/>
            <a:stCxn id="33" idx="0"/>
          </p:cNvCxnSpPr>
          <p:nvPr/>
        </p:nvCxnSpPr>
        <p:spPr>
          <a:xfrm flipH="1" flipV="1">
            <a:off x="4877944" y="2205466"/>
            <a:ext cx="2" cy="2651723"/>
          </a:xfrm>
          <a:prstGeom prst="line">
            <a:avLst/>
          </a:prstGeom>
          <a:ln>
            <a:solidFill>
              <a:srgbClr val="FFFF00"/>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0CE9273-B1AA-F48E-C092-38E1BC98FA88}"/>
              </a:ext>
            </a:extLst>
          </p:cNvPr>
          <p:cNvCxnSpPr>
            <a:cxnSpLocks/>
          </p:cNvCxnSpPr>
          <p:nvPr/>
        </p:nvCxnSpPr>
        <p:spPr>
          <a:xfrm flipV="1">
            <a:off x="8425114" y="2221690"/>
            <a:ext cx="0" cy="2594369"/>
          </a:xfrm>
          <a:prstGeom prst="line">
            <a:avLst/>
          </a:prstGeom>
          <a:ln>
            <a:solidFill>
              <a:srgbClr val="FFFF00"/>
            </a:solidFill>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D8E167F-DFD0-3BE1-74C9-FD5F209F7DFD}"/>
              </a:ext>
            </a:extLst>
          </p:cNvPr>
          <p:cNvSpPr txBox="1"/>
          <p:nvPr/>
        </p:nvSpPr>
        <p:spPr>
          <a:xfrm>
            <a:off x="337595" y="6245662"/>
            <a:ext cx="1151681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All these views are usually present within and across all religions</a:t>
            </a:r>
          </a:p>
        </p:txBody>
      </p:sp>
    </p:spTree>
    <p:extLst>
      <p:ext uri="{BB962C8B-B14F-4D97-AF65-F5344CB8AC3E}">
        <p14:creationId xmlns:p14="http://schemas.microsoft.com/office/powerpoint/2010/main" val="2678571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180752" y="352955"/>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Clergy Letter Project</a:t>
            </a:r>
          </a:p>
        </p:txBody>
      </p:sp>
      <p:sp>
        <p:nvSpPr>
          <p:cNvPr id="4" name="TextBox 3">
            <a:extLst>
              <a:ext uri="{FF2B5EF4-FFF2-40B4-BE49-F238E27FC236}">
                <a16:creationId xmlns:a16="http://schemas.microsoft.com/office/drawing/2014/main" id="{FD10DF98-675A-5585-6624-F7A56321E72F}"/>
              </a:ext>
            </a:extLst>
          </p:cNvPr>
          <p:cNvSpPr txBox="1"/>
          <p:nvPr/>
        </p:nvSpPr>
        <p:spPr>
          <a:xfrm>
            <a:off x="3917023" y="937730"/>
            <a:ext cx="419956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Palatino Linotype"/>
                <a:ea typeface="+mn-ea"/>
                <a:cs typeface="+mn-cs"/>
              </a:rPr>
              <a:t>http://www.theclergyletterproject.org/</a:t>
            </a:r>
          </a:p>
        </p:txBody>
      </p:sp>
      <p:sp>
        <p:nvSpPr>
          <p:cNvPr id="10" name="TextBox 9">
            <a:extLst>
              <a:ext uri="{FF2B5EF4-FFF2-40B4-BE49-F238E27FC236}">
                <a16:creationId xmlns:a16="http://schemas.microsoft.com/office/drawing/2014/main" id="{47F28208-82B8-2F3E-C327-5BAFC585622E}"/>
              </a:ext>
            </a:extLst>
          </p:cNvPr>
          <p:cNvSpPr txBox="1"/>
          <p:nvPr/>
        </p:nvSpPr>
        <p:spPr>
          <a:xfrm>
            <a:off x="265770" y="5550938"/>
            <a:ext cx="11660460"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00"/>
                </a:solidFill>
                <a:effectLst/>
                <a:uLnTx/>
                <a:uFillTx/>
                <a:latin typeface="Calibri" panose="020F0502020204030204"/>
                <a:ea typeface="+mn-ea"/>
                <a:cs typeface="+mn-cs"/>
              </a:rPr>
              <a:t>Over 17,337 signatures from leaders within different religions supporting compatibility between their religion and evolution.</a:t>
            </a:r>
          </a:p>
        </p:txBody>
      </p:sp>
      <p:pic>
        <p:nvPicPr>
          <p:cNvPr id="11" name="Picture 10">
            <a:extLst>
              <a:ext uri="{FF2B5EF4-FFF2-40B4-BE49-F238E27FC236}">
                <a16:creationId xmlns:a16="http://schemas.microsoft.com/office/drawing/2014/main" id="{32E82661-9209-4C53-B2C3-28B06C77301B}"/>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2735840" y="1522505"/>
            <a:ext cx="6406634" cy="3733265"/>
          </a:xfrm>
          <a:prstGeom prst="rect">
            <a:avLst/>
          </a:prstGeom>
        </p:spPr>
      </p:pic>
    </p:spTree>
    <p:extLst>
      <p:ext uri="{BB962C8B-B14F-4D97-AF65-F5344CB8AC3E}">
        <p14:creationId xmlns:p14="http://schemas.microsoft.com/office/powerpoint/2010/main" val="25514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4"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4115754" y="375988"/>
            <a:ext cx="3610411"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Christianity</a:t>
            </a:r>
          </a:p>
        </p:txBody>
      </p:sp>
      <p:grpSp>
        <p:nvGrpSpPr>
          <p:cNvPr id="8" name="Group 7">
            <a:extLst>
              <a:ext uri="{FF2B5EF4-FFF2-40B4-BE49-F238E27FC236}">
                <a16:creationId xmlns:a16="http://schemas.microsoft.com/office/drawing/2014/main" id="{4CCB8877-9418-BBF6-A1D3-ADD7226FD1FD}"/>
              </a:ext>
            </a:extLst>
          </p:cNvPr>
          <p:cNvGrpSpPr/>
          <p:nvPr/>
        </p:nvGrpSpPr>
        <p:grpSpPr>
          <a:xfrm>
            <a:off x="5920960" y="1331873"/>
            <a:ext cx="2122369" cy="3475366"/>
            <a:chOff x="805766" y="1296360"/>
            <a:chExt cx="2122369" cy="3475366"/>
          </a:xfrm>
        </p:grpSpPr>
        <p:sp>
          <p:nvSpPr>
            <p:cNvPr id="3" name="TextBox 2">
              <a:extLst>
                <a:ext uri="{FF2B5EF4-FFF2-40B4-BE49-F238E27FC236}">
                  <a16:creationId xmlns:a16="http://schemas.microsoft.com/office/drawing/2014/main" id="{0FCF5428-3F5A-8BBB-82AD-EFC6427AB7CF}"/>
                </a:ext>
              </a:extLst>
            </p:cNvPr>
            <p:cNvSpPr txBox="1"/>
            <p:nvPr/>
          </p:nvSpPr>
          <p:spPr>
            <a:xfrm>
              <a:off x="883579" y="1296360"/>
              <a:ext cx="181852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Protestant</a:t>
              </a:r>
            </a:p>
          </p:txBody>
        </p:sp>
        <p:sp>
          <p:nvSpPr>
            <p:cNvPr id="4" name="TextBox 3">
              <a:extLst>
                <a:ext uri="{FF2B5EF4-FFF2-40B4-BE49-F238E27FC236}">
                  <a16:creationId xmlns:a16="http://schemas.microsoft.com/office/drawing/2014/main" id="{58842C23-3CD2-1D1E-7212-C6B50BD5B12F}"/>
                </a:ext>
              </a:extLst>
            </p:cNvPr>
            <p:cNvSpPr txBox="1"/>
            <p:nvPr/>
          </p:nvSpPr>
          <p:spPr>
            <a:xfrm>
              <a:off x="805766" y="1909404"/>
              <a:ext cx="2122369" cy="286232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Anglican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Baptist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Methodist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Pentecostal</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Lutheran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Often divided by: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Evangelical</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Mainline</a:t>
              </a:r>
            </a:p>
          </p:txBody>
        </p:sp>
      </p:grpSp>
      <p:grpSp>
        <p:nvGrpSpPr>
          <p:cNvPr id="2" name="Group 1">
            <a:extLst>
              <a:ext uri="{FF2B5EF4-FFF2-40B4-BE49-F238E27FC236}">
                <a16:creationId xmlns:a16="http://schemas.microsoft.com/office/drawing/2014/main" id="{1D8DBFD9-81BF-1082-FBD1-09B2EDFC6573}"/>
              </a:ext>
            </a:extLst>
          </p:cNvPr>
          <p:cNvGrpSpPr/>
          <p:nvPr/>
        </p:nvGrpSpPr>
        <p:grpSpPr>
          <a:xfrm>
            <a:off x="125962" y="1331873"/>
            <a:ext cx="2485589" cy="1646884"/>
            <a:chOff x="3610411" y="1196712"/>
            <a:chExt cx="2485589" cy="1646884"/>
          </a:xfrm>
        </p:grpSpPr>
        <p:sp>
          <p:nvSpPr>
            <p:cNvPr id="5" name="TextBox 4">
              <a:extLst>
                <a:ext uri="{FF2B5EF4-FFF2-40B4-BE49-F238E27FC236}">
                  <a16:creationId xmlns:a16="http://schemas.microsoft.com/office/drawing/2014/main" id="{D93542D8-8387-6DA5-EBFD-490C6E34EB24}"/>
                </a:ext>
              </a:extLst>
            </p:cNvPr>
            <p:cNvSpPr txBox="1"/>
            <p:nvPr/>
          </p:nvSpPr>
          <p:spPr>
            <a:xfrm>
              <a:off x="4023089" y="1196712"/>
              <a:ext cx="166023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Catholic</a:t>
              </a:r>
            </a:p>
          </p:txBody>
        </p:sp>
        <p:sp>
          <p:nvSpPr>
            <p:cNvPr id="6" name="TextBox 5">
              <a:extLst>
                <a:ext uri="{FF2B5EF4-FFF2-40B4-BE49-F238E27FC236}">
                  <a16:creationId xmlns:a16="http://schemas.microsoft.com/office/drawing/2014/main" id="{386BED5A-3AB5-87BE-3D32-0E556B9E50DD}"/>
                </a:ext>
              </a:extLst>
            </p:cNvPr>
            <p:cNvSpPr txBox="1"/>
            <p:nvPr/>
          </p:nvSpPr>
          <p:spPr>
            <a:xfrm>
              <a:off x="3610411" y="1827933"/>
              <a:ext cx="2485589" cy="1015663"/>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Roman Catholic</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Reformed Catholic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nvGrpSpPr>
          <p:cNvPr id="14" name="Group 13">
            <a:extLst>
              <a:ext uri="{FF2B5EF4-FFF2-40B4-BE49-F238E27FC236}">
                <a16:creationId xmlns:a16="http://schemas.microsoft.com/office/drawing/2014/main" id="{77038111-FE0E-4D94-61B8-B24B2A7DD04D}"/>
              </a:ext>
            </a:extLst>
          </p:cNvPr>
          <p:cNvGrpSpPr/>
          <p:nvPr/>
        </p:nvGrpSpPr>
        <p:grpSpPr>
          <a:xfrm>
            <a:off x="8104813" y="1310253"/>
            <a:ext cx="3771472" cy="2092880"/>
            <a:chOff x="3954694" y="3868531"/>
            <a:chExt cx="3771472" cy="2092880"/>
          </a:xfrm>
        </p:grpSpPr>
        <p:sp>
          <p:nvSpPr>
            <p:cNvPr id="7" name="TextBox 6">
              <a:extLst>
                <a:ext uri="{FF2B5EF4-FFF2-40B4-BE49-F238E27FC236}">
                  <a16:creationId xmlns:a16="http://schemas.microsoft.com/office/drawing/2014/main" id="{7EEA9E57-0027-77D0-551F-3D900BB1CCBF}"/>
                </a:ext>
              </a:extLst>
            </p:cNvPr>
            <p:cNvSpPr txBox="1"/>
            <p:nvPr/>
          </p:nvSpPr>
          <p:spPr>
            <a:xfrm>
              <a:off x="4124218" y="3868531"/>
              <a:ext cx="343242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Latter-day saints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(formerly Mormons)</a:t>
              </a:r>
            </a:p>
          </p:txBody>
        </p:sp>
        <p:sp>
          <p:nvSpPr>
            <p:cNvPr id="10" name="TextBox 9">
              <a:extLst>
                <a:ext uri="{FF2B5EF4-FFF2-40B4-BE49-F238E27FC236}">
                  <a16:creationId xmlns:a16="http://schemas.microsoft.com/office/drawing/2014/main" id="{54AA0FB1-59FF-3E90-A5CE-68B6FD96A022}"/>
                </a:ext>
              </a:extLst>
            </p:cNvPr>
            <p:cNvSpPr txBox="1"/>
            <p:nvPr/>
          </p:nvSpPr>
          <p:spPr>
            <a:xfrm>
              <a:off x="3954694" y="4637972"/>
              <a:ext cx="3771472" cy="132343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Church of Jesus Christ of Latter-day Saints (CJCLDS)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Community of Christ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Church of Jesus Christ</a:t>
              </a:r>
            </a:p>
          </p:txBody>
        </p:sp>
      </p:grpSp>
      <p:grpSp>
        <p:nvGrpSpPr>
          <p:cNvPr id="12" name="Group 11">
            <a:extLst>
              <a:ext uri="{FF2B5EF4-FFF2-40B4-BE49-F238E27FC236}">
                <a16:creationId xmlns:a16="http://schemas.microsoft.com/office/drawing/2014/main" id="{8BD28DFC-1045-7C46-3026-3C3740FCBFB0}"/>
              </a:ext>
            </a:extLst>
          </p:cNvPr>
          <p:cNvGrpSpPr/>
          <p:nvPr/>
        </p:nvGrpSpPr>
        <p:grpSpPr>
          <a:xfrm>
            <a:off x="2833100" y="1365810"/>
            <a:ext cx="2866313" cy="1292661"/>
            <a:chOff x="4220675" y="1312087"/>
            <a:chExt cx="2866313" cy="1292661"/>
          </a:xfrm>
        </p:grpSpPr>
        <p:sp>
          <p:nvSpPr>
            <p:cNvPr id="11" name="TextBox 10">
              <a:extLst>
                <a:ext uri="{FF2B5EF4-FFF2-40B4-BE49-F238E27FC236}">
                  <a16:creationId xmlns:a16="http://schemas.microsoft.com/office/drawing/2014/main" id="{29D00BBF-AE8F-BB44-EF6E-DBA3814237D6}"/>
                </a:ext>
              </a:extLst>
            </p:cNvPr>
            <p:cNvSpPr txBox="1"/>
            <p:nvPr/>
          </p:nvSpPr>
          <p:spPr>
            <a:xfrm>
              <a:off x="4220675" y="1312087"/>
              <a:ext cx="286631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Orthodox</a:t>
              </a:r>
            </a:p>
          </p:txBody>
        </p:sp>
        <p:sp>
          <p:nvSpPr>
            <p:cNvPr id="13" name="TextBox 12">
              <a:extLst>
                <a:ext uri="{FF2B5EF4-FFF2-40B4-BE49-F238E27FC236}">
                  <a16:creationId xmlns:a16="http://schemas.microsoft.com/office/drawing/2014/main" id="{F2B3F568-482A-1D63-D844-B3B3B66D25C5}"/>
                </a:ext>
              </a:extLst>
            </p:cNvPr>
            <p:cNvSpPr txBox="1"/>
            <p:nvPr/>
          </p:nvSpPr>
          <p:spPr>
            <a:xfrm>
              <a:off x="4411036" y="1958417"/>
              <a:ext cx="2485589" cy="64633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Eastern Orthodox</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Oriental Orthodox</a:t>
              </a:r>
            </a:p>
          </p:txBody>
        </p:sp>
      </p:grpSp>
      <p:sp>
        <p:nvSpPr>
          <p:cNvPr id="16" name="TextBox 15">
            <a:extLst>
              <a:ext uri="{FF2B5EF4-FFF2-40B4-BE49-F238E27FC236}">
                <a16:creationId xmlns:a16="http://schemas.microsoft.com/office/drawing/2014/main" id="{61C82D81-28CF-F805-4B66-4A3C8CADBB00}"/>
              </a:ext>
            </a:extLst>
          </p:cNvPr>
          <p:cNvSpPr txBox="1"/>
          <p:nvPr/>
        </p:nvSpPr>
        <p:spPr>
          <a:xfrm>
            <a:off x="403365" y="5453569"/>
            <a:ext cx="11660460"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00"/>
                </a:solidFill>
                <a:effectLst/>
                <a:uLnTx/>
                <a:uFillTx/>
                <a:latin typeface="Calibri" panose="020F0502020204030204"/>
                <a:ea typeface="+mn-ea"/>
                <a:cs typeface="+mn-cs"/>
              </a:rPr>
              <a:t>Evolution acceptance for Christians is not denomination specific but depends on how literally one reads the story of Genesis in the Bible. </a:t>
            </a:r>
          </a:p>
        </p:txBody>
      </p:sp>
      <p:grpSp>
        <p:nvGrpSpPr>
          <p:cNvPr id="18" name="Group 17">
            <a:extLst>
              <a:ext uri="{FF2B5EF4-FFF2-40B4-BE49-F238E27FC236}">
                <a16:creationId xmlns:a16="http://schemas.microsoft.com/office/drawing/2014/main" id="{0C7A9938-7292-4237-B76A-B3EAFD51CB12}"/>
              </a:ext>
            </a:extLst>
          </p:cNvPr>
          <p:cNvGrpSpPr/>
          <p:nvPr/>
        </p:nvGrpSpPr>
        <p:grpSpPr>
          <a:xfrm>
            <a:off x="977742" y="3447335"/>
            <a:ext cx="3566878" cy="1292661"/>
            <a:chOff x="4220675" y="1312087"/>
            <a:chExt cx="2866313" cy="1292661"/>
          </a:xfrm>
        </p:grpSpPr>
        <p:sp>
          <p:nvSpPr>
            <p:cNvPr id="19" name="TextBox 18">
              <a:extLst>
                <a:ext uri="{FF2B5EF4-FFF2-40B4-BE49-F238E27FC236}">
                  <a16:creationId xmlns:a16="http://schemas.microsoft.com/office/drawing/2014/main" id="{F7BB7C91-A3E6-BD48-D6B0-8441ABD91A20}"/>
                </a:ext>
              </a:extLst>
            </p:cNvPr>
            <p:cNvSpPr txBox="1"/>
            <p:nvPr/>
          </p:nvSpPr>
          <p:spPr>
            <a:xfrm>
              <a:off x="4220675" y="1312087"/>
              <a:ext cx="2866313"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Non-denominational</a:t>
              </a:r>
            </a:p>
          </p:txBody>
        </p:sp>
        <p:sp>
          <p:nvSpPr>
            <p:cNvPr id="20" name="TextBox 19">
              <a:extLst>
                <a:ext uri="{FF2B5EF4-FFF2-40B4-BE49-F238E27FC236}">
                  <a16:creationId xmlns:a16="http://schemas.microsoft.com/office/drawing/2014/main" id="{577FAC60-C0A6-14F0-B208-DE47763DAD12}"/>
                </a:ext>
              </a:extLst>
            </p:cNvPr>
            <p:cNvSpPr txBox="1"/>
            <p:nvPr/>
          </p:nvSpPr>
          <p:spPr>
            <a:xfrm>
              <a:off x="4411036" y="1958417"/>
              <a:ext cx="2675952" cy="64633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Doesn’t subscribe to separation of denominations</a:t>
              </a:r>
            </a:p>
          </p:txBody>
        </p:sp>
      </p:grpSp>
    </p:spTree>
    <p:extLst>
      <p:ext uri="{BB962C8B-B14F-4D97-AF65-F5344CB8AC3E}">
        <p14:creationId xmlns:p14="http://schemas.microsoft.com/office/powerpoint/2010/main" val="85027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221848" y="599535"/>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Catholic Church</a:t>
            </a:r>
          </a:p>
        </p:txBody>
      </p:sp>
      <p:sp>
        <p:nvSpPr>
          <p:cNvPr id="4" name="TextBox 3">
            <a:extLst>
              <a:ext uri="{FF2B5EF4-FFF2-40B4-BE49-F238E27FC236}">
                <a16:creationId xmlns:a16="http://schemas.microsoft.com/office/drawing/2014/main" id="{C9069197-9BC9-212F-41AA-5E8E9F2542F3}"/>
              </a:ext>
            </a:extLst>
          </p:cNvPr>
          <p:cNvSpPr txBox="1"/>
          <p:nvPr/>
        </p:nvSpPr>
        <p:spPr>
          <a:xfrm>
            <a:off x="4368336" y="1527751"/>
            <a:ext cx="7370322" cy="280076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1" u="none" strike="noStrike" kern="1200" cap="none" spc="0" normalizeH="0" baseline="0" noProof="0" dirty="0">
                <a:ln>
                  <a:noFill/>
                </a:ln>
                <a:solidFill>
                  <a:prstClr val="white">
                    <a:lumMod val="95000"/>
                  </a:prstClr>
                </a:solidFill>
                <a:effectLst/>
                <a:uLnTx/>
                <a:uFillTx/>
                <a:latin typeface="open sans" panose="020B0606030504020204" pitchFamily="34" charset="0"/>
                <a:ea typeface="+mn-ea"/>
                <a:cs typeface="+mn-cs"/>
              </a:rPr>
              <a:t>“When we read about Creation in Genesis, we run the risk of imagining God was a magician, with a magic wand able to do everything. But that is not so…God is not a magician, but the Creator who brought everything to life,”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1" u="none" strike="noStrike" kern="1200" cap="none" spc="0" normalizeH="0" baseline="0" noProof="0" dirty="0">
              <a:ln>
                <a:noFill/>
              </a:ln>
              <a:solidFill>
                <a:prstClr val="white">
                  <a:lumMod val="95000"/>
                </a:prstClr>
              </a:solidFill>
              <a:effectLst/>
              <a:uLnTx/>
              <a:uFillTx/>
              <a:latin typeface="open sans" panose="020B0606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1" u="none" strike="noStrike" kern="1200" cap="none" spc="0" normalizeH="0" baseline="0" noProof="0" dirty="0">
                <a:ln>
                  <a:noFill/>
                </a:ln>
                <a:solidFill>
                  <a:prstClr val="white">
                    <a:lumMod val="95000"/>
                  </a:prstClr>
                </a:solidFill>
                <a:effectLst/>
                <a:uLnTx/>
                <a:uFillTx/>
                <a:latin typeface="open sans" panose="020B0606030504020204" pitchFamily="34" charset="0"/>
                <a:ea typeface="+mn-ea"/>
                <a:cs typeface="+mn-cs"/>
              </a:rPr>
              <a:t>“Evolution in nature is not inconsistent with the notion of creation, because evolution requires the creation of beings that evolve.”</a:t>
            </a:r>
          </a:p>
        </p:txBody>
      </p:sp>
      <p:pic>
        <p:nvPicPr>
          <p:cNvPr id="3" name="Picture 2">
            <a:extLst>
              <a:ext uri="{FF2B5EF4-FFF2-40B4-BE49-F238E27FC236}">
                <a16:creationId xmlns:a16="http://schemas.microsoft.com/office/drawing/2014/main" id="{98F5DD5A-230B-6315-560A-D7BE06C31707}"/>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1202076" y="1654140"/>
            <a:ext cx="2894069" cy="2547991"/>
          </a:xfrm>
          <a:prstGeom prst="rect">
            <a:avLst/>
          </a:prstGeom>
        </p:spPr>
      </p:pic>
      <p:sp>
        <p:nvSpPr>
          <p:cNvPr id="6" name="TextBox 5">
            <a:extLst>
              <a:ext uri="{FF2B5EF4-FFF2-40B4-BE49-F238E27FC236}">
                <a16:creationId xmlns:a16="http://schemas.microsoft.com/office/drawing/2014/main" id="{64DEC3CA-D9B9-D648-AE4D-79C936FF041F}"/>
              </a:ext>
            </a:extLst>
          </p:cNvPr>
          <p:cNvSpPr txBox="1"/>
          <p:nvPr/>
        </p:nvSpPr>
        <p:spPr>
          <a:xfrm>
            <a:off x="1569431" y="4441128"/>
            <a:ext cx="18711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Pope Francis</a:t>
            </a:r>
          </a:p>
        </p:txBody>
      </p:sp>
      <p:pic>
        <p:nvPicPr>
          <p:cNvPr id="7" name="Picture 6">
            <a:extLst>
              <a:ext uri="{FF2B5EF4-FFF2-40B4-BE49-F238E27FC236}">
                <a16:creationId xmlns:a16="http://schemas.microsoft.com/office/drawing/2014/main" id="{4359691F-A209-AD2B-D08E-9C16918A0463}"/>
              </a:ext>
            </a:extLst>
          </p:cNvPr>
          <p:cNvPicPr>
            <a:picLocks noChangeAspect="1"/>
          </p:cNvPicPr>
          <p:nvPr/>
        </p:nvPicPr>
        <p:blipFill rotWithShape="1">
          <a:blip r:embed="rId4" cstate="hqprint">
            <a:lum bright="70000" contrast="-70000"/>
            <a:extLst>
              <a:ext uri="{28A0092B-C50C-407E-A947-70E740481C1C}">
                <a14:useLocalDpi xmlns:a14="http://schemas.microsoft.com/office/drawing/2010/main" val="0"/>
              </a:ext>
            </a:extLst>
          </a:blip>
          <a:srcRect l="24839" t="12006" r="24768" b="23977"/>
          <a:stretch/>
        </p:blipFill>
        <p:spPr>
          <a:xfrm>
            <a:off x="6663095" y="4202131"/>
            <a:ext cx="1917233" cy="1893785"/>
          </a:xfrm>
          <a:prstGeom prst="rect">
            <a:avLst/>
          </a:prstGeom>
        </p:spPr>
      </p:pic>
      <p:sp>
        <p:nvSpPr>
          <p:cNvPr id="8" name="TextBox 7">
            <a:extLst>
              <a:ext uri="{FF2B5EF4-FFF2-40B4-BE49-F238E27FC236}">
                <a16:creationId xmlns:a16="http://schemas.microsoft.com/office/drawing/2014/main" id="{F49EFCF8-68E7-E85E-DB92-0073081F8542}"/>
              </a:ext>
            </a:extLst>
          </p:cNvPr>
          <p:cNvSpPr txBox="1"/>
          <p:nvPr/>
        </p:nvSpPr>
        <p:spPr>
          <a:xfrm>
            <a:off x="7276245" y="6095916"/>
            <a:ext cx="690932" cy="30777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All Life</a:t>
            </a:r>
          </a:p>
        </p:txBody>
      </p:sp>
    </p:spTree>
    <p:extLst>
      <p:ext uri="{BB962C8B-B14F-4D97-AF65-F5344CB8AC3E}">
        <p14:creationId xmlns:p14="http://schemas.microsoft.com/office/powerpoint/2010/main" val="164389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170478" y="537890"/>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Theodosius Dobzhansky, Christian, Evolutionary Biologist </a:t>
            </a:r>
          </a:p>
        </p:txBody>
      </p:sp>
      <p:pic>
        <p:nvPicPr>
          <p:cNvPr id="17" name="Picture 16">
            <a:extLst>
              <a:ext uri="{FF2B5EF4-FFF2-40B4-BE49-F238E27FC236}">
                <a16:creationId xmlns:a16="http://schemas.microsoft.com/office/drawing/2014/main" id="{D1D8DE44-978F-BED4-2FDF-8FC6F2642FEA}"/>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513045" y="1880171"/>
            <a:ext cx="4403572" cy="2683000"/>
          </a:xfrm>
          <a:prstGeom prst="rect">
            <a:avLst/>
          </a:prstGeom>
          <a:ln w="38100">
            <a:solidFill>
              <a:schemeClr val="tx1"/>
            </a:solidFill>
          </a:ln>
        </p:spPr>
      </p:pic>
      <p:sp>
        <p:nvSpPr>
          <p:cNvPr id="32" name="TextBox 31">
            <a:extLst>
              <a:ext uri="{FF2B5EF4-FFF2-40B4-BE49-F238E27FC236}">
                <a16:creationId xmlns:a16="http://schemas.microsoft.com/office/drawing/2014/main" id="{8626F0BD-4106-4E66-F14A-21D3A6ACEDAF}"/>
              </a:ext>
            </a:extLst>
          </p:cNvPr>
          <p:cNvSpPr txBox="1"/>
          <p:nvPr/>
        </p:nvSpPr>
        <p:spPr>
          <a:xfrm>
            <a:off x="5529874" y="2206008"/>
            <a:ext cx="5617587"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 am a creationist and an evolutionist. Evolution is God's, or Nature's, method of creation. Creation is not an event that happened in 4004 BC; it is a process that began billions of years ago and is still under way”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“Does the evolutionary doctrine clash with religious faith? It does not.”</a:t>
            </a:r>
          </a:p>
        </p:txBody>
      </p:sp>
    </p:spTree>
    <p:extLst>
      <p:ext uri="{BB962C8B-B14F-4D97-AF65-F5344CB8AC3E}">
        <p14:creationId xmlns:p14="http://schemas.microsoft.com/office/powerpoint/2010/main" val="3771498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373503"/>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Joseph Graves, Christian, Evolutionary Biologist</a:t>
            </a:r>
          </a:p>
        </p:txBody>
      </p:sp>
      <p:sp>
        <p:nvSpPr>
          <p:cNvPr id="6" name="TextBox 5">
            <a:extLst>
              <a:ext uri="{FF2B5EF4-FFF2-40B4-BE49-F238E27FC236}">
                <a16:creationId xmlns:a16="http://schemas.microsoft.com/office/drawing/2014/main" id="{A9373229-B15B-294F-D65C-19F0C85BEED2}"/>
              </a:ext>
            </a:extLst>
          </p:cNvPr>
          <p:cNvSpPr txBox="1"/>
          <p:nvPr/>
        </p:nvSpPr>
        <p:spPr>
          <a:xfrm>
            <a:off x="4232430" y="2057336"/>
            <a:ext cx="6339678" cy="30469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Professor of Biological Sciences at North Carolina Agricultural and Technical State University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Has contributed greatly to the evolutionary science of ageing.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Discusses how his faith and evolution do not conflict when he teaches evolution.</a:t>
            </a:r>
          </a:p>
        </p:txBody>
      </p:sp>
      <p:pic>
        <p:nvPicPr>
          <p:cNvPr id="2" name="Picture 1">
            <a:extLst>
              <a:ext uri="{FF2B5EF4-FFF2-40B4-BE49-F238E27FC236}">
                <a16:creationId xmlns:a16="http://schemas.microsoft.com/office/drawing/2014/main" id="{5F65885A-3640-33CC-51EF-5C1DEBF6C1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615" y="1510301"/>
            <a:ext cx="3105945" cy="4348323"/>
          </a:xfrm>
          <a:prstGeom prst="rect">
            <a:avLst/>
          </a:prstGeom>
        </p:spPr>
      </p:pic>
    </p:spTree>
    <p:extLst>
      <p:ext uri="{BB962C8B-B14F-4D97-AF65-F5344CB8AC3E}">
        <p14:creationId xmlns:p14="http://schemas.microsoft.com/office/powerpoint/2010/main" val="26206381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373503"/>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Francis Collins, Evangelical Christian, Physician - Geneticist</a:t>
            </a:r>
          </a:p>
        </p:txBody>
      </p:sp>
      <p:pic>
        <p:nvPicPr>
          <p:cNvPr id="2" name="Picture 1">
            <a:extLst>
              <a:ext uri="{FF2B5EF4-FFF2-40B4-BE49-F238E27FC236}">
                <a16:creationId xmlns:a16="http://schemas.microsoft.com/office/drawing/2014/main" id="{1FF43387-DB2E-2B7C-19AE-9EB963E19F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406" y="1601484"/>
            <a:ext cx="2743829" cy="3429000"/>
          </a:xfrm>
          <a:prstGeom prst="rect">
            <a:avLst/>
          </a:prstGeom>
        </p:spPr>
      </p:pic>
      <p:sp>
        <p:nvSpPr>
          <p:cNvPr id="9" name="TextBox 8">
            <a:extLst>
              <a:ext uri="{FF2B5EF4-FFF2-40B4-BE49-F238E27FC236}">
                <a16:creationId xmlns:a16="http://schemas.microsoft.com/office/drawing/2014/main" id="{99B600AF-6F14-195C-BB66-B8383F5000E0}"/>
              </a:ext>
            </a:extLst>
          </p:cNvPr>
          <p:cNvSpPr txBox="1"/>
          <p:nvPr/>
        </p:nvSpPr>
        <p:spPr>
          <a:xfrm>
            <a:off x="3747272" y="1601484"/>
            <a:ext cx="4893294"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Served under three presidents as the Director of the National Institutes of Health  (NIH) 2009 - 2021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Director of the first project to map the human genome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Founder of </a:t>
            </a:r>
            <a:r>
              <a:rPr kumimoji="0" lang="en-US" sz="24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BioLogos</a:t>
            </a: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an organization promoting that Christianity can be reconciled with acceptance of evolution and science.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8" name="Picture 7">
            <a:extLst>
              <a:ext uri="{FF2B5EF4-FFF2-40B4-BE49-F238E27FC236}">
                <a16:creationId xmlns:a16="http://schemas.microsoft.com/office/drawing/2014/main" id="{3A53A75A-95B0-E4E8-275E-6EDFD986F9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94538" y="1242369"/>
            <a:ext cx="3159867" cy="4883430"/>
          </a:xfrm>
          <a:prstGeom prst="rect">
            <a:avLst/>
          </a:prstGeom>
        </p:spPr>
      </p:pic>
    </p:spTree>
    <p:extLst>
      <p:ext uri="{BB962C8B-B14F-4D97-AF65-F5344CB8AC3E}">
        <p14:creationId xmlns:p14="http://schemas.microsoft.com/office/powerpoint/2010/main" val="753657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373503"/>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Fatimah Jackson, Muslim, Anthropologist</a:t>
            </a:r>
          </a:p>
        </p:txBody>
      </p:sp>
      <p:pic>
        <p:nvPicPr>
          <p:cNvPr id="5" name="Picture 4">
            <a:extLst>
              <a:ext uri="{FF2B5EF4-FFF2-40B4-BE49-F238E27FC236}">
                <a16:creationId xmlns:a16="http://schemas.microsoft.com/office/drawing/2014/main" id="{B5AA2AD5-7F00-939D-E61D-9FB7F8D66D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9830" y="1564915"/>
            <a:ext cx="2760959" cy="3315536"/>
          </a:xfrm>
          <a:prstGeom prst="rect">
            <a:avLst/>
          </a:prstGeom>
        </p:spPr>
      </p:pic>
      <p:sp>
        <p:nvSpPr>
          <p:cNvPr id="4" name="TextBox 3">
            <a:extLst>
              <a:ext uri="{FF2B5EF4-FFF2-40B4-BE49-F238E27FC236}">
                <a16:creationId xmlns:a16="http://schemas.microsoft.com/office/drawing/2014/main" id="{77EC116D-1AB5-5C0A-E8CE-683121F22BE9}"/>
              </a:ext>
            </a:extLst>
          </p:cNvPr>
          <p:cNvSpPr txBox="1"/>
          <p:nvPr/>
        </p:nvSpPr>
        <p:spPr>
          <a:xfrm>
            <a:off x="4294074" y="1966317"/>
            <a:ext cx="7305449"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Professor of Biological Sciences at Howard University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Studies human and plant co-evolution.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Was awarded the 2020 Charles Darwin lifetime achievement award for her work in evolutionary biology. </a:t>
            </a:r>
          </a:p>
        </p:txBody>
      </p:sp>
      <p:pic>
        <p:nvPicPr>
          <p:cNvPr id="2" name="Picture 1">
            <a:extLst>
              <a:ext uri="{FF2B5EF4-FFF2-40B4-BE49-F238E27FC236}">
                <a16:creationId xmlns:a16="http://schemas.microsoft.com/office/drawing/2014/main" id="{D34844E9-8F7C-1712-4BA7-6A2243EA3C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4656" y="4733480"/>
            <a:ext cx="4308939" cy="1633609"/>
          </a:xfrm>
          <a:prstGeom prst="rect">
            <a:avLst/>
          </a:prstGeom>
        </p:spPr>
      </p:pic>
    </p:spTree>
    <p:extLst>
      <p:ext uri="{BB962C8B-B14F-4D97-AF65-F5344CB8AC3E}">
        <p14:creationId xmlns:p14="http://schemas.microsoft.com/office/powerpoint/2010/main" val="2859229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440072"/>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So, what is the evidence for evolution?</a:t>
            </a:r>
          </a:p>
        </p:txBody>
      </p:sp>
      <p:sp>
        <p:nvSpPr>
          <p:cNvPr id="3" name="TextBox 2">
            <a:extLst>
              <a:ext uri="{FF2B5EF4-FFF2-40B4-BE49-F238E27FC236}">
                <a16:creationId xmlns:a16="http://schemas.microsoft.com/office/drawing/2014/main" id="{E6A4C397-F3BA-133F-9229-B8159DC5CC14}"/>
              </a:ext>
            </a:extLst>
          </p:cNvPr>
          <p:cNvSpPr txBox="1"/>
          <p:nvPr/>
        </p:nvSpPr>
        <p:spPr>
          <a:xfrm>
            <a:off x="2443275" y="2233445"/>
            <a:ext cx="7305449" cy="267765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Fossil Record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Similarities Between Organisms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Biogeography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Direct Observations</a:t>
            </a:r>
          </a:p>
        </p:txBody>
      </p:sp>
    </p:spTree>
    <p:extLst>
      <p:ext uri="{BB962C8B-B14F-4D97-AF65-F5344CB8AC3E}">
        <p14:creationId xmlns:p14="http://schemas.microsoft.com/office/powerpoint/2010/main" val="16370069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0EA85C9-C70F-3B48-F806-7A7FBCE1C0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5830" y="1345915"/>
            <a:ext cx="3348025" cy="5039474"/>
          </a:xfrm>
          <a:prstGeom prst="rect">
            <a:avLst/>
          </a:prstGeom>
        </p:spPr>
      </p:pic>
      <p:sp>
        <p:nvSpPr>
          <p:cNvPr id="57" name="TextBox 56">
            <a:extLst>
              <a:ext uri="{FF2B5EF4-FFF2-40B4-BE49-F238E27FC236}">
                <a16:creationId xmlns:a16="http://schemas.microsoft.com/office/drawing/2014/main" id="{E3BD3418-E3E1-C8E5-BFCE-092366272F4B}"/>
              </a:ext>
            </a:extLst>
          </p:cNvPr>
          <p:cNvSpPr txBox="1"/>
          <p:nvPr/>
        </p:nvSpPr>
        <p:spPr>
          <a:xfrm>
            <a:off x="567045" y="288734"/>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fossil record shows life is not the same now as in the past</a:t>
            </a:r>
          </a:p>
        </p:txBody>
      </p:sp>
      <p:pic>
        <p:nvPicPr>
          <p:cNvPr id="4" name="Picture 3">
            <a:extLst>
              <a:ext uri="{FF2B5EF4-FFF2-40B4-BE49-F238E27FC236}">
                <a16:creationId xmlns:a16="http://schemas.microsoft.com/office/drawing/2014/main" id="{7232088E-9555-03DE-E5B2-F2DB8DDBB5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595" y="926344"/>
            <a:ext cx="1885563" cy="2502656"/>
          </a:xfrm>
          <a:prstGeom prst="rect">
            <a:avLst/>
          </a:prstGeom>
        </p:spPr>
      </p:pic>
      <p:pic>
        <p:nvPicPr>
          <p:cNvPr id="5" name="Picture 4">
            <a:extLst>
              <a:ext uri="{FF2B5EF4-FFF2-40B4-BE49-F238E27FC236}">
                <a16:creationId xmlns:a16="http://schemas.microsoft.com/office/drawing/2014/main" id="{5F60ABD9-455C-BFFD-9306-025B49AA6C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95460" y="4175855"/>
            <a:ext cx="3452687" cy="2302915"/>
          </a:xfrm>
          <a:prstGeom prst="rect">
            <a:avLst/>
          </a:prstGeom>
        </p:spPr>
      </p:pic>
      <p:pic>
        <p:nvPicPr>
          <p:cNvPr id="6" name="Picture 5">
            <a:extLst>
              <a:ext uri="{FF2B5EF4-FFF2-40B4-BE49-F238E27FC236}">
                <a16:creationId xmlns:a16="http://schemas.microsoft.com/office/drawing/2014/main" id="{DA5660C8-C707-5B42-CDB7-45D879E36C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1344" y="4296041"/>
            <a:ext cx="3358044" cy="2182729"/>
          </a:xfrm>
          <a:prstGeom prst="rect">
            <a:avLst/>
          </a:prstGeom>
        </p:spPr>
      </p:pic>
      <p:pic>
        <p:nvPicPr>
          <p:cNvPr id="7" name="Picture 6">
            <a:extLst>
              <a:ext uri="{FF2B5EF4-FFF2-40B4-BE49-F238E27FC236}">
                <a16:creationId xmlns:a16="http://schemas.microsoft.com/office/drawing/2014/main" id="{D7BF38A5-1744-3E66-A010-A69AA220F5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56171" y="1475701"/>
            <a:ext cx="3547803" cy="2182730"/>
          </a:xfrm>
          <a:prstGeom prst="rect">
            <a:avLst/>
          </a:prstGeom>
        </p:spPr>
      </p:pic>
      <p:sp>
        <p:nvSpPr>
          <p:cNvPr id="8" name="Rectangle 7">
            <a:extLst>
              <a:ext uri="{FF2B5EF4-FFF2-40B4-BE49-F238E27FC236}">
                <a16:creationId xmlns:a16="http://schemas.microsoft.com/office/drawing/2014/main" id="{B8894BBC-1109-003F-73FF-943E2D880D4E}"/>
              </a:ext>
            </a:extLst>
          </p:cNvPr>
          <p:cNvSpPr/>
          <p:nvPr/>
        </p:nvSpPr>
        <p:spPr>
          <a:xfrm>
            <a:off x="54680" y="3366043"/>
            <a:ext cx="2248326"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Pterosaur fossil</a:t>
            </a:r>
          </a:p>
        </p:txBody>
      </p:sp>
      <p:sp>
        <p:nvSpPr>
          <p:cNvPr id="10" name="Rectangle 9">
            <a:extLst>
              <a:ext uri="{FF2B5EF4-FFF2-40B4-BE49-F238E27FC236}">
                <a16:creationId xmlns:a16="http://schemas.microsoft.com/office/drawing/2014/main" id="{BA70AD87-8418-2648-2BFE-FAB2AF3000B1}"/>
              </a:ext>
            </a:extLst>
          </p:cNvPr>
          <p:cNvSpPr/>
          <p:nvPr/>
        </p:nvSpPr>
        <p:spPr>
          <a:xfrm>
            <a:off x="1119520" y="6379729"/>
            <a:ext cx="2248326"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Therapod fossil</a:t>
            </a:r>
          </a:p>
        </p:txBody>
      </p:sp>
      <p:sp>
        <p:nvSpPr>
          <p:cNvPr id="11" name="Rectangle 10">
            <a:extLst>
              <a:ext uri="{FF2B5EF4-FFF2-40B4-BE49-F238E27FC236}">
                <a16:creationId xmlns:a16="http://schemas.microsoft.com/office/drawing/2014/main" id="{86BD3666-51E3-C2F8-7A1D-560595A05107}"/>
              </a:ext>
            </a:extLst>
          </p:cNvPr>
          <p:cNvSpPr/>
          <p:nvPr/>
        </p:nvSpPr>
        <p:spPr>
          <a:xfrm>
            <a:off x="5397640" y="6363245"/>
            <a:ext cx="2248326"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Spinosaurus fossil</a:t>
            </a:r>
          </a:p>
        </p:txBody>
      </p:sp>
      <p:sp>
        <p:nvSpPr>
          <p:cNvPr id="12" name="Rectangle 11">
            <a:extLst>
              <a:ext uri="{FF2B5EF4-FFF2-40B4-BE49-F238E27FC236}">
                <a16:creationId xmlns:a16="http://schemas.microsoft.com/office/drawing/2014/main" id="{C8670A31-ED8A-91FF-EF6D-C827237ED93D}"/>
              </a:ext>
            </a:extLst>
          </p:cNvPr>
          <p:cNvSpPr/>
          <p:nvPr/>
        </p:nvSpPr>
        <p:spPr>
          <a:xfrm>
            <a:off x="9285679" y="6273020"/>
            <a:ext cx="2248326"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Hominid fossil</a:t>
            </a:r>
          </a:p>
        </p:txBody>
      </p:sp>
      <p:sp>
        <p:nvSpPr>
          <p:cNvPr id="13" name="Rectangle 12">
            <a:extLst>
              <a:ext uri="{FF2B5EF4-FFF2-40B4-BE49-F238E27FC236}">
                <a16:creationId xmlns:a16="http://schemas.microsoft.com/office/drawing/2014/main" id="{9FD44FF0-E7A6-3DF3-7935-E24D58ABB4A9}"/>
              </a:ext>
            </a:extLst>
          </p:cNvPr>
          <p:cNvSpPr/>
          <p:nvPr/>
        </p:nvSpPr>
        <p:spPr>
          <a:xfrm>
            <a:off x="3996340" y="3538654"/>
            <a:ext cx="2248326"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Tricepratops</a:t>
            </a:r>
            <a:r>
              <a:rPr kumimoji="0" lang="en-US" sz="20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fossil</a:t>
            </a:r>
          </a:p>
        </p:txBody>
      </p:sp>
      <p:sp>
        <p:nvSpPr>
          <p:cNvPr id="14" name="TextBox 13">
            <a:extLst>
              <a:ext uri="{FF2B5EF4-FFF2-40B4-BE49-F238E27FC236}">
                <a16:creationId xmlns:a16="http://schemas.microsoft.com/office/drawing/2014/main" id="{8DE143D4-D509-C4CC-1CD5-579F8231009F}"/>
              </a:ext>
            </a:extLst>
          </p:cNvPr>
          <p:cNvSpPr txBox="1"/>
          <p:nvPr/>
        </p:nvSpPr>
        <p:spPr>
          <a:xfrm>
            <a:off x="567045" y="275406"/>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fossil record shows </a:t>
            </a:r>
            <a:r>
              <a:rPr kumimoji="0" lang="en-US" sz="3200" b="1" i="0" u="none" strike="noStrike" kern="1200" cap="none" spc="0" normalizeH="0" baseline="0" noProof="0" dirty="0">
                <a:ln>
                  <a:noFill/>
                </a:ln>
                <a:solidFill>
                  <a:srgbClr val="FFFF00"/>
                </a:solidFill>
                <a:effectLst/>
                <a:uLnTx/>
                <a:uFillTx/>
                <a:latin typeface="Calibri" panose="020F0502020204030204" pitchFamily="34" charset="0"/>
                <a:ea typeface="+mn-ea"/>
                <a:cs typeface="Calibri" panose="020F0502020204030204" pitchFamily="34" charset="0"/>
              </a:rPr>
              <a:t>life is not the same now as in the past</a:t>
            </a:r>
          </a:p>
        </p:txBody>
      </p:sp>
    </p:spTree>
    <p:extLst>
      <p:ext uri="{BB962C8B-B14F-4D97-AF65-F5344CB8AC3E}">
        <p14:creationId xmlns:p14="http://schemas.microsoft.com/office/powerpoint/2010/main" val="340927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EFA5A1-2C84-B3B5-6D32-957641988A55}"/>
              </a:ext>
            </a:extLst>
          </p:cNvPr>
          <p:cNvSpPr txBox="1"/>
          <p:nvPr/>
        </p:nvSpPr>
        <p:spPr>
          <a:xfrm>
            <a:off x="337595" y="373503"/>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Fossils appear in patterns that show species changing through time</a:t>
            </a:r>
          </a:p>
        </p:txBody>
      </p:sp>
      <p:sp>
        <p:nvSpPr>
          <p:cNvPr id="4" name="Rectangle 3">
            <a:extLst>
              <a:ext uri="{FF2B5EF4-FFF2-40B4-BE49-F238E27FC236}">
                <a16:creationId xmlns:a16="http://schemas.microsoft.com/office/drawing/2014/main" id="{48F10D87-3AE7-A87F-2CC9-E8420531D548}"/>
              </a:ext>
            </a:extLst>
          </p:cNvPr>
          <p:cNvSpPr/>
          <p:nvPr/>
        </p:nvSpPr>
        <p:spPr>
          <a:xfrm>
            <a:off x="232774" y="4151649"/>
            <a:ext cx="3762616" cy="19880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Each layer was deposited at a different time period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Older layers tend to be further down at the bottom</a:t>
            </a:r>
          </a:p>
        </p:txBody>
      </p:sp>
      <p:pic>
        <p:nvPicPr>
          <p:cNvPr id="5" name="Picture 4">
            <a:extLst>
              <a:ext uri="{FF2B5EF4-FFF2-40B4-BE49-F238E27FC236}">
                <a16:creationId xmlns:a16="http://schemas.microsoft.com/office/drawing/2014/main" id="{CFD66EFE-F88B-E466-A2E6-D23C203DE74D}"/>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364611" y="1238455"/>
            <a:ext cx="3630779" cy="2897311"/>
          </a:xfrm>
          <a:prstGeom prst="rect">
            <a:avLst/>
          </a:prstGeom>
          <a:ln w="57150">
            <a:solidFill>
              <a:schemeClr val="bg1"/>
            </a:solidFill>
          </a:ln>
        </p:spPr>
      </p:pic>
      <p:pic>
        <p:nvPicPr>
          <p:cNvPr id="9" name="Picture 8">
            <a:extLst>
              <a:ext uri="{FF2B5EF4-FFF2-40B4-BE49-F238E27FC236}">
                <a16:creationId xmlns:a16="http://schemas.microsoft.com/office/drawing/2014/main" id="{EEFE9ADF-B835-53AB-01E2-5F3CC11581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4725" y="1200819"/>
            <a:ext cx="3524663" cy="3944855"/>
          </a:xfrm>
          <a:prstGeom prst="rect">
            <a:avLst/>
          </a:prstGeom>
          <a:ln w="57150">
            <a:solidFill>
              <a:schemeClr val="bg1"/>
            </a:solidFill>
          </a:ln>
        </p:spPr>
      </p:pic>
      <p:sp>
        <p:nvSpPr>
          <p:cNvPr id="10" name="Rectangle 9">
            <a:extLst>
              <a:ext uri="{FF2B5EF4-FFF2-40B4-BE49-F238E27FC236}">
                <a16:creationId xmlns:a16="http://schemas.microsoft.com/office/drawing/2014/main" id="{ED54C867-9A13-D1D9-13F6-D17A799158CB}"/>
              </a:ext>
            </a:extLst>
          </p:cNvPr>
          <p:cNvSpPr/>
          <p:nvPr/>
        </p:nvSpPr>
        <p:spPr>
          <a:xfrm>
            <a:off x="8579592" y="5393850"/>
            <a:ext cx="3485933" cy="1176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patterns of fossils found in the layers match the pattern of the evolutionary tree of life</a:t>
            </a:r>
          </a:p>
        </p:txBody>
      </p:sp>
      <p:pic>
        <p:nvPicPr>
          <p:cNvPr id="1026" name="Picture 2" descr="Horse evolution">
            <a:extLst>
              <a:ext uri="{FF2B5EF4-FFF2-40B4-BE49-F238E27FC236}">
                <a16:creationId xmlns:a16="http://schemas.microsoft.com/office/drawing/2014/main" id="{D9847A35-E4D2-3ACD-DA43-35161C8B7734}"/>
              </a:ext>
            </a:extLst>
          </p:cNvPr>
          <p:cNvPicPr>
            <a:picLocks noChangeAspect="1" noChangeArrowheads="1"/>
          </p:cNvPicPr>
          <p:nvPr/>
        </p:nvPicPr>
        <p:blipFill rotWithShape="1">
          <a:blip r:embed="rId5" cstate="hqprint">
            <a:extLst>
              <a:ext uri="{28A0092B-C50C-407E-A947-70E740481C1C}">
                <a14:useLocalDpi xmlns:a14="http://schemas.microsoft.com/office/drawing/2010/main" val="0"/>
              </a:ext>
            </a:extLst>
          </a:blip>
          <a:srcRect/>
          <a:stretch/>
        </p:blipFill>
        <p:spPr bwMode="auto">
          <a:xfrm>
            <a:off x="4796527" y="1095141"/>
            <a:ext cx="2528411" cy="4618794"/>
          </a:xfrm>
          <a:prstGeom prst="rect">
            <a:avLst/>
          </a:prstGeom>
          <a:noFill/>
          <a:ln w="57150">
            <a:solidFill>
              <a:schemeClr val="bg1"/>
            </a:solidFill>
          </a:ln>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86271C68-356A-FF63-A938-92164D0AB05D}"/>
              </a:ext>
            </a:extLst>
          </p:cNvPr>
          <p:cNvSpPr/>
          <p:nvPr/>
        </p:nvSpPr>
        <p:spPr>
          <a:xfrm>
            <a:off x="3731606" y="5713935"/>
            <a:ext cx="4993241" cy="1176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We can see the fossils gradually change between the layers</a:t>
            </a:r>
          </a:p>
        </p:txBody>
      </p:sp>
    </p:spTree>
    <p:extLst>
      <p:ext uri="{BB962C8B-B14F-4D97-AF65-F5344CB8AC3E}">
        <p14:creationId xmlns:p14="http://schemas.microsoft.com/office/powerpoint/2010/main" val="217814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467491"/>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Similarities between organisms</a:t>
            </a:r>
          </a:p>
        </p:txBody>
      </p:sp>
      <p:pic>
        <p:nvPicPr>
          <p:cNvPr id="3" name="Picture 2">
            <a:extLst>
              <a:ext uri="{FF2B5EF4-FFF2-40B4-BE49-F238E27FC236}">
                <a16:creationId xmlns:a16="http://schemas.microsoft.com/office/drawing/2014/main" id="{32C3E105-BD08-5649-B1C9-820E13F6865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7155" y="2326119"/>
            <a:ext cx="5395996" cy="2348433"/>
          </a:xfrm>
          <a:prstGeom prst="rect">
            <a:avLst/>
          </a:prstGeom>
        </p:spPr>
      </p:pic>
      <p:sp>
        <p:nvSpPr>
          <p:cNvPr id="4" name="Rectangle 3">
            <a:extLst>
              <a:ext uri="{FF2B5EF4-FFF2-40B4-BE49-F238E27FC236}">
                <a16:creationId xmlns:a16="http://schemas.microsoft.com/office/drawing/2014/main" id="{C65DB068-5AEA-C0DB-D5B1-0673C700E7AD}"/>
              </a:ext>
            </a:extLst>
          </p:cNvPr>
          <p:cNvSpPr/>
          <p:nvPr/>
        </p:nvSpPr>
        <p:spPr>
          <a:xfrm>
            <a:off x="667155" y="4694666"/>
            <a:ext cx="2611088"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 rex </a:t>
            </a: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foot</a:t>
            </a:r>
          </a:p>
        </p:txBody>
      </p:sp>
      <p:sp>
        <p:nvSpPr>
          <p:cNvPr id="5" name="Rectangle 4">
            <a:extLst>
              <a:ext uri="{FF2B5EF4-FFF2-40B4-BE49-F238E27FC236}">
                <a16:creationId xmlns:a16="http://schemas.microsoft.com/office/drawing/2014/main" id="{09E32B90-BF89-D97A-09FB-C4756C62AF70}"/>
              </a:ext>
            </a:extLst>
          </p:cNvPr>
          <p:cNvSpPr/>
          <p:nvPr/>
        </p:nvSpPr>
        <p:spPr>
          <a:xfrm>
            <a:off x="2795969" y="4674552"/>
            <a:ext cx="3423569"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Emu Foot</a:t>
            </a:r>
          </a:p>
        </p:txBody>
      </p:sp>
      <p:sp>
        <p:nvSpPr>
          <p:cNvPr id="6" name="TextBox 5">
            <a:extLst>
              <a:ext uri="{FF2B5EF4-FFF2-40B4-BE49-F238E27FC236}">
                <a16:creationId xmlns:a16="http://schemas.microsoft.com/office/drawing/2014/main" id="{0AFBD2AD-4EF2-611F-885D-A3B4B7472B12}"/>
              </a:ext>
            </a:extLst>
          </p:cNvPr>
          <p:cNvSpPr txBox="1"/>
          <p:nvPr/>
        </p:nvSpPr>
        <p:spPr>
          <a:xfrm>
            <a:off x="9238072" y="4817776"/>
            <a:ext cx="235224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Bonobo &amp; child</a:t>
            </a:r>
          </a:p>
        </p:txBody>
      </p:sp>
      <p:pic>
        <p:nvPicPr>
          <p:cNvPr id="7" name="Picture 6">
            <a:extLst>
              <a:ext uri="{FF2B5EF4-FFF2-40B4-BE49-F238E27FC236}">
                <a16:creationId xmlns:a16="http://schemas.microsoft.com/office/drawing/2014/main" id="{3487F68C-8BEC-DD6A-655B-045F00F81967}"/>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a:stretch/>
        </p:blipFill>
        <p:spPr>
          <a:xfrm>
            <a:off x="6970462" y="1699086"/>
            <a:ext cx="1863958" cy="2434664"/>
          </a:xfrm>
          <a:prstGeom prst="rect">
            <a:avLst/>
          </a:prstGeom>
        </p:spPr>
      </p:pic>
      <p:sp>
        <p:nvSpPr>
          <p:cNvPr id="8" name="TextBox 7">
            <a:extLst>
              <a:ext uri="{FF2B5EF4-FFF2-40B4-BE49-F238E27FC236}">
                <a16:creationId xmlns:a16="http://schemas.microsoft.com/office/drawing/2014/main" id="{272E9E56-0D17-EB8C-82A4-8E0136DBECB1}"/>
              </a:ext>
            </a:extLst>
          </p:cNvPr>
          <p:cNvSpPr txBox="1"/>
          <p:nvPr/>
        </p:nvSpPr>
        <p:spPr>
          <a:xfrm>
            <a:off x="6922604" y="4069713"/>
            <a:ext cx="211615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 &amp; child</a:t>
            </a:r>
          </a:p>
        </p:txBody>
      </p:sp>
      <p:pic>
        <p:nvPicPr>
          <p:cNvPr id="9" name="Picture 8">
            <a:extLst>
              <a:ext uri="{FF2B5EF4-FFF2-40B4-BE49-F238E27FC236}">
                <a16:creationId xmlns:a16="http://schemas.microsoft.com/office/drawing/2014/main" id="{596696A6-1745-9415-2700-F462A3DE5B92}"/>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a:stretch/>
        </p:blipFill>
        <p:spPr>
          <a:xfrm>
            <a:off x="9319106" y="1637041"/>
            <a:ext cx="1977625" cy="3180735"/>
          </a:xfrm>
          <a:prstGeom prst="rect">
            <a:avLst/>
          </a:prstGeom>
        </p:spPr>
      </p:pic>
    </p:spTree>
    <p:extLst>
      <p:ext uri="{BB962C8B-B14F-4D97-AF65-F5344CB8AC3E}">
        <p14:creationId xmlns:p14="http://schemas.microsoft.com/office/powerpoint/2010/main" val="380559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373503"/>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Similarities between organisms</a:t>
            </a:r>
          </a:p>
        </p:txBody>
      </p:sp>
      <p:pic>
        <p:nvPicPr>
          <p:cNvPr id="10" name="Picture 9">
            <a:extLst>
              <a:ext uri="{FF2B5EF4-FFF2-40B4-BE49-F238E27FC236}">
                <a16:creationId xmlns:a16="http://schemas.microsoft.com/office/drawing/2014/main" id="{D6A4F9BF-1854-EE04-6F7B-A7A3440F7141}"/>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337249" y="1108325"/>
            <a:ext cx="897545" cy="2439838"/>
          </a:xfrm>
          <a:prstGeom prst="rect">
            <a:avLst/>
          </a:prstGeom>
        </p:spPr>
      </p:pic>
      <p:pic>
        <p:nvPicPr>
          <p:cNvPr id="11" name="Picture 10" descr="Chimpanzee speaking">
            <a:extLst>
              <a:ext uri="{FF2B5EF4-FFF2-40B4-BE49-F238E27FC236}">
                <a16:creationId xmlns:a16="http://schemas.microsoft.com/office/drawing/2014/main" id="{9BE07FC7-2A79-E745-5BA4-DF66F33505C3}"/>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468573" y="1381470"/>
            <a:ext cx="1493169" cy="1100191"/>
          </a:xfrm>
          <a:prstGeom prst="rect">
            <a:avLst/>
          </a:prstGeom>
        </p:spPr>
      </p:pic>
      <p:pic>
        <p:nvPicPr>
          <p:cNvPr id="12" name="Picture 11" descr="The mouse inside transparent cube looking up">
            <a:extLst>
              <a:ext uri="{FF2B5EF4-FFF2-40B4-BE49-F238E27FC236}">
                <a16:creationId xmlns:a16="http://schemas.microsoft.com/office/drawing/2014/main" id="{C8035AA9-9B19-5C65-11B8-58705C0EDCE2}"/>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a:stretch/>
        </p:blipFill>
        <p:spPr>
          <a:xfrm>
            <a:off x="1543691" y="3337973"/>
            <a:ext cx="1184286" cy="1102086"/>
          </a:xfrm>
          <a:prstGeom prst="rect">
            <a:avLst/>
          </a:prstGeom>
        </p:spPr>
      </p:pic>
      <p:pic>
        <p:nvPicPr>
          <p:cNvPr id="13" name="Picture 12" descr="A yellow banana in yellow background">
            <a:extLst>
              <a:ext uri="{FF2B5EF4-FFF2-40B4-BE49-F238E27FC236}">
                <a16:creationId xmlns:a16="http://schemas.microsoft.com/office/drawing/2014/main" id="{D3C14ABC-A821-4489-CD1F-691AAE6ED5A6}"/>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a:stretch/>
        </p:blipFill>
        <p:spPr>
          <a:xfrm>
            <a:off x="1477431" y="5369559"/>
            <a:ext cx="1537851" cy="947117"/>
          </a:xfrm>
          <a:prstGeom prst="rect">
            <a:avLst/>
          </a:prstGeom>
        </p:spPr>
      </p:pic>
      <p:sp>
        <p:nvSpPr>
          <p:cNvPr id="18" name="TextBox 17">
            <a:extLst>
              <a:ext uri="{FF2B5EF4-FFF2-40B4-BE49-F238E27FC236}">
                <a16:creationId xmlns:a16="http://schemas.microsoft.com/office/drawing/2014/main" id="{32BCEC4F-AA2F-B585-8C90-C870DE203B8A}"/>
              </a:ext>
            </a:extLst>
          </p:cNvPr>
          <p:cNvSpPr txBox="1"/>
          <p:nvPr/>
        </p:nvSpPr>
        <p:spPr>
          <a:xfrm>
            <a:off x="1079308" y="2973803"/>
            <a:ext cx="215142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humans &amp; mice</a:t>
            </a:r>
          </a:p>
        </p:txBody>
      </p:sp>
      <p:sp>
        <p:nvSpPr>
          <p:cNvPr id="19" name="TextBox 18">
            <a:extLst>
              <a:ext uri="{FF2B5EF4-FFF2-40B4-BE49-F238E27FC236}">
                <a16:creationId xmlns:a16="http://schemas.microsoft.com/office/drawing/2014/main" id="{22D39247-0419-2413-40CB-68F7EBDFAFE4}"/>
              </a:ext>
            </a:extLst>
          </p:cNvPr>
          <p:cNvSpPr txBox="1"/>
          <p:nvPr/>
        </p:nvSpPr>
        <p:spPr>
          <a:xfrm>
            <a:off x="1153782" y="4414215"/>
            <a:ext cx="1896871"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~70% similar DNA</a:t>
            </a:r>
          </a:p>
        </p:txBody>
      </p:sp>
      <p:sp>
        <p:nvSpPr>
          <p:cNvPr id="20" name="TextBox 19">
            <a:extLst>
              <a:ext uri="{FF2B5EF4-FFF2-40B4-BE49-F238E27FC236}">
                <a16:creationId xmlns:a16="http://schemas.microsoft.com/office/drawing/2014/main" id="{165BF30D-FC9E-5BBF-68B1-2416FB0F2D7F}"/>
              </a:ext>
            </a:extLst>
          </p:cNvPr>
          <p:cNvSpPr txBox="1"/>
          <p:nvPr/>
        </p:nvSpPr>
        <p:spPr>
          <a:xfrm>
            <a:off x="1240538" y="2427181"/>
            <a:ext cx="1896871"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~96% similar DNA</a:t>
            </a:r>
          </a:p>
        </p:txBody>
      </p:sp>
      <p:sp>
        <p:nvSpPr>
          <p:cNvPr id="21" name="TextBox 20">
            <a:extLst>
              <a:ext uri="{FF2B5EF4-FFF2-40B4-BE49-F238E27FC236}">
                <a16:creationId xmlns:a16="http://schemas.microsoft.com/office/drawing/2014/main" id="{3714D9B9-239B-5915-AD2E-1917A1FEBD35}"/>
              </a:ext>
            </a:extLst>
          </p:cNvPr>
          <p:cNvSpPr txBox="1"/>
          <p:nvPr/>
        </p:nvSpPr>
        <p:spPr>
          <a:xfrm>
            <a:off x="1170643" y="4985714"/>
            <a:ext cx="215142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humans &amp; bananas</a:t>
            </a:r>
          </a:p>
        </p:txBody>
      </p:sp>
      <p:sp>
        <p:nvSpPr>
          <p:cNvPr id="22" name="TextBox 21">
            <a:extLst>
              <a:ext uri="{FF2B5EF4-FFF2-40B4-BE49-F238E27FC236}">
                <a16:creationId xmlns:a16="http://schemas.microsoft.com/office/drawing/2014/main" id="{C233906A-FCD7-D0F3-0AD2-89FE7478DAB1}"/>
              </a:ext>
            </a:extLst>
          </p:cNvPr>
          <p:cNvSpPr txBox="1"/>
          <p:nvPr/>
        </p:nvSpPr>
        <p:spPr>
          <a:xfrm>
            <a:off x="1297920" y="6298271"/>
            <a:ext cx="1896871"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~60% similar DNA</a:t>
            </a:r>
          </a:p>
        </p:txBody>
      </p:sp>
      <p:sp>
        <p:nvSpPr>
          <p:cNvPr id="23" name="TextBox 22">
            <a:extLst>
              <a:ext uri="{FF2B5EF4-FFF2-40B4-BE49-F238E27FC236}">
                <a16:creationId xmlns:a16="http://schemas.microsoft.com/office/drawing/2014/main" id="{FC504D2E-B98B-B85D-88D4-314FD880074E}"/>
              </a:ext>
            </a:extLst>
          </p:cNvPr>
          <p:cNvSpPr txBox="1"/>
          <p:nvPr/>
        </p:nvSpPr>
        <p:spPr>
          <a:xfrm>
            <a:off x="962728" y="960925"/>
            <a:ext cx="2556957"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humans &amp; chimps</a:t>
            </a:r>
          </a:p>
        </p:txBody>
      </p:sp>
      <p:pic>
        <p:nvPicPr>
          <p:cNvPr id="25" name="Picture 24">
            <a:extLst>
              <a:ext uri="{FF2B5EF4-FFF2-40B4-BE49-F238E27FC236}">
                <a16:creationId xmlns:a16="http://schemas.microsoft.com/office/drawing/2014/main" id="{7AAD7742-2B95-4E11-A21C-293EB340E0F6}"/>
              </a:ext>
            </a:extLst>
          </p:cNvPr>
          <p:cNvPicPr>
            <a:picLocks noChangeAspect="1"/>
          </p:cNvPicPr>
          <p:nvPr/>
        </p:nvPicPr>
        <p:blipFill rotWithShape="1">
          <a:blip r:embed="rId7" cstate="hqprint">
            <a:extLst>
              <a:ext uri="{28A0092B-C50C-407E-A947-70E740481C1C}">
                <a14:useLocalDpi xmlns:a14="http://schemas.microsoft.com/office/drawing/2010/main" val="0"/>
              </a:ext>
            </a:extLst>
          </a:blip>
          <a:srcRect/>
          <a:stretch/>
        </p:blipFill>
        <p:spPr>
          <a:xfrm>
            <a:off x="3862782" y="2320660"/>
            <a:ext cx="7726467" cy="3075679"/>
          </a:xfrm>
          <a:prstGeom prst="rect">
            <a:avLst/>
          </a:prstGeom>
        </p:spPr>
      </p:pic>
      <p:pic>
        <p:nvPicPr>
          <p:cNvPr id="27" name="Picture 26">
            <a:extLst>
              <a:ext uri="{FF2B5EF4-FFF2-40B4-BE49-F238E27FC236}">
                <a16:creationId xmlns:a16="http://schemas.microsoft.com/office/drawing/2014/main" id="{2507BBFC-CEFD-7F75-546E-70CF29BBA8B0}"/>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309128" y="3893211"/>
            <a:ext cx="897545" cy="2439838"/>
          </a:xfrm>
          <a:prstGeom prst="rect">
            <a:avLst/>
          </a:prstGeom>
        </p:spPr>
      </p:pic>
    </p:spTree>
    <p:extLst>
      <p:ext uri="{BB962C8B-B14F-4D97-AF65-F5344CB8AC3E}">
        <p14:creationId xmlns:p14="http://schemas.microsoft.com/office/powerpoint/2010/main" val="349807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373503"/>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Biogeography</a:t>
            </a:r>
          </a:p>
        </p:txBody>
      </p:sp>
      <p:pic>
        <p:nvPicPr>
          <p:cNvPr id="4" name="Picture 3">
            <a:extLst>
              <a:ext uri="{FF2B5EF4-FFF2-40B4-BE49-F238E27FC236}">
                <a16:creationId xmlns:a16="http://schemas.microsoft.com/office/drawing/2014/main" id="{E02174DB-43B8-6964-A85E-45CBB58FA8EE}"/>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3306625" y="2546696"/>
            <a:ext cx="5344987" cy="3198712"/>
          </a:xfrm>
          <a:prstGeom prst="rect">
            <a:avLst/>
          </a:prstGeom>
        </p:spPr>
      </p:pic>
      <p:cxnSp>
        <p:nvCxnSpPr>
          <p:cNvPr id="17" name="Straight Arrow Connector 16">
            <a:extLst>
              <a:ext uri="{FF2B5EF4-FFF2-40B4-BE49-F238E27FC236}">
                <a16:creationId xmlns:a16="http://schemas.microsoft.com/office/drawing/2014/main" id="{40A5A0F5-82B5-6A40-0EEA-23D6C5968B2F}"/>
              </a:ext>
            </a:extLst>
          </p:cNvPr>
          <p:cNvCxnSpPr>
            <a:cxnSpLocks/>
            <a:stCxn id="5" idx="1"/>
          </p:cNvCxnSpPr>
          <p:nvPr/>
        </p:nvCxnSpPr>
        <p:spPr>
          <a:xfrm flipH="1">
            <a:off x="7832191" y="2316534"/>
            <a:ext cx="900930" cy="222493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5C85D94E-B858-C8AE-17EF-3CD14C20DD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33121" y="4280050"/>
            <a:ext cx="3194701" cy="2066572"/>
          </a:xfrm>
          <a:prstGeom prst="rect">
            <a:avLst/>
          </a:prstGeom>
        </p:spPr>
      </p:pic>
      <p:pic>
        <p:nvPicPr>
          <p:cNvPr id="5" name="Picture 4">
            <a:extLst>
              <a:ext uri="{FF2B5EF4-FFF2-40B4-BE49-F238E27FC236}">
                <a16:creationId xmlns:a16="http://schemas.microsoft.com/office/drawing/2014/main" id="{E81BAB2E-5227-A41B-56E3-EDBC509DA3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33121" y="903195"/>
            <a:ext cx="2826678" cy="2826678"/>
          </a:xfrm>
          <a:prstGeom prst="rect">
            <a:avLst/>
          </a:prstGeom>
        </p:spPr>
      </p:pic>
      <p:sp>
        <p:nvSpPr>
          <p:cNvPr id="15" name="TextBox 14">
            <a:extLst>
              <a:ext uri="{FF2B5EF4-FFF2-40B4-BE49-F238E27FC236}">
                <a16:creationId xmlns:a16="http://schemas.microsoft.com/office/drawing/2014/main" id="{C7584772-B69B-3DD9-592E-2EB031BD6EF2}"/>
              </a:ext>
            </a:extLst>
          </p:cNvPr>
          <p:cNvSpPr txBox="1"/>
          <p:nvPr/>
        </p:nvSpPr>
        <p:spPr>
          <a:xfrm>
            <a:off x="8449407" y="3729873"/>
            <a:ext cx="3394105"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Juvenile Koala in mother’s pouch</a:t>
            </a:r>
          </a:p>
        </p:txBody>
      </p:sp>
      <p:sp>
        <p:nvSpPr>
          <p:cNvPr id="18" name="TextBox 17">
            <a:extLst>
              <a:ext uri="{FF2B5EF4-FFF2-40B4-BE49-F238E27FC236}">
                <a16:creationId xmlns:a16="http://schemas.microsoft.com/office/drawing/2014/main" id="{672C3EC1-1E4E-4E5F-E8A3-058F15CFAE75}"/>
              </a:ext>
            </a:extLst>
          </p:cNvPr>
          <p:cNvSpPr txBox="1"/>
          <p:nvPr/>
        </p:nvSpPr>
        <p:spPr>
          <a:xfrm>
            <a:off x="8336111" y="6302288"/>
            <a:ext cx="3900912"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Juvenile kangaroo in mother’s pouch</a:t>
            </a:r>
          </a:p>
        </p:txBody>
      </p:sp>
      <p:cxnSp>
        <p:nvCxnSpPr>
          <p:cNvPr id="19" name="Straight Arrow Connector 18">
            <a:extLst>
              <a:ext uri="{FF2B5EF4-FFF2-40B4-BE49-F238E27FC236}">
                <a16:creationId xmlns:a16="http://schemas.microsoft.com/office/drawing/2014/main" id="{80072570-E255-0ED5-C898-8F54E1E456F2}"/>
              </a:ext>
            </a:extLst>
          </p:cNvPr>
          <p:cNvCxnSpPr>
            <a:cxnSpLocks/>
            <a:stCxn id="16" idx="1"/>
          </p:cNvCxnSpPr>
          <p:nvPr/>
        </p:nvCxnSpPr>
        <p:spPr>
          <a:xfrm flipH="1" flipV="1">
            <a:off x="7749997" y="4726131"/>
            <a:ext cx="983124" cy="587205"/>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CE8AAB1D-3080-C0F8-854E-407290E6D840}"/>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893183" y="4967731"/>
            <a:ext cx="2071273" cy="1379986"/>
          </a:xfrm>
          <a:prstGeom prst="rect">
            <a:avLst/>
          </a:prstGeom>
        </p:spPr>
      </p:pic>
      <p:cxnSp>
        <p:nvCxnSpPr>
          <p:cNvPr id="39" name="Straight Arrow Connector 38">
            <a:extLst>
              <a:ext uri="{FF2B5EF4-FFF2-40B4-BE49-F238E27FC236}">
                <a16:creationId xmlns:a16="http://schemas.microsoft.com/office/drawing/2014/main" id="{6EF0D74C-A887-C487-3D76-B9AF9CB30999}"/>
              </a:ext>
            </a:extLst>
          </p:cNvPr>
          <p:cNvCxnSpPr>
            <a:cxnSpLocks/>
            <a:stCxn id="37" idx="3"/>
          </p:cNvCxnSpPr>
          <p:nvPr/>
        </p:nvCxnSpPr>
        <p:spPr>
          <a:xfrm flipV="1">
            <a:off x="3964456" y="4433725"/>
            <a:ext cx="792479" cy="1223999"/>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CEBFF6D3-C6B8-6039-1FDB-FA5972A17F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2658" y="2979376"/>
            <a:ext cx="2160077" cy="1411815"/>
          </a:xfrm>
          <a:prstGeom prst="rect">
            <a:avLst/>
          </a:prstGeom>
        </p:spPr>
      </p:pic>
      <p:pic>
        <p:nvPicPr>
          <p:cNvPr id="42" name="Picture 41">
            <a:extLst>
              <a:ext uri="{FF2B5EF4-FFF2-40B4-BE49-F238E27FC236}">
                <a16:creationId xmlns:a16="http://schemas.microsoft.com/office/drawing/2014/main" id="{329DA475-29BA-20AC-7B49-3B6151D77D1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79357" y="1037452"/>
            <a:ext cx="1921482" cy="1441112"/>
          </a:xfrm>
          <a:prstGeom prst="rect">
            <a:avLst/>
          </a:prstGeom>
        </p:spPr>
      </p:pic>
      <p:sp>
        <p:nvSpPr>
          <p:cNvPr id="50" name="TextBox 49">
            <a:extLst>
              <a:ext uri="{FF2B5EF4-FFF2-40B4-BE49-F238E27FC236}">
                <a16:creationId xmlns:a16="http://schemas.microsoft.com/office/drawing/2014/main" id="{5AAF8995-B8BC-542D-488B-7E6771147FFA}"/>
              </a:ext>
            </a:extLst>
          </p:cNvPr>
          <p:cNvSpPr txBox="1"/>
          <p:nvPr/>
        </p:nvSpPr>
        <p:spPr>
          <a:xfrm>
            <a:off x="2261085" y="2429129"/>
            <a:ext cx="2304353" cy="64633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Panda cubs and mother</a:t>
            </a:r>
          </a:p>
        </p:txBody>
      </p:sp>
      <p:sp>
        <p:nvSpPr>
          <p:cNvPr id="51" name="TextBox 50">
            <a:extLst>
              <a:ext uri="{FF2B5EF4-FFF2-40B4-BE49-F238E27FC236}">
                <a16:creationId xmlns:a16="http://schemas.microsoft.com/office/drawing/2014/main" id="{834FB34F-10D0-BE4C-06CC-1A7919A92C22}"/>
              </a:ext>
            </a:extLst>
          </p:cNvPr>
          <p:cNvSpPr txBox="1"/>
          <p:nvPr/>
        </p:nvSpPr>
        <p:spPr>
          <a:xfrm>
            <a:off x="549769" y="4342286"/>
            <a:ext cx="2377685" cy="36933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Lion cubs and mother</a:t>
            </a:r>
          </a:p>
        </p:txBody>
      </p:sp>
      <p:sp>
        <p:nvSpPr>
          <p:cNvPr id="52" name="TextBox 51">
            <a:extLst>
              <a:ext uri="{FF2B5EF4-FFF2-40B4-BE49-F238E27FC236}">
                <a16:creationId xmlns:a16="http://schemas.microsoft.com/office/drawing/2014/main" id="{C24376A9-1D4F-1719-D342-E5CBABD27E12}"/>
              </a:ext>
            </a:extLst>
          </p:cNvPr>
          <p:cNvSpPr txBox="1"/>
          <p:nvPr/>
        </p:nvSpPr>
        <p:spPr>
          <a:xfrm>
            <a:off x="1563588" y="6401053"/>
            <a:ext cx="2730462"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Infant monkey and mother</a:t>
            </a:r>
          </a:p>
        </p:txBody>
      </p:sp>
      <p:cxnSp>
        <p:nvCxnSpPr>
          <p:cNvPr id="58" name="Straight Arrow Connector 57">
            <a:extLst>
              <a:ext uri="{FF2B5EF4-FFF2-40B4-BE49-F238E27FC236}">
                <a16:creationId xmlns:a16="http://schemas.microsoft.com/office/drawing/2014/main" id="{0E9EA8E7-471C-D5A7-3765-D20150348D2D}"/>
              </a:ext>
            </a:extLst>
          </p:cNvPr>
          <p:cNvCxnSpPr>
            <a:cxnSpLocks/>
            <a:stCxn id="41" idx="3"/>
          </p:cNvCxnSpPr>
          <p:nvPr/>
        </p:nvCxnSpPr>
        <p:spPr>
          <a:xfrm flipV="1">
            <a:off x="2842735" y="3441748"/>
            <a:ext cx="1413442" cy="243536"/>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E354472-B585-D9D3-3454-97F90F9C8CBE}"/>
              </a:ext>
            </a:extLst>
          </p:cNvPr>
          <p:cNvCxnSpPr>
            <a:cxnSpLocks/>
          </p:cNvCxnSpPr>
          <p:nvPr/>
        </p:nvCxnSpPr>
        <p:spPr>
          <a:xfrm>
            <a:off x="4500839" y="1679997"/>
            <a:ext cx="1860335" cy="1313643"/>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97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50" grpId="0"/>
      <p:bldP spid="51" grpId="0"/>
      <p:bldP spid="5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337595" y="373503"/>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Biogeography is explained by evolution</a:t>
            </a:r>
          </a:p>
        </p:txBody>
      </p:sp>
      <p:pic>
        <p:nvPicPr>
          <p:cNvPr id="20" name="Picture 19">
            <a:extLst>
              <a:ext uri="{FF2B5EF4-FFF2-40B4-BE49-F238E27FC236}">
                <a16:creationId xmlns:a16="http://schemas.microsoft.com/office/drawing/2014/main" id="{D51BFB10-23EF-3E8C-C4CF-37D99864D6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1734" y="1333073"/>
            <a:ext cx="7667773" cy="4589710"/>
          </a:xfrm>
          <a:prstGeom prst="rect">
            <a:avLst/>
          </a:prstGeom>
        </p:spPr>
      </p:pic>
      <p:cxnSp>
        <p:nvCxnSpPr>
          <p:cNvPr id="27" name="Straight Arrow Connector 26">
            <a:extLst>
              <a:ext uri="{FF2B5EF4-FFF2-40B4-BE49-F238E27FC236}">
                <a16:creationId xmlns:a16="http://schemas.microsoft.com/office/drawing/2014/main" id="{811CD902-90A8-BFC5-6D71-E3D7C1D31AB0}"/>
              </a:ext>
            </a:extLst>
          </p:cNvPr>
          <p:cNvCxnSpPr>
            <a:cxnSpLocks/>
          </p:cNvCxnSpPr>
          <p:nvPr/>
        </p:nvCxnSpPr>
        <p:spPr>
          <a:xfrm flipH="1">
            <a:off x="9205645" y="2361343"/>
            <a:ext cx="1446944"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23E5B84-1685-4735-CA92-6DD003024DD0}"/>
              </a:ext>
            </a:extLst>
          </p:cNvPr>
          <p:cNvSpPr txBox="1"/>
          <p:nvPr/>
        </p:nvSpPr>
        <p:spPr>
          <a:xfrm>
            <a:off x="9929117" y="2361343"/>
            <a:ext cx="1896871" cy="1477328"/>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Marsupials appear in the fossil record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and are found across the Earth</a:t>
            </a:r>
          </a:p>
        </p:txBody>
      </p:sp>
      <p:cxnSp>
        <p:nvCxnSpPr>
          <p:cNvPr id="30" name="Straight Arrow Connector 29">
            <a:extLst>
              <a:ext uri="{FF2B5EF4-FFF2-40B4-BE49-F238E27FC236}">
                <a16:creationId xmlns:a16="http://schemas.microsoft.com/office/drawing/2014/main" id="{48BD0448-E88E-6B8D-F777-A65FE9BBEC85}"/>
              </a:ext>
            </a:extLst>
          </p:cNvPr>
          <p:cNvCxnSpPr>
            <a:cxnSpLocks/>
          </p:cNvCxnSpPr>
          <p:nvPr/>
        </p:nvCxnSpPr>
        <p:spPr>
          <a:xfrm>
            <a:off x="2071531" y="4691864"/>
            <a:ext cx="1210425"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3CBC61E-9DAB-2ED9-03C9-F34DD474732E}"/>
              </a:ext>
            </a:extLst>
          </p:cNvPr>
          <p:cNvSpPr txBox="1"/>
          <p:nvPr/>
        </p:nvSpPr>
        <p:spPr>
          <a:xfrm>
            <a:off x="174660" y="3429000"/>
            <a:ext cx="1896871" cy="2831544"/>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Placental mammals appear in the fossil record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They spread and are found across the Earth</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Marsupial fossils simultaneously decline</a:t>
            </a:r>
          </a:p>
        </p:txBody>
      </p:sp>
      <p:sp>
        <p:nvSpPr>
          <p:cNvPr id="35" name="TextBox 34">
            <a:extLst>
              <a:ext uri="{FF2B5EF4-FFF2-40B4-BE49-F238E27FC236}">
                <a16:creationId xmlns:a16="http://schemas.microsoft.com/office/drawing/2014/main" id="{2D544A2F-80F3-045C-180A-1E9823B1FCCC}"/>
              </a:ext>
            </a:extLst>
          </p:cNvPr>
          <p:cNvSpPr txBox="1"/>
          <p:nvPr/>
        </p:nvSpPr>
        <p:spPr>
          <a:xfrm>
            <a:off x="10179710" y="4142063"/>
            <a:ext cx="1896871" cy="1477328"/>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Marsupials persist and evolve only where placental mammals could not migrate</a:t>
            </a:r>
          </a:p>
        </p:txBody>
      </p:sp>
      <p:cxnSp>
        <p:nvCxnSpPr>
          <p:cNvPr id="36" name="Straight Arrow Connector 35">
            <a:extLst>
              <a:ext uri="{FF2B5EF4-FFF2-40B4-BE49-F238E27FC236}">
                <a16:creationId xmlns:a16="http://schemas.microsoft.com/office/drawing/2014/main" id="{811CFDA8-00E4-AC91-EF0C-0B80D02209EC}"/>
              </a:ext>
            </a:extLst>
          </p:cNvPr>
          <p:cNvCxnSpPr>
            <a:cxnSpLocks/>
            <a:stCxn id="35" idx="1"/>
          </p:cNvCxnSpPr>
          <p:nvPr/>
        </p:nvCxnSpPr>
        <p:spPr>
          <a:xfrm flipH="1">
            <a:off x="9534418" y="4880727"/>
            <a:ext cx="645292" cy="8169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55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3" grpId="0"/>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675190" y="269236"/>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Direct observations of evolution</a:t>
            </a:r>
          </a:p>
        </p:txBody>
      </p:sp>
      <p:pic>
        <p:nvPicPr>
          <p:cNvPr id="3" name="Picture 2">
            <a:extLst>
              <a:ext uri="{FF2B5EF4-FFF2-40B4-BE49-F238E27FC236}">
                <a16:creationId xmlns:a16="http://schemas.microsoft.com/office/drawing/2014/main" id="{8E18C8F5-AD8A-7D4D-F1F1-AE8B30648E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096" y="2510872"/>
            <a:ext cx="4148999" cy="2929110"/>
          </a:xfrm>
          <a:prstGeom prst="rect">
            <a:avLst/>
          </a:prstGeom>
          <a:ln w="76200">
            <a:solidFill>
              <a:schemeClr val="bg1"/>
            </a:solidFill>
          </a:ln>
        </p:spPr>
      </p:pic>
      <p:pic>
        <p:nvPicPr>
          <p:cNvPr id="4" name="Picture 3">
            <a:extLst>
              <a:ext uri="{FF2B5EF4-FFF2-40B4-BE49-F238E27FC236}">
                <a16:creationId xmlns:a16="http://schemas.microsoft.com/office/drawing/2014/main" id="{4BED2519-A862-CCC1-5C4B-5B685C547EB1}"/>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t="3572"/>
          <a:stretch/>
        </p:blipFill>
        <p:spPr>
          <a:xfrm>
            <a:off x="5437973" y="1745935"/>
            <a:ext cx="5301385" cy="2229492"/>
          </a:xfrm>
          <a:prstGeom prst="rect">
            <a:avLst/>
          </a:prstGeom>
        </p:spPr>
      </p:pic>
      <p:pic>
        <p:nvPicPr>
          <p:cNvPr id="5" name="Picture 4">
            <a:extLst>
              <a:ext uri="{FF2B5EF4-FFF2-40B4-BE49-F238E27FC236}">
                <a16:creationId xmlns:a16="http://schemas.microsoft.com/office/drawing/2014/main" id="{F865ADD7-ECF8-99A2-262A-69B1CADDF9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06980" y="4496995"/>
            <a:ext cx="3620924" cy="2091769"/>
          </a:xfrm>
          <a:prstGeom prst="rect">
            <a:avLst/>
          </a:prstGeom>
        </p:spPr>
      </p:pic>
      <p:sp>
        <p:nvSpPr>
          <p:cNvPr id="7" name="TextBox 6">
            <a:extLst>
              <a:ext uri="{FF2B5EF4-FFF2-40B4-BE49-F238E27FC236}">
                <a16:creationId xmlns:a16="http://schemas.microsoft.com/office/drawing/2014/main" id="{2010DC7B-ED8B-66B8-BD73-36F34E909DC5}"/>
              </a:ext>
            </a:extLst>
          </p:cNvPr>
          <p:cNvSpPr txBox="1"/>
          <p:nvPr/>
        </p:nvSpPr>
        <p:spPr>
          <a:xfrm>
            <a:off x="5014603" y="4741827"/>
            <a:ext cx="3074062" cy="1569660"/>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We have seen populations change when their environment changes </a:t>
            </a:r>
          </a:p>
        </p:txBody>
      </p:sp>
      <p:sp>
        <p:nvSpPr>
          <p:cNvPr id="8" name="TextBox 7">
            <a:extLst>
              <a:ext uri="{FF2B5EF4-FFF2-40B4-BE49-F238E27FC236}">
                <a16:creationId xmlns:a16="http://schemas.microsoft.com/office/drawing/2014/main" id="{F2C13D81-8CA3-8367-1BEA-393B874A3739}"/>
              </a:ext>
            </a:extLst>
          </p:cNvPr>
          <p:cNvSpPr txBox="1"/>
          <p:nvPr/>
        </p:nvSpPr>
        <p:spPr>
          <a:xfrm>
            <a:off x="5409771" y="1244246"/>
            <a:ext cx="5357788" cy="461665"/>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Antibiotic resistance is evolution</a:t>
            </a:r>
          </a:p>
        </p:txBody>
      </p:sp>
    </p:spTree>
    <p:extLst>
      <p:ext uri="{BB962C8B-B14F-4D97-AF65-F5344CB8AC3E}">
        <p14:creationId xmlns:p14="http://schemas.microsoft.com/office/powerpoint/2010/main" val="73430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675190" y="269236"/>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Direct observations of evolution</a:t>
            </a:r>
          </a:p>
        </p:txBody>
      </p:sp>
      <p:sp>
        <p:nvSpPr>
          <p:cNvPr id="7" name="TextBox 6">
            <a:extLst>
              <a:ext uri="{FF2B5EF4-FFF2-40B4-BE49-F238E27FC236}">
                <a16:creationId xmlns:a16="http://schemas.microsoft.com/office/drawing/2014/main" id="{2010DC7B-ED8B-66B8-BD73-36F34E909DC5}"/>
              </a:ext>
            </a:extLst>
          </p:cNvPr>
          <p:cNvSpPr txBox="1"/>
          <p:nvPr/>
        </p:nvSpPr>
        <p:spPr>
          <a:xfrm>
            <a:off x="1643112" y="5948353"/>
            <a:ext cx="8905776" cy="830997"/>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sng" strike="noStrike" kern="1200" cap="none" spc="0" normalizeH="0" baseline="0" noProof="0" dirty="0">
                <a:ln>
                  <a:noFill/>
                </a:ln>
                <a:solidFill>
                  <a:srgbClr val="FFFF00"/>
                </a:solidFill>
                <a:effectLst/>
                <a:uLnTx/>
                <a:uFillTx/>
                <a:latin typeface="Calibri" panose="020F0502020204030204" pitchFamily="34" charset="0"/>
                <a:ea typeface="+mn-ea"/>
                <a:cs typeface="Calibri" panose="020F0502020204030204" pitchFamily="34" charset="0"/>
              </a:rPr>
              <a:t>Selective breeding is one of the best direct observations of major evolutionary change in mammals  </a:t>
            </a:r>
          </a:p>
        </p:txBody>
      </p:sp>
      <p:pic>
        <p:nvPicPr>
          <p:cNvPr id="2050" name="Picture 2" descr="Chihuahua (Smooth Coat) Dog Breed - Facts &amp; Traits | Purina">
            <a:extLst>
              <a:ext uri="{FF2B5EF4-FFF2-40B4-BE49-F238E27FC236}">
                <a16:creationId xmlns:a16="http://schemas.microsoft.com/office/drawing/2014/main" id="{FE24C4C8-BEFB-29B1-8B16-545F6E306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5091" y="1191352"/>
            <a:ext cx="1596989" cy="151075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A9F1B1C-33E4-EF1C-4BDE-7A0FD278422E}"/>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a:stretch/>
        </p:blipFill>
        <p:spPr>
          <a:xfrm>
            <a:off x="5985583" y="1228110"/>
            <a:ext cx="1443197" cy="1437233"/>
          </a:xfrm>
          <a:prstGeom prst="rect">
            <a:avLst/>
          </a:prstGeom>
        </p:spPr>
      </p:pic>
      <p:cxnSp>
        <p:nvCxnSpPr>
          <p:cNvPr id="9" name="Straight Arrow Connector 8">
            <a:extLst>
              <a:ext uri="{FF2B5EF4-FFF2-40B4-BE49-F238E27FC236}">
                <a16:creationId xmlns:a16="http://schemas.microsoft.com/office/drawing/2014/main" id="{64CE3980-B88B-E497-8370-69813C91306B}"/>
              </a:ext>
            </a:extLst>
          </p:cNvPr>
          <p:cNvCxnSpPr>
            <a:cxnSpLocks/>
          </p:cNvCxnSpPr>
          <p:nvPr/>
        </p:nvCxnSpPr>
        <p:spPr>
          <a:xfrm flipV="1">
            <a:off x="2980199" y="2702103"/>
            <a:ext cx="646579" cy="42268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8B8CCEE-7A10-33CC-8076-1EF3182119FD}"/>
              </a:ext>
            </a:extLst>
          </p:cNvPr>
          <p:cNvCxnSpPr>
            <a:cxnSpLocks/>
          </p:cNvCxnSpPr>
          <p:nvPr/>
        </p:nvCxnSpPr>
        <p:spPr>
          <a:xfrm>
            <a:off x="2980199" y="3124783"/>
            <a:ext cx="646579" cy="378705"/>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2A91D519-3AA5-FA60-9C49-946D27F4334F}"/>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a:stretch/>
        </p:blipFill>
        <p:spPr>
          <a:xfrm>
            <a:off x="3824343" y="3167657"/>
            <a:ext cx="1693716" cy="2353528"/>
          </a:xfrm>
          <a:prstGeom prst="rect">
            <a:avLst/>
          </a:prstGeom>
        </p:spPr>
      </p:pic>
      <p:pic>
        <p:nvPicPr>
          <p:cNvPr id="15" name="Picture 14">
            <a:extLst>
              <a:ext uri="{FF2B5EF4-FFF2-40B4-BE49-F238E27FC236}">
                <a16:creationId xmlns:a16="http://schemas.microsoft.com/office/drawing/2014/main" id="{B4AC1FA8-F3E8-CDAE-A498-9AFB7B47A8DC}"/>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a:stretch/>
        </p:blipFill>
        <p:spPr>
          <a:xfrm>
            <a:off x="8679694" y="3657261"/>
            <a:ext cx="1443197" cy="1644007"/>
          </a:xfrm>
          <a:prstGeom prst="rect">
            <a:avLst/>
          </a:prstGeom>
        </p:spPr>
      </p:pic>
      <p:pic>
        <p:nvPicPr>
          <p:cNvPr id="16" name="Picture 15">
            <a:extLst>
              <a:ext uri="{FF2B5EF4-FFF2-40B4-BE49-F238E27FC236}">
                <a16:creationId xmlns:a16="http://schemas.microsoft.com/office/drawing/2014/main" id="{D382A734-D97E-F8BD-9498-6F4E94B3CF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41973" y="3423586"/>
            <a:ext cx="2508323" cy="1581334"/>
          </a:xfrm>
          <a:prstGeom prst="rect">
            <a:avLst/>
          </a:prstGeom>
        </p:spPr>
      </p:pic>
      <p:pic>
        <p:nvPicPr>
          <p:cNvPr id="17" name="Picture 16">
            <a:extLst>
              <a:ext uri="{FF2B5EF4-FFF2-40B4-BE49-F238E27FC236}">
                <a16:creationId xmlns:a16="http://schemas.microsoft.com/office/drawing/2014/main" id="{CF67E813-2CB3-9438-37B2-407ECE5FAD3A}"/>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8071910" y="1236045"/>
            <a:ext cx="2214690" cy="1644007"/>
          </a:xfrm>
          <a:prstGeom prst="rect">
            <a:avLst/>
          </a:prstGeom>
        </p:spPr>
      </p:pic>
      <p:pic>
        <p:nvPicPr>
          <p:cNvPr id="18" name="Picture 17">
            <a:extLst>
              <a:ext uri="{FF2B5EF4-FFF2-40B4-BE49-F238E27FC236}">
                <a16:creationId xmlns:a16="http://schemas.microsoft.com/office/drawing/2014/main" id="{965ABD8D-FAC6-F1A7-C0BF-5BE2DBA88F2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8582" y="2110506"/>
            <a:ext cx="2461687" cy="2146283"/>
          </a:xfrm>
          <a:prstGeom prst="rect">
            <a:avLst/>
          </a:prstGeom>
        </p:spPr>
      </p:pic>
      <p:sp>
        <p:nvSpPr>
          <p:cNvPr id="21" name="TextBox 20">
            <a:extLst>
              <a:ext uri="{FF2B5EF4-FFF2-40B4-BE49-F238E27FC236}">
                <a16:creationId xmlns:a16="http://schemas.microsoft.com/office/drawing/2014/main" id="{10E3729D-461F-3260-1C8F-5D547D1A115C}"/>
              </a:ext>
            </a:extLst>
          </p:cNvPr>
          <p:cNvSpPr txBox="1"/>
          <p:nvPr/>
        </p:nvSpPr>
        <p:spPr>
          <a:xfrm>
            <a:off x="1269890" y="4214253"/>
            <a:ext cx="696479" cy="369331"/>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Wolf</a:t>
            </a:r>
          </a:p>
        </p:txBody>
      </p:sp>
      <p:sp>
        <p:nvSpPr>
          <p:cNvPr id="22" name="TextBox 21">
            <a:extLst>
              <a:ext uri="{FF2B5EF4-FFF2-40B4-BE49-F238E27FC236}">
                <a16:creationId xmlns:a16="http://schemas.microsoft.com/office/drawing/2014/main" id="{709A903A-B657-4398-1C51-3C3BD84B3DD5}"/>
              </a:ext>
            </a:extLst>
          </p:cNvPr>
          <p:cNvSpPr txBox="1"/>
          <p:nvPr/>
        </p:nvSpPr>
        <p:spPr>
          <a:xfrm>
            <a:off x="3901801" y="5450978"/>
            <a:ext cx="148027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Great Dane</a:t>
            </a:r>
          </a:p>
        </p:txBody>
      </p:sp>
      <p:sp>
        <p:nvSpPr>
          <p:cNvPr id="23" name="TextBox 22">
            <a:extLst>
              <a:ext uri="{FF2B5EF4-FFF2-40B4-BE49-F238E27FC236}">
                <a16:creationId xmlns:a16="http://schemas.microsoft.com/office/drawing/2014/main" id="{896DA701-92FD-AE82-CD05-DFAA0E3A4183}"/>
              </a:ext>
            </a:extLst>
          </p:cNvPr>
          <p:cNvSpPr txBox="1"/>
          <p:nvPr/>
        </p:nvSpPr>
        <p:spPr>
          <a:xfrm>
            <a:off x="3785091" y="2683866"/>
            <a:ext cx="148027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Chihuahua</a:t>
            </a:r>
          </a:p>
        </p:txBody>
      </p:sp>
      <p:sp>
        <p:nvSpPr>
          <p:cNvPr id="24" name="TextBox 23">
            <a:extLst>
              <a:ext uri="{FF2B5EF4-FFF2-40B4-BE49-F238E27FC236}">
                <a16:creationId xmlns:a16="http://schemas.microsoft.com/office/drawing/2014/main" id="{012D7E1B-3245-5729-D6FD-D29DCD23D451}"/>
              </a:ext>
            </a:extLst>
          </p:cNvPr>
          <p:cNvSpPr txBox="1"/>
          <p:nvPr/>
        </p:nvSpPr>
        <p:spPr>
          <a:xfrm>
            <a:off x="5928500" y="2683866"/>
            <a:ext cx="148027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Bull dog</a:t>
            </a:r>
          </a:p>
        </p:txBody>
      </p:sp>
      <p:sp>
        <p:nvSpPr>
          <p:cNvPr id="25" name="TextBox 24">
            <a:extLst>
              <a:ext uri="{FF2B5EF4-FFF2-40B4-BE49-F238E27FC236}">
                <a16:creationId xmlns:a16="http://schemas.microsoft.com/office/drawing/2014/main" id="{617D3554-877E-F688-020A-421CDA5E1007}"/>
              </a:ext>
            </a:extLst>
          </p:cNvPr>
          <p:cNvSpPr txBox="1"/>
          <p:nvPr/>
        </p:nvSpPr>
        <p:spPr>
          <a:xfrm>
            <a:off x="6237533" y="5027104"/>
            <a:ext cx="148027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Hound dog</a:t>
            </a:r>
          </a:p>
        </p:txBody>
      </p:sp>
      <p:sp>
        <p:nvSpPr>
          <p:cNvPr id="26" name="TextBox 25">
            <a:extLst>
              <a:ext uri="{FF2B5EF4-FFF2-40B4-BE49-F238E27FC236}">
                <a16:creationId xmlns:a16="http://schemas.microsoft.com/office/drawing/2014/main" id="{19CC3855-D307-D968-F011-B5AC7C0FEF0B}"/>
              </a:ext>
            </a:extLst>
          </p:cNvPr>
          <p:cNvSpPr txBox="1"/>
          <p:nvPr/>
        </p:nvSpPr>
        <p:spPr>
          <a:xfrm>
            <a:off x="8679694" y="5256447"/>
            <a:ext cx="148027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Pomeranian</a:t>
            </a:r>
          </a:p>
        </p:txBody>
      </p:sp>
      <p:sp>
        <p:nvSpPr>
          <p:cNvPr id="27" name="TextBox 26">
            <a:extLst>
              <a:ext uri="{FF2B5EF4-FFF2-40B4-BE49-F238E27FC236}">
                <a16:creationId xmlns:a16="http://schemas.microsoft.com/office/drawing/2014/main" id="{F5A9B189-06CC-CF3D-0C9D-2C1A8583DB7C}"/>
              </a:ext>
            </a:extLst>
          </p:cNvPr>
          <p:cNvSpPr txBox="1"/>
          <p:nvPr/>
        </p:nvSpPr>
        <p:spPr>
          <a:xfrm>
            <a:off x="8444781" y="2860761"/>
            <a:ext cx="1480279" cy="369332"/>
          </a:xfrm>
          <a:prstGeom prst="rect">
            <a:avLst/>
          </a:prstGeom>
          <a:noFill/>
          <a:ln w="3810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St. Bernard</a:t>
            </a:r>
          </a:p>
        </p:txBody>
      </p:sp>
    </p:spTree>
    <p:extLst>
      <p:ext uri="{BB962C8B-B14F-4D97-AF65-F5344CB8AC3E}">
        <p14:creationId xmlns:p14="http://schemas.microsoft.com/office/powerpoint/2010/main" val="19333880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Box 56">
            <a:extLst>
              <a:ext uri="{FF2B5EF4-FFF2-40B4-BE49-F238E27FC236}">
                <a16:creationId xmlns:a16="http://schemas.microsoft.com/office/drawing/2014/main" id="{E3BD3418-E3E1-C8E5-BFCE-092366272F4B}"/>
              </a:ext>
            </a:extLst>
          </p:cNvPr>
          <p:cNvSpPr txBox="1"/>
          <p:nvPr/>
        </p:nvSpPr>
        <p:spPr>
          <a:xfrm>
            <a:off x="161482" y="5817281"/>
            <a:ext cx="1151681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Thank you so much for your time!</a:t>
            </a:r>
          </a:p>
        </p:txBody>
      </p:sp>
      <p:sp>
        <p:nvSpPr>
          <p:cNvPr id="29" name="TextBox 28">
            <a:extLst>
              <a:ext uri="{FF2B5EF4-FFF2-40B4-BE49-F238E27FC236}">
                <a16:creationId xmlns:a16="http://schemas.microsoft.com/office/drawing/2014/main" id="{42A55F50-6BFE-95B5-097A-7C49307B75FD}"/>
              </a:ext>
            </a:extLst>
          </p:cNvPr>
          <p:cNvSpPr txBox="1"/>
          <p:nvPr/>
        </p:nvSpPr>
        <p:spPr>
          <a:xfrm>
            <a:off x="3534309" y="1547536"/>
            <a:ext cx="8301519"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There is grandeur in this view of life, with its several powers originally breathed into an original form; and while this planet has gone on according to the fixed law of gravity, from so simple a beginning endless forms most beautiful and most wonderful have been, and are being, evolved.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 Charles Darwin, </a:t>
            </a:r>
            <a:r>
              <a:rPr kumimoji="0" lang="en-US" sz="2400" b="0" i="1"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The Origin of Species </a:t>
            </a:r>
            <a:r>
              <a:rPr kumimoji="0" lang="en-US" sz="24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(1859)</a:t>
            </a:r>
          </a:p>
        </p:txBody>
      </p:sp>
      <p:pic>
        <p:nvPicPr>
          <p:cNvPr id="30" name="Picture 29">
            <a:extLst>
              <a:ext uri="{FF2B5EF4-FFF2-40B4-BE49-F238E27FC236}">
                <a16:creationId xmlns:a16="http://schemas.microsoft.com/office/drawing/2014/main" id="{E0EEC601-740B-3477-3D4E-5ABAF4D3136C}"/>
              </a:ext>
            </a:extLst>
          </p:cNvPr>
          <p:cNvPicPr>
            <a:picLocks noChangeAspect="1"/>
          </p:cNvPicPr>
          <p:nvPr/>
        </p:nvPicPr>
        <p:blipFill rotWithShape="1">
          <a:blip r:embed="rId3" cstate="hqprint">
            <a:lum bright="70000" contrast="-70000"/>
            <a:extLst>
              <a:ext uri="{28A0092B-C50C-407E-A947-70E740481C1C}">
                <a14:useLocalDpi xmlns:a14="http://schemas.microsoft.com/office/drawing/2010/main" val="0"/>
              </a:ext>
            </a:extLst>
          </a:blip>
          <a:srcRect l="24839" t="12006" r="24768" b="23977"/>
          <a:stretch/>
        </p:blipFill>
        <p:spPr>
          <a:xfrm>
            <a:off x="721987" y="1438493"/>
            <a:ext cx="2336905" cy="2308324"/>
          </a:xfrm>
          <a:prstGeom prst="rect">
            <a:avLst/>
          </a:prstGeom>
        </p:spPr>
      </p:pic>
    </p:spTree>
    <p:extLst>
      <p:ext uri="{BB962C8B-B14F-4D97-AF65-F5344CB8AC3E}">
        <p14:creationId xmlns:p14="http://schemas.microsoft.com/office/powerpoint/2010/main" val="423904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6913</Words>
  <Application>Microsoft Office PowerPoint</Application>
  <PresentationFormat>Widescreen</PresentationFormat>
  <Paragraphs>472</Paragraphs>
  <Slides>40</Slides>
  <Notes>40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Wingdings</vt:lpstr>
      <vt:lpstr>Arial</vt:lpstr>
      <vt:lpstr>Aptos</vt:lpstr>
      <vt:lpstr>Roboto</vt:lpstr>
      <vt:lpstr>Calibri</vt:lpstr>
      <vt:lpstr>Segoe UI</vt:lpstr>
      <vt:lpstr>open sans</vt:lpstr>
      <vt:lpstr>Times New Roman</vt:lpstr>
      <vt:lpstr>Charter IT Cby BT</vt:lpstr>
      <vt:lpstr>Palatino Linotype</vt:lpstr>
      <vt:lpstr>1_Elemental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Erin Rowland-Schaefer</dc:creator>
  <cp:lastModifiedBy>Erin Rowland-Schaefer</cp:lastModifiedBy>
  <cp:revision>2</cp:revision>
  <dcterms:created xsi:type="dcterms:W3CDTF">2026-10-28T14:07:31Z</dcterms:created>
  <dcterms:modified xsi:type="dcterms:W3CDTF">2026-10-28T14:10:11Z</dcterms:modified>
</cp:coreProperties>
</file>